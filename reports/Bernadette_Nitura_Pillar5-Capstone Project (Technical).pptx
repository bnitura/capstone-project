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5"/>
  </p:notesMasterIdLst>
  <p:handoutMasterIdLst>
    <p:handoutMasterId r:id="rId16"/>
  </p:handoutMasterIdLst>
  <p:sldIdLst>
    <p:sldId id="289" r:id="rId5"/>
    <p:sldId id="288" r:id="rId6"/>
    <p:sldId id="276" r:id="rId7"/>
    <p:sldId id="290" r:id="rId8"/>
    <p:sldId id="293" r:id="rId9"/>
    <p:sldId id="261" r:id="rId10"/>
    <p:sldId id="294" r:id="rId11"/>
    <p:sldId id="257" r:id="rId12"/>
    <p:sldId id="263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 autoAdjust="0"/>
  </p:normalViewPr>
  <p:slideViewPr>
    <p:cSldViewPr snapToGrid="0">
      <p:cViewPr varScale="1">
        <p:scale>
          <a:sx n="52" d="100"/>
          <a:sy n="52" d="100"/>
        </p:scale>
        <p:origin x="1228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25947-7CD7-4976-8378-268EEED7225B}" type="doc">
      <dgm:prSet loTypeId="urn:microsoft.com/office/officeart/2005/8/layout/chevron2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563827B9-2FC5-4A8D-8325-A2E31C87CBB7}">
      <dgm:prSet phldrT="[Text]" phldr="0"/>
      <dgm:spPr/>
      <dgm:t>
        <a:bodyPr/>
        <a:lstStyle/>
        <a:p>
          <a:r>
            <a:rPr lang="en-GB" b="1" i="0" dirty="0"/>
            <a:t>Limitation of Standard RFM</a:t>
          </a:r>
          <a:endParaRPr lang="en-GB" b="1" dirty="0">
            <a:solidFill>
              <a:schemeClr val="accent6">
                <a:lumMod val="20000"/>
                <a:lumOff val="80000"/>
              </a:schemeClr>
            </a:solidFill>
          </a:endParaRPr>
        </a:p>
      </dgm:t>
    </dgm:pt>
    <dgm:pt modelId="{D29A3F1D-014E-4E75-BB87-47A228E0BCA0}" type="parTrans" cxnId="{B180D5FF-1495-4C1E-BFAC-1E2FDC2B7D72}">
      <dgm:prSet/>
      <dgm:spPr/>
      <dgm:t>
        <a:bodyPr/>
        <a:lstStyle/>
        <a:p>
          <a:endParaRPr lang="en-GB" b="1"/>
        </a:p>
      </dgm:t>
    </dgm:pt>
    <dgm:pt modelId="{330EC24C-25A9-4C66-8365-E1107B42B878}" type="sibTrans" cxnId="{B180D5FF-1495-4C1E-BFAC-1E2FDC2B7D72}">
      <dgm:prSet/>
      <dgm:spPr/>
      <dgm:t>
        <a:bodyPr/>
        <a:lstStyle/>
        <a:p>
          <a:endParaRPr lang="en-GB" b="1"/>
        </a:p>
      </dgm:t>
    </dgm:pt>
    <dgm:pt modelId="{D1DDD503-98C9-48BE-957A-280A5530C893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100" b="0" i="0" dirty="0"/>
            <a:t>Static, rule-based segmentation (e.g., 1-5 scoring) fails to capture complex, </a:t>
          </a:r>
          <a:endParaRPr lang="en-GB" sz="2100" b="0" dirty="0"/>
        </a:p>
      </dgm:t>
    </dgm:pt>
    <dgm:pt modelId="{D9715A6C-6951-491E-9537-2FC1E02E1C79}" type="parTrans" cxnId="{66884EA6-8B03-4709-9EF2-83C50FC67623}">
      <dgm:prSet/>
      <dgm:spPr/>
      <dgm:t>
        <a:bodyPr/>
        <a:lstStyle/>
        <a:p>
          <a:endParaRPr lang="en-GB" b="1"/>
        </a:p>
      </dgm:t>
    </dgm:pt>
    <dgm:pt modelId="{0BB57E6D-E4A9-488B-91CE-9F9ECE15DC1D}" type="sibTrans" cxnId="{66884EA6-8B03-4709-9EF2-83C50FC67623}">
      <dgm:prSet/>
      <dgm:spPr/>
      <dgm:t>
        <a:bodyPr/>
        <a:lstStyle/>
        <a:p>
          <a:endParaRPr lang="en-GB" b="1"/>
        </a:p>
      </dgm:t>
    </dgm:pt>
    <dgm:pt modelId="{5E9BDB71-7F3F-4314-8327-2D485DCA0B9A}">
      <dgm:prSet phldrT="[Text]" phldr="0"/>
      <dgm:spPr/>
      <dgm:t>
        <a:bodyPr/>
        <a:lstStyle/>
        <a:p>
          <a:r>
            <a:rPr lang="en-GB" b="1" i="0"/>
            <a:t>The RFMT-D Model</a:t>
          </a:r>
          <a:endParaRPr lang="en-GB" b="1" dirty="0">
            <a:solidFill>
              <a:schemeClr val="accent6">
                <a:lumMod val="50000"/>
              </a:schemeClr>
            </a:solidFill>
          </a:endParaRPr>
        </a:p>
      </dgm:t>
    </dgm:pt>
    <dgm:pt modelId="{9C552117-1F0A-4AE0-809F-E4E458C6BB85}" type="parTrans" cxnId="{8C75AB06-C542-405C-815E-EFA0DFC02A26}">
      <dgm:prSet/>
      <dgm:spPr/>
      <dgm:t>
        <a:bodyPr/>
        <a:lstStyle/>
        <a:p>
          <a:endParaRPr lang="en-GB" b="1"/>
        </a:p>
      </dgm:t>
    </dgm:pt>
    <dgm:pt modelId="{642830FD-D148-4453-8768-0607B9F5B1C2}" type="sibTrans" cxnId="{8C75AB06-C542-405C-815E-EFA0DFC02A26}">
      <dgm:prSet/>
      <dgm:spPr/>
      <dgm:t>
        <a:bodyPr/>
        <a:lstStyle/>
        <a:p>
          <a:endParaRPr lang="en-GB" b="1"/>
        </a:p>
      </dgm:t>
    </dgm:pt>
    <dgm:pt modelId="{94C72663-A202-469D-B3D9-EF624851B578}">
      <dgm:prSet phldrT="[Text]" phldr="0"/>
      <dgm:spPr/>
      <dgm:t>
        <a:bodyPr/>
        <a:lstStyle/>
        <a:p>
          <a:r>
            <a:rPr lang="en-GB" b="1" i="0" dirty="0"/>
            <a:t>AI Goal</a:t>
          </a:r>
          <a:endParaRPr lang="en-GB" b="1" dirty="0">
            <a:solidFill>
              <a:schemeClr val="accent6">
                <a:lumMod val="50000"/>
              </a:schemeClr>
            </a:solidFill>
          </a:endParaRPr>
        </a:p>
      </dgm:t>
    </dgm:pt>
    <dgm:pt modelId="{C74E020C-50E8-464F-834C-622D06163BF2}" type="parTrans" cxnId="{69ED3E6A-C843-4E08-A2E4-0CC6AE0CBE8C}">
      <dgm:prSet/>
      <dgm:spPr/>
      <dgm:t>
        <a:bodyPr/>
        <a:lstStyle/>
        <a:p>
          <a:endParaRPr lang="en-GB" b="1"/>
        </a:p>
      </dgm:t>
    </dgm:pt>
    <dgm:pt modelId="{91FF5A63-B8BE-41EA-BED5-A9D54F2DC383}" type="sibTrans" cxnId="{69ED3E6A-C843-4E08-A2E4-0CC6AE0CBE8C}">
      <dgm:prSet/>
      <dgm:spPr/>
      <dgm:t>
        <a:bodyPr/>
        <a:lstStyle/>
        <a:p>
          <a:endParaRPr lang="en-GB" b="1"/>
        </a:p>
      </dgm:t>
    </dgm:pt>
    <dgm:pt modelId="{9083BB0F-8C4E-464F-A0B8-EBE3E79CADF7}">
      <dgm:prSet phldrT="[Text]" phldr="0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b="0" i="0" dirty="0"/>
            <a:t>Use unsupervised machine learning to uncover non-linear, granular clusters, shifting from "static rules" to "dynamic </a:t>
          </a:r>
          <a:r>
            <a:rPr lang="en-GB" b="0" i="0" dirty="0" err="1"/>
            <a:t>behavior</a:t>
          </a:r>
          <a:r>
            <a:rPr lang="en-GB" b="0" i="0" dirty="0"/>
            <a:t> tracking".</a:t>
          </a:r>
          <a:endParaRPr lang="en-GB" b="0" dirty="0"/>
        </a:p>
      </dgm:t>
    </dgm:pt>
    <dgm:pt modelId="{610F3246-DFCB-4DBA-930B-BF8D85E04BF3}" type="parTrans" cxnId="{ED363E78-B0C5-4F24-AF16-AAFB132A4855}">
      <dgm:prSet/>
      <dgm:spPr/>
      <dgm:t>
        <a:bodyPr/>
        <a:lstStyle/>
        <a:p>
          <a:endParaRPr lang="en-GB" b="1"/>
        </a:p>
      </dgm:t>
    </dgm:pt>
    <dgm:pt modelId="{A141C19B-E574-49EE-B8C8-28859EB4DF30}" type="sibTrans" cxnId="{ED363E78-B0C5-4F24-AF16-AAFB132A4855}">
      <dgm:prSet/>
      <dgm:spPr/>
      <dgm:t>
        <a:bodyPr/>
        <a:lstStyle/>
        <a:p>
          <a:endParaRPr lang="en-GB" b="1"/>
        </a:p>
      </dgm:t>
    </dgm:pt>
    <dgm:pt modelId="{7D470175-3600-4B71-8030-D597A4E0D09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R</a:t>
          </a:r>
          <a:r>
            <a:rPr lang="en-GB" b="0" i="0" dirty="0"/>
            <a:t>ecency: Days since last purchase.</a:t>
          </a:r>
        </a:p>
      </dgm:t>
    </dgm:pt>
    <dgm:pt modelId="{0A664822-0204-4646-99A2-6D125167560A}" type="parTrans" cxnId="{DFEA3481-A1BB-4D01-BCCE-D71AFBC2E3CB}">
      <dgm:prSet/>
      <dgm:spPr/>
      <dgm:t>
        <a:bodyPr/>
        <a:lstStyle/>
        <a:p>
          <a:endParaRPr lang="en-GB"/>
        </a:p>
      </dgm:t>
    </dgm:pt>
    <dgm:pt modelId="{3995685E-D761-4FDA-924D-EE0A34FBDA5E}" type="sibTrans" cxnId="{DFEA3481-A1BB-4D01-BCCE-D71AFBC2E3CB}">
      <dgm:prSet/>
      <dgm:spPr/>
      <dgm:t>
        <a:bodyPr/>
        <a:lstStyle/>
        <a:p>
          <a:endParaRPr lang="en-GB"/>
        </a:p>
      </dgm:t>
    </dgm:pt>
    <dgm:pt modelId="{374EB377-6ADC-460E-8EC9-EEA7067ADA2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/>
            <a:t>M</a:t>
          </a:r>
          <a:r>
            <a:rPr lang="en-GB" b="0" i="0"/>
            <a:t>onetary: Total revenue generated.</a:t>
          </a:r>
        </a:p>
      </dgm:t>
    </dgm:pt>
    <dgm:pt modelId="{75248874-394C-4655-86F5-20EB6DDF8086}" type="parTrans" cxnId="{4057A4A4-4E98-4285-8B2F-3A85CFB89FFA}">
      <dgm:prSet/>
      <dgm:spPr/>
      <dgm:t>
        <a:bodyPr/>
        <a:lstStyle/>
        <a:p>
          <a:endParaRPr lang="en-GB"/>
        </a:p>
      </dgm:t>
    </dgm:pt>
    <dgm:pt modelId="{3C89164B-C47C-43E0-A67B-85A2A6E9BCC2}" type="sibTrans" cxnId="{4057A4A4-4E98-4285-8B2F-3A85CFB89FFA}">
      <dgm:prSet/>
      <dgm:spPr/>
      <dgm:t>
        <a:bodyPr/>
        <a:lstStyle/>
        <a:p>
          <a:endParaRPr lang="en-GB"/>
        </a:p>
      </dgm:t>
    </dgm:pt>
    <dgm:pt modelId="{FCEF4214-CFFB-42ED-9E72-FADE46C5DFF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T</a:t>
          </a:r>
          <a:r>
            <a:rPr lang="en-GB" b="0" i="0" dirty="0"/>
            <a:t>ime: </a:t>
          </a:r>
          <a:r>
            <a:rPr lang="en-GB" i="0" dirty="0"/>
            <a:t>Number of days between the first and last purchase</a:t>
          </a:r>
          <a:r>
            <a:rPr lang="en-GB" b="0" i="0" dirty="0"/>
            <a:t>.</a:t>
          </a:r>
        </a:p>
      </dgm:t>
    </dgm:pt>
    <dgm:pt modelId="{54D2FB46-BD1C-4BC9-814E-F19667454B65}" type="parTrans" cxnId="{F21468D0-D44D-41FD-B406-55D1F4E06498}">
      <dgm:prSet/>
      <dgm:spPr/>
      <dgm:t>
        <a:bodyPr/>
        <a:lstStyle/>
        <a:p>
          <a:endParaRPr lang="en-GB"/>
        </a:p>
      </dgm:t>
    </dgm:pt>
    <dgm:pt modelId="{9D8E234B-767F-4D1A-860E-451D1FF2BC12}" type="sibTrans" cxnId="{F21468D0-D44D-41FD-B406-55D1F4E06498}">
      <dgm:prSet/>
      <dgm:spPr/>
      <dgm:t>
        <a:bodyPr/>
        <a:lstStyle/>
        <a:p>
          <a:endParaRPr lang="en-GB"/>
        </a:p>
      </dgm:t>
    </dgm:pt>
    <dgm:pt modelId="{3047FBA5-D007-4916-9017-C537843845B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/>
            <a:t>D</a:t>
          </a:r>
          <a:r>
            <a:rPr lang="en-GB" b="0" i="0"/>
            <a:t>iversity: Unique count of product categories purchased.</a:t>
          </a:r>
        </a:p>
      </dgm:t>
    </dgm:pt>
    <dgm:pt modelId="{B4A62B11-7E6A-4F34-85CA-AB866B7C656C}" type="parTrans" cxnId="{4844B0C2-42F3-45C2-9DD1-7E524F161477}">
      <dgm:prSet/>
      <dgm:spPr/>
      <dgm:t>
        <a:bodyPr/>
        <a:lstStyle/>
        <a:p>
          <a:endParaRPr lang="en-GB"/>
        </a:p>
      </dgm:t>
    </dgm:pt>
    <dgm:pt modelId="{765EBA43-53A6-4CEC-BB97-B3C8407CBA79}" type="sibTrans" cxnId="{4844B0C2-42F3-45C2-9DD1-7E524F161477}">
      <dgm:prSet/>
      <dgm:spPr/>
      <dgm:t>
        <a:bodyPr/>
        <a:lstStyle/>
        <a:p>
          <a:endParaRPr lang="en-GB"/>
        </a:p>
      </dgm:t>
    </dgm:pt>
    <dgm:pt modelId="{F2F54913-F5D8-40DE-A4F3-DBE3393DE92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/>
            <a:t>F</a:t>
          </a:r>
          <a:r>
            <a:rPr lang="en-GB" b="0" i="0"/>
            <a:t>requency: Total transactions.</a:t>
          </a:r>
          <a:endParaRPr lang="en-GB" b="0" i="0" dirty="0"/>
        </a:p>
      </dgm:t>
    </dgm:pt>
    <dgm:pt modelId="{8CFD27FA-9EB8-4B4F-AAB6-90FB6CCB4355}" type="parTrans" cxnId="{90E61617-9A9F-4415-B507-E9854065FEA0}">
      <dgm:prSet/>
      <dgm:spPr/>
      <dgm:t>
        <a:bodyPr/>
        <a:lstStyle/>
        <a:p>
          <a:endParaRPr lang="en-GB"/>
        </a:p>
      </dgm:t>
    </dgm:pt>
    <dgm:pt modelId="{A7347A43-467B-438F-8D6C-834D0D0C477A}" type="sibTrans" cxnId="{90E61617-9A9F-4415-B507-E9854065FEA0}">
      <dgm:prSet/>
      <dgm:spPr/>
      <dgm:t>
        <a:bodyPr/>
        <a:lstStyle/>
        <a:p>
          <a:endParaRPr lang="en-GB"/>
        </a:p>
      </dgm:t>
    </dgm:pt>
    <dgm:pt modelId="{2AE1A27F-6B80-431B-A7FA-7E125196E17C}">
      <dgm:prSet phldrT="[Text]" phldr="0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b="0" i="0" dirty="0"/>
            <a:t>Improve prediction of customer response to new products (Diversity parameter).</a:t>
          </a:r>
          <a:endParaRPr lang="en-GB" b="0" dirty="0"/>
        </a:p>
      </dgm:t>
    </dgm:pt>
    <dgm:pt modelId="{9819C6AA-8432-4286-9D8B-47DB412E3079}" type="parTrans" cxnId="{2EBA6B86-E237-4177-AFAC-EEB28EABD0B2}">
      <dgm:prSet/>
      <dgm:spPr/>
      <dgm:t>
        <a:bodyPr/>
        <a:lstStyle/>
        <a:p>
          <a:endParaRPr lang="en-GB"/>
        </a:p>
      </dgm:t>
    </dgm:pt>
    <dgm:pt modelId="{7066BBE2-A351-4D80-B1D7-5F14E159A915}" type="sibTrans" cxnId="{2EBA6B86-E237-4177-AFAC-EEB28EABD0B2}">
      <dgm:prSet/>
      <dgm:spPr/>
      <dgm:t>
        <a:bodyPr/>
        <a:lstStyle/>
        <a:p>
          <a:endParaRPr lang="en-GB"/>
        </a:p>
      </dgm:t>
    </dgm:pt>
    <dgm:pt modelId="{4EBEFDF8-5003-4623-B157-9C8097E12158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100" b="0" i="0"/>
            <a:t>Ignores product variety, often leading to missed opportunities to target customers interested in new categories.</a:t>
          </a:r>
          <a:endParaRPr lang="en-GB" sz="2100" b="0" dirty="0"/>
        </a:p>
      </dgm:t>
    </dgm:pt>
    <dgm:pt modelId="{338DD13D-33CB-4C42-AB29-878A12675D74}" type="parTrans" cxnId="{835E9296-0230-4107-82AF-6A3E08FCB443}">
      <dgm:prSet/>
      <dgm:spPr/>
      <dgm:t>
        <a:bodyPr/>
        <a:lstStyle/>
        <a:p>
          <a:endParaRPr lang="en-GB"/>
        </a:p>
      </dgm:t>
    </dgm:pt>
    <dgm:pt modelId="{F7B27184-2BE9-4F47-8636-2F400896BD9B}" type="sibTrans" cxnId="{835E9296-0230-4107-82AF-6A3E08FCB443}">
      <dgm:prSet/>
      <dgm:spPr/>
      <dgm:t>
        <a:bodyPr/>
        <a:lstStyle/>
        <a:p>
          <a:endParaRPr lang="en-GB"/>
        </a:p>
      </dgm:t>
    </dgm:pt>
    <dgm:pt modelId="{CCCECAC7-E760-43FF-A24C-68B61D4255DD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buNone/>
          </a:pPr>
          <a:r>
            <a:rPr lang="en-GB" sz="2100" b="0" i="0" dirty="0"/>
            <a:t>high-dimensional consumer </a:t>
          </a:r>
          <a:r>
            <a:rPr lang="en-GB" sz="2100" b="0" i="0" dirty="0" err="1"/>
            <a:t>behavior</a:t>
          </a:r>
          <a:r>
            <a:rPr lang="en-GB" sz="2100" b="0" i="0" dirty="0"/>
            <a:t>.</a:t>
          </a:r>
          <a:endParaRPr lang="en-GB" sz="2100" b="0" dirty="0"/>
        </a:p>
      </dgm:t>
    </dgm:pt>
    <dgm:pt modelId="{2E31D74B-3AF9-4AED-9A6E-81E8AC2EF063}" type="parTrans" cxnId="{F91A60DB-0CA6-4FA1-90C7-A337C10EB08C}">
      <dgm:prSet/>
      <dgm:spPr/>
    </dgm:pt>
    <dgm:pt modelId="{E9692EE3-B29D-46AE-BC09-4954B184E017}" type="sibTrans" cxnId="{F91A60DB-0CA6-4FA1-90C7-A337C10EB08C}">
      <dgm:prSet/>
      <dgm:spPr/>
    </dgm:pt>
    <dgm:pt modelId="{AD78948D-7E7D-4840-902A-C335961DDECD}" type="pres">
      <dgm:prSet presAssocID="{90125947-7CD7-4976-8378-268EEED7225B}" presName="linearFlow" presStyleCnt="0">
        <dgm:presLayoutVars>
          <dgm:dir/>
          <dgm:animLvl val="lvl"/>
          <dgm:resizeHandles val="exact"/>
        </dgm:presLayoutVars>
      </dgm:prSet>
      <dgm:spPr/>
    </dgm:pt>
    <dgm:pt modelId="{2D30749F-FC82-4513-9A70-E33C689885B1}" type="pres">
      <dgm:prSet presAssocID="{563827B9-2FC5-4A8D-8325-A2E31C87CBB7}" presName="composite" presStyleCnt="0"/>
      <dgm:spPr/>
    </dgm:pt>
    <dgm:pt modelId="{5E06CD77-7B0F-4F1C-9A1C-60E48B8BC2DF}" type="pres">
      <dgm:prSet presAssocID="{563827B9-2FC5-4A8D-8325-A2E31C87CBB7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0C950F6C-9ABF-4EB3-A3D6-AAF7702C8581}" type="pres">
      <dgm:prSet presAssocID="{563827B9-2FC5-4A8D-8325-A2E31C87CBB7}" presName="descendantText" presStyleLbl="alignAcc1" presStyleIdx="0" presStyleCnt="3" custLinFactNeighborX="1409" custLinFactNeighborY="-40278">
        <dgm:presLayoutVars>
          <dgm:bulletEnabled val="1"/>
        </dgm:presLayoutVars>
      </dgm:prSet>
      <dgm:spPr/>
    </dgm:pt>
    <dgm:pt modelId="{2DBDC60C-48CD-4727-BFB5-2CCDE2C343D0}" type="pres">
      <dgm:prSet presAssocID="{330EC24C-25A9-4C66-8365-E1107B42B878}" presName="sp" presStyleCnt="0"/>
      <dgm:spPr/>
    </dgm:pt>
    <dgm:pt modelId="{31706638-75FA-403B-BF41-6C70A40C71D1}" type="pres">
      <dgm:prSet presAssocID="{5E9BDB71-7F3F-4314-8327-2D485DCA0B9A}" presName="composite" presStyleCnt="0"/>
      <dgm:spPr/>
    </dgm:pt>
    <dgm:pt modelId="{CCE83A06-08BF-498D-8408-E56C9B531DCC}" type="pres">
      <dgm:prSet presAssocID="{5E9BDB71-7F3F-4314-8327-2D485DCA0B9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135D7C3-4A2F-41E7-A543-741F1705857C}" type="pres">
      <dgm:prSet presAssocID="{5E9BDB71-7F3F-4314-8327-2D485DCA0B9A}" presName="descendantText" presStyleLbl="alignAcc1" presStyleIdx="1" presStyleCnt="3" custScaleY="144882" custLinFactNeighborX="146" custLinFactNeighborY="-8601">
        <dgm:presLayoutVars>
          <dgm:bulletEnabled val="1"/>
        </dgm:presLayoutVars>
      </dgm:prSet>
      <dgm:spPr/>
    </dgm:pt>
    <dgm:pt modelId="{A3B96C28-668A-4FE4-91B8-1651646A9F21}" type="pres">
      <dgm:prSet presAssocID="{642830FD-D148-4453-8768-0607B9F5B1C2}" presName="sp" presStyleCnt="0"/>
      <dgm:spPr/>
    </dgm:pt>
    <dgm:pt modelId="{4A707FE9-DDD1-4022-B747-67BCA6256259}" type="pres">
      <dgm:prSet presAssocID="{94C72663-A202-469D-B3D9-EF624851B578}" presName="composite" presStyleCnt="0"/>
      <dgm:spPr/>
    </dgm:pt>
    <dgm:pt modelId="{74B5AC58-AC14-4F7C-8178-D29C64828818}" type="pres">
      <dgm:prSet presAssocID="{94C72663-A202-469D-B3D9-EF624851B578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CE5B6DA-AF6F-4983-ACF2-13E061209560}" type="pres">
      <dgm:prSet presAssocID="{94C72663-A202-469D-B3D9-EF624851B578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15DF3F00-FE89-4CE7-B577-190FCEB67242}" type="presOf" srcId="{2AE1A27F-6B80-431B-A7FA-7E125196E17C}" destId="{3CE5B6DA-AF6F-4983-ACF2-13E061209560}" srcOrd="0" destOrd="1" presId="urn:microsoft.com/office/officeart/2005/8/layout/chevron2"/>
    <dgm:cxn modelId="{8C75AB06-C542-405C-815E-EFA0DFC02A26}" srcId="{90125947-7CD7-4976-8378-268EEED7225B}" destId="{5E9BDB71-7F3F-4314-8327-2D485DCA0B9A}" srcOrd="1" destOrd="0" parTransId="{9C552117-1F0A-4AE0-809F-E4E458C6BB85}" sibTransId="{642830FD-D148-4453-8768-0607B9F5B1C2}"/>
    <dgm:cxn modelId="{90E61617-9A9F-4415-B507-E9854065FEA0}" srcId="{5E9BDB71-7F3F-4314-8327-2D485DCA0B9A}" destId="{F2F54913-F5D8-40DE-A4F3-DBE3393DE92A}" srcOrd="1" destOrd="0" parTransId="{8CFD27FA-9EB8-4B4F-AAB6-90FB6CCB4355}" sibTransId="{A7347A43-467B-438F-8D6C-834D0D0C477A}"/>
    <dgm:cxn modelId="{34D10646-FAB9-4CE3-8AF6-E065CCE3AE52}" type="presOf" srcId="{D1DDD503-98C9-48BE-957A-280A5530C893}" destId="{0C950F6C-9ABF-4EB3-A3D6-AAF7702C8581}" srcOrd="0" destOrd="0" presId="urn:microsoft.com/office/officeart/2005/8/layout/chevron2"/>
    <dgm:cxn modelId="{4BA93447-ED67-4209-93E5-0206546DCB1C}" type="presOf" srcId="{9083BB0F-8C4E-464F-A0B8-EBE3E79CADF7}" destId="{3CE5B6DA-AF6F-4983-ACF2-13E061209560}" srcOrd="0" destOrd="0" presId="urn:microsoft.com/office/officeart/2005/8/layout/chevron2"/>
    <dgm:cxn modelId="{8D5DC669-4D40-4A4A-80CE-3DE3A1CBC84B}" type="presOf" srcId="{F2F54913-F5D8-40DE-A4F3-DBE3393DE92A}" destId="{3135D7C3-4A2F-41E7-A543-741F1705857C}" srcOrd="0" destOrd="1" presId="urn:microsoft.com/office/officeart/2005/8/layout/chevron2"/>
    <dgm:cxn modelId="{69ED3E6A-C843-4E08-A2E4-0CC6AE0CBE8C}" srcId="{90125947-7CD7-4976-8378-268EEED7225B}" destId="{94C72663-A202-469D-B3D9-EF624851B578}" srcOrd="2" destOrd="0" parTransId="{C74E020C-50E8-464F-834C-622D06163BF2}" sibTransId="{91FF5A63-B8BE-41EA-BED5-A9D54F2DC383}"/>
    <dgm:cxn modelId="{485CFA4B-7199-468C-B4FD-6DC75363E7F2}" type="presOf" srcId="{374EB377-6ADC-460E-8EC9-EEA7067ADA2C}" destId="{3135D7C3-4A2F-41E7-A543-741F1705857C}" srcOrd="0" destOrd="2" presId="urn:microsoft.com/office/officeart/2005/8/layout/chevron2"/>
    <dgm:cxn modelId="{ED363E78-B0C5-4F24-AF16-AAFB132A4855}" srcId="{94C72663-A202-469D-B3D9-EF624851B578}" destId="{9083BB0F-8C4E-464F-A0B8-EBE3E79CADF7}" srcOrd="0" destOrd="0" parTransId="{610F3246-DFCB-4DBA-930B-BF8D85E04BF3}" sibTransId="{A141C19B-E574-49EE-B8C8-28859EB4DF30}"/>
    <dgm:cxn modelId="{F5B14E59-E254-4412-9FA2-2200985C0560}" type="presOf" srcId="{563827B9-2FC5-4A8D-8325-A2E31C87CBB7}" destId="{5E06CD77-7B0F-4F1C-9A1C-60E48B8BC2DF}" srcOrd="0" destOrd="0" presId="urn:microsoft.com/office/officeart/2005/8/layout/chevron2"/>
    <dgm:cxn modelId="{DFEA3481-A1BB-4D01-BCCE-D71AFBC2E3CB}" srcId="{5E9BDB71-7F3F-4314-8327-2D485DCA0B9A}" destId="{7D470175-3600-4B71-8030-D597A4E0D095}" srcOrd="0" destOrd="0" parTransId="{0A664822-0204-4646-99A2-6D125167560A}" sibTransId="{3995685E-D761-4FDA-924D-EE0A34FBDA5E}"/>
    <dgm:cxn modelId="{2EBA6B86-E237-4177-AFAC-EEB28EABD0B2}" srcId="{94C72663-A202-469D-B3D9-EF624851B578}" destId="{2AE1A27F-6B80-431B-A7FA-7E125196E17C}" srcOrd="1" destOrd="0" parTransId="{9819C6AA-8432-4286-9D8B-47DB412E3079}" sibTransId="{7066BBE2-A351-4D80-B1D7-5F14E159A915}"/>
    <dgm:cxn modelId="{1A5F6D8A-9FC5-4C1D-A750-64B8F26FFCF9}" type="presOf" srcId="{3047FBA5-D007-4916-9017-C537843845B0}" destId="{3135D7C3-4A2F-41E7-A543-741F1705857C}" srcOrd="0" destOrd="4" presId="urn:microsoft.com/office/officeart/2005/8/layout/chevron2"/>
    <dgm:cxn modelId="{6B54AD94-5EC4-41AD-B6D6-FA7202AC8550}" type="presOf" srcId="{4EBEFDF8-5003-4623-B157-9C8097E12158}" destId="{0C950F6C-9ABF-4EB3-A3D6-AAF7702C8581}" srcOrd="0" destOrd="2" presId="urn:microsoft.com/office/officeart/2005/8/layout/chevron2"/>
    <dgm:cxn modelId="{835E9296-0230-4107-82AF-6A3E08FCB443}" srcId="{563827B9-2FC5-4A8D-8325-A2E31C87CBB7}" destId="{4EBEFDF8-5003-4623-B157-9C8097E12158}" srcOrd="1" destOrd="0" parTransId="{338DD13D-33CB-4C42-AB29-878A12675D74}" sibTransId="{F7B27184-2BE9-4F47-8636-2F400896BD9B}"/>
    <dgm:cxn modelId="{ED2949A3-4B4F-4894-84F1-C7537D193CAE}" type="presOf" srcId="{5E9BDB71-7F3F-4314-8327-2D485DCA0B9A}" destId="{CCE83A06-08BF-498D-8408-E56C9B531DCC}" srcOrd="0" destOrd="0" presId="urn:microsoft.com/office/officeart/2005/8/layout/chevron2"/>
    <dgm:cxn modelId="{4057A4A4-4E98-4285-8B2F-3A85CFB89FFA}" srcId="{5E9BDB71-7F3F-4314-8327-2D485DCA0B9A}" destId="{374EB377-6ADC-460E-8EC9-EEA7067ADA2C}" srcOrd="2" destOrd="0" parTransId="{75248874-394C-4655-86F5-20EB6DDF8086}" sibTransId="{3C89164B-C47C-43E0-A67B-85A2A6E9BCC2}"/>
    <dgm:cxn modelId="{66884EA6-8B03-4709-9EF2-83C50FC67623}" srcId="{563827B9-2FC5-4A8D-8325-A2E31C87CBB7}" destId="{D1DDD503-98C9-48BE-957A-280A5530C893}" srcOrd="0" destOrd="0" parTransId="{D9715A6C-6951-491E-9537-2FC1E02E1C79}" sibTransId="{0BB57E6D-E4A9-488B-91CE-9F9ECE15DC1D}"/>
    <dgm:cxn modelId="{DEE517AB-AC84-408A-AB97-5BBD471A6023}" type="presOf" srcId="{CCCECAC7-E760-43FF-A24C-68B61D4255DD}" destId="{0C950F6C-9ABF-4EB3-A3D6-AAF7702C8581}" srcOrd="0" destOrd="1" presId="urn:microsoft.com/office/officeart/2005/8/layout/chevron2"/>
    <dgm:cxn modelId="{D7E04EAD-C24C-4797-9B67-AFA78820571E}" type="presOf" srcId="{90125947-7CD7-4976-8378-268EEED7225B}" destId="{AD78948D-7E7D-4840-902A-C335961DDECD}" srcOrd="0" destOrd="0" presId="urn:microsoft.com/office/officeart/2005/8/layout/chevron2"/>
    <dgm:cxn modelId="{4844B0C2-42F3-45C2-9DD1-7E524F161477}" srcId="{5E9BDB71-7F3F-4314-8327-2D485DCA0B9A}" destId="{3047FBA5-D007-4916-9017-C537843845B0}" srcOrd="4" destOrd="0" parTransId="{B4A62B11-7E6A-4F34-85CA-AB866B7C656C}" sibTransId="{765EBA43-53A6-4CEC-BB97-B3C8407CBA79}"/>
    <dgm:cxn modelId="{F21468D0-D44D-41FD-B406-55D1F4E06498}" srcId="{5E9BDB71-7F3F-4314-8327-2D485DCA0B9A}" destId="{FCEF4214-CFFB-42ED-9E72-FADE46C5DFFF}" srcOrd="3" destOrd="0" parTransId="{54D2FB46-BD1C-4BC9-814E-F19667454B65}" sibTransId="{9D8E234B-767F-4D1A-860E-451D1FF2BC12}"/>
    <dgm:cxn modelId="{F91A60DB-0CA6-4FA1-90C7-A337C10EB08C}" srcId="{D1DDD503-98C9-48BE-957A-280A5530C893}" destId="{CCCECAC7-E760-43FF-A24C-68B61D4255DD}" srcOrd="0" destOrd="0" parTransId="{2E31D74B-3AF9-4AED-9A6E-81E8AC2EF063}" sibTransId="{E9692EE3-B29D-46AE-BC09-4954B184E017}"/>
    <dgm:cxn modelId="{7EE43DDC-3CAA-4EFD-9654-3C3A85361C97}" type="presOf" srcId="{94C72663-A202-469D-B3D9-EF624851B578}" destId="{74B5AC58-AC14-4F7C-8178-D29C64828818}" srcOrd="0" destOrd="0" presId="urn:microsoft.com/office/officeart/2005/8/layout/chevron2"/>
    <dgm:cxn modelId="{F1C7BEE2-5E5E-4967-BB0E-3433DC14BC2D}" type="presOf" srcId="{FCEF4214-CFFB-42ED-9E72-FADE46C5DFFF}" destId="{3135D7C3-4A2F-41E7-A543-741F1705857C}" srcOrd="0" destOrd="3" presId="urn:microsoft.com/office/officeart/2005/8/layout/chevron2"/>
    <dgm:cxn modelId="{3A01DDF3-53AE-4DCD-98D8-3D763476E1C3}" type="presOf" srcId="{7D470175-3600-4B71-8030-D597A4E0D095}" destId="{3135D7C3-4A2F-41E7-A543-741F1705857C}" srcOrd="0" destOrd="0" presId="urn:microsoft.com/office/officeart/2005/8/layout/chevron2"/>
    <dgm:cxn modelId="{B180D5FF-1495-4C1E-BFAC-1E2FDC2B7D72}" srcId="{90125947-7CD7-4976-8378-268EEED7225B}" destId="{563827B9-2FC5-4A8D-8325-A2E31C87CBB7}" srcOrd="0" destOrd="0" parTransId="{D29A3F1D-014E-4E75-BB87-47A228E0BCA0}" sibTransId="{330EC24C-25A9-4C66-8365-E1107B42B878}"/>
    <dgm:cxn modelId="{1F4F031F-917A-4D55-9AEB-AD2C4F5825BB}" type="presParOf" srcId="{AD78948D-7E7D-4840-902A-C335961DDECD}" destId="{2D30749F-FC82-4513-9A70-E33C689885B1}" srcOrd="0" destOrd="0" presId="urn:microsoft.com/office/officeart/2005/8/layout/chevron2"/>
    <dgm:cxn modelId="{47E113D3-3829-4440-8245-623D51B6275E}" type="presParOf" srcId="{2D30749F-FC82-4513-9A70-E33C689885B1}" destId="{5E06CD77-7B0F-4F1C-9A1C-60E48B8BC2DF}" srcOrd="0" destOrd="0" presId="urn:microsoft.com/office/officeart/2005/8/layout/chevron2"/>
    <dgm:cxn modelId="{154C84EF-D521-47AB-9773-AEC064331FBB}" type="presParOf" srcId="{2D30749F-FC82-4513-9A70-E33C689885B1}" destId="{0C950F6C-9ABF-4EB3-A3D6-AAF7702C8581}" srcOrd="1" destOrd="0" presId="urn:microsoft.com/office/officeart/2005/8/layout/chevron2"/>
    <dgm:cxn modelId="{6323A382-D5B6-4EC6-A1C9-C5113752244F}" type="presParOf" srcId="{AD78948D-7E7D-4840-902A-C335961DDECD}" destId="{2DBDC60C-48CD-4727-BFB5-2CCDE2C343D0}" srcOrd="1" destOrd="0" presId="urn:microsoft.com/office/officeart/2005/8/layout/chevron2"/>
    <dgm:cxn modelId="{F2D192B9-8E70-4FE2-94B5-9305EE91A388}" type="presParOf" srcId="{AD78948D-7E7D-4840-902A-C335961DDECD}" destId="{31706638-75FA-403B-BF41-6C70A40C71D1}" srcOrd="2" destOrd="0" presId="urn:microsoft.com/office/officeart/2005/8/layout/chevron2"/>
    <dgm:cxn modelId="{ED4406E7-FD32-4565-888E-5E49D85A10C5}" type="presParOf" srcId="{31706638-75FA-403B-BF41-6C70A40C71D1}" destId="{CCE83A06-08BF-498D-8408-E56C9B531DCC}" srcOrd="0" destOrd="0" presId="urn:microsoft.com/office/officeart/2005/8/layout/chevron2"/>
    <dgm:cxn modelId="{174942BA-284F-4DF6-B9CC-FC9AB108647F}" type="presParOf" srcId="{31706638-75FA-403B-BF41-6C70A40C71D1}" destId="{3135D7C3-4A2F-41E7-A543-741F1705857C}" srcOrd="1" destOrd="0" presId="urn:microsoft.com/office/officeart/2005/8/layout/chevron2"/>
    <dgm:cxn modelId="{CD8422F5-73DB-4C24-82DD-8AAF3FC877D7}" type="presParOf" srcId="{AD78948D-7E7D-4840-902A-C335961DDECD}" destId="{A3B96C28-668A-4FE4-91B8-1651646A9F21}" srcOrd="3" destOrd="0" presId="urn:microsoft.com/office/officeart/2005/8/layout/chevron2"/>
    <dgm:cxn modelId="{D3E8041E-98E0-4B71-855F-9883758039A8}" type="presParOf" srcId="{AD78948D-7E7D-4840-902A-C335961DDECD}" destId="{4A707FE9-DDD1-4022-B747-67BCA6256259}" srcOrd="4" destOrd="0" presId="urn:microsoft.com/office/officeart/2005/8/layout/chevron2"/>
    <dgm:cxn modelId="{98D009A1-6E5D-4FA8-B852-5D41794961D3}" type="presParOf" srcId="{4A707FE9-DDD1-4022-B747-67BCA6256259}" destId="{74B5AC58-AC14-4F7C-8178-D29C64828818}" srcOrd="0" destOrd="0" presId="urn:microsoft.com/office/officeart/2005/8/layout/chevron2"/>
    <dgm:cxn modelId="{18CC029E-B887-4DA4-BCD4-996B39322868}" type="presParOf" srcId="{4A707FE9-DDD1-4022-B747-67BCA6256259}" destId="{3CE5B6DA-AF6F-4983-ACF2-13E06120956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468564-DDC4-4022-8C80-6E8CDED9CDC3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86C03F82-84B2-4246-AF57-06A42D7FDCB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/>
            <a:t>Data Cleaning</a:t>
          </a:r>
          <a:endParaRPr lang="en-GB" dirty="0"/>
        </a:p>
      </dgm:t>
    </dgm:pt>
    <dgm:pt modelId="{E6CE06AC-FEE7-4D6F-B013-A201D7B3F73A}" type="parTrans" cxnId="{853027EC-EAF1-4390-8FDF-6FD373573315}">
      <dgm:prSet/>
      <dgm:spPr/>
      <dgm:t>
        <a:bodyPr/>
        <a:lstStyle/>
        <a:p>
          <a:endParaRPr lang="en-GB"/>
        </a:p>
      </dgm:t>
    </dgm:pt>
    <dgm:pt modelId="{00BF7BE3-A2D8-400F-B1AB-F98EFEC70054}" type="sibTrans" cxnId="{853027EC-EAF1-4390-8FDF-6FD373573315}">
      <dgm:prSet/>
      <dgm:spPr/>
      <dgm:t>
        <a:bodyPr/>
        <a:lstStyle/>
        <a:p>
          <a:endParaRPr lang="en-GB"/>
        </a:p>
      </dgm:t>
    </dgm:pt>
    <dgm:pt modelId="{AD71F061-0EA9-46DC-B32A-726D0959669D}">
      <dgm:prSet phldrT="[Text]"/>
      <dgm:spPr/>
      <dgm:t>
        <a:bodyPr/>
        <a:lstStyle/>
        <a:p>
          <a:pPr>
            <a:buNone/>
          </a:pPr>
          <a:r>
            <a:rPr lang="en-GB" b="1" i="0" dirty="0"/>
            <a:t>Feature Engineering:</a:t>
          </a:r>
          <a:endParaRPr lang="en-GB" dirty="0"/>
        </a:p>
      </dgm:t>
    </dgm:pt>
    <dgm:pt modelId="{2548CE98-502D-4AA5-833C-E8606A5F28CB}" type="parTrans" cxnId="{8A604707-0B08-42F0-B5FB-B1752A7C6A01}">
      <dgm:prSet/>
      <dgm:spPr/>
      <dgm:t>
        <a:bodyPr/>
        <a:lstStyle/>
        <a:p>
          <a:endParaRPr lang="en-GB"/>
        </a:p>
      </dgm:t>
    </dgm:pt>
    <dgm:pt modelId="{46176E6C-384C-4AB9-AC57-ADDACA0B0C0E}" type="sibTrans" cxnId="{8A604707-0B08-42F0-B5FB-B1752A7C6A01}">
      <dgm:prSet/>
      <dgm:spPr/>
      <dgm:t>
        <a:bodyPr/>
        <a:lstStyle/>
        <a:p>
          <a:endParaRPr lang="en-GB"/>
        </a:p>
      </dgm:t>
    </dgm:pt>
    <dgm:pt modelId="{8441608F-5E75-4452-BA46-AD56FBEA5FAE}">
      <dgm:prSet phldrT="[Text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GB" b="1" i="0" dirty="0">
              <a:solidFill>
                <a:schemeClr val="accent6">
                  <a:lumMod val="75000"/>
                </a:schemeClr>
              </a:solidFill>
            </a:rPr>
            <a:t>Scaling</a:t>
          </a:r>
          <a:endParaRPr lang="en-GB" dirty="0"/>
        </a:p>
      </dgm:t>
    </dgm:pt>
    <dgm:pt modelId="{07E00849-8317-4BBE-A1A0-C499C5DDF872}" type="parTrans" cxnId="{F2C9C505-5FAF-4E50-B0A9-95A5E92B2D6E}">
      <dgm:prSet/>
      <dgm:spPr/>
      <dgm:t>
        <a:bodyPr/>
        <a:lstStyle/>
        <a:p>
          <a:endParaRPr lang="en-GB"/>
        </a:p>
      </dgm:t>
    </dgm:pt>
    <dgm:pt modelId="{DD4F612F-E8D8-4F30-9760-D8EC213EB426}" type="sibTrans" cxnId="{F2C9C505-5FAF-4E50-B0A9-95A5E92B2D6E}">
      <dgm:prSet/>
      <dgm:spPr/>
      <dgm:t>
        <a:bodyPr/>
        <a:lstStyle/>
        <a:p>
          <a:endParaRPr lang="en-GB"/>
        </a:p>
      </dgm:t>
    </dgm:pt>
    <dgm:pt modelId="{CA2F69A9-BB71-4AAC-8686-879321D0F7D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Remove rows with no CustomerID or </a:t>
          </a:r>
          <a:r>
            <a:rPr lang="en-GB" dirty="0" err="1"/>
            <a:t>InvoiceNo</a:t>
          </a:r>
          <a:endParaRPr lang="en-GB" dirty="0"/>
        </a:p>
      </dgm:t>
    </dgm:pt>
    <dgm:pt modelId="{49868C9A-0F0B-4D40-8A46-38021F19E0E2}" type="parTrans" cxnId="{25B95592-218F-452A-96A2-005C3B6414A5}">
      <dgm:prSet/>
      <dgm:spPr/>
      <dgm:t>
        <a:bodyPr/>
        <a:lstStyle/>
        <a:p>
          <a:endParaRPr lang="en-GB"/>
        </a:p>
      </dgm:t>
    </dgm:pt>
    <dgm:pt modelId="{3B8A2DB1-8554-4F36-8266-B9C0A6FB094C}" type="sibTrans" cxnId="{25B95592-218F-452A-96A2-005C3B6414A5}">
      <dgm:prSet/>
      <dgm:spPr/>
      <dgm:t>
        <a:bodyPr/>
        <a:lstStyle/>
        <a:p>
          <a:endParaRPr lang="en-GB"/>
        </a:p>
      </dgm:t>
    </dgm:pt>
    <dgm:pt modelId="{12E4528A-E342-425F-BFB4-4823BC129EF8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GB" dirty="0"/>
            <a:t>Remove cancelled transactions (often indicated by 'C' in </a:t>
          </a:r>
          <a:r>
            <a:rPr lang="en-GB" dirty="0" err="1"/>
            <a:t>InvoiceNo</a:t>
          </a:r>
          <a:r>
            <a:rPr lang="en-GB" dirty="0"/>
            <a:t>)</a:t>
          </a:r>
        </a:p>
      </dgm:t>
    </dgm:pt>
    <dgm:pt modelId="{A818F263-947E-4313-B6C7-1753C09132AE}" type="parTrans" cxnId="{EA214BEF-7D21-434F-B83D-27E82845B1EA}">
      <dgm:prSet/>
      <dgm:spPr/>
      <dgm:t>
        <a:bodyPr/>
        <a:lstStyle/>
        <a:p>
          <a:endParaRPr lang="en-GB"/>
        </a:p>
      </dgm:t>
    </dgm:pt>
    <dgm:pt modelId="{C23EA020-DFDB-4C1F-BA01-5D95C81324CA}" type="sibTrans" cxnId="{EA214BEF-7D21-434F-B83D-27E82845B1EA}">
      <dgm:prSet/>
      <dgm:spPr/>
      <dgm:t>
        <a:bodyPr/>
        <a:lstStyle/>
        <a:p>
          <a:endParaRPr lang="en-GB"/>
        </a:p>
      </dgm:t>
    </dgm:pt>
    <dgm:pt modelId="{8009CE3B-5BFC-417C-A799-65267C3A7336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GB" dirty="0"/>
            <a:t>Remove zero or negative Quantity and </a:t>
          </a:r>
          <a:r>
            <a:rPr lang="en-GB" dirty="0" err="1"/>
            <a:t>UnitPrice</a:t>
          </a:r>
          <a:endParaRPr lang="en-GB" dirty="0"/>
        </a:p>
      </dgm:t>
    </dgm:pt>
    <dgm:pt modelId="{9C2C8FDF-E909-4478-A406-3F1ADA0CDC19}" type="parTrans" cxnId="{B7751B1C-664C-4A39-84BA-B252C996A58B}">
      <dgm:prSet/>
      <dgm:spPr/>
      <dgm:t>
        <a:bodyPr/>
        <a:lstStyle/>
        <a:p>
          <a:endParaRPr lang="en-GB"/>
        </a:p>
      </dgm:t>
    </dgm:pt>
    <dgm:pt modelId="{9538F554-D9B0-4762-86F4-506BF23A5B49}" type="sibTrans" cxnId="{B7751B1C-664C-4A39-84BA-B252C996A58B}">
      <dgm:prSet/>
      <dgm:spPr/>
      <dgm:t>
        <a:bodyPr/>
        <a:lstStyle/>
        <a:p>
          <a:endParaRPr lang="en-GB"/>
        </a:p>
      </dgm:t>
    </dgm:pt>
    <dgm:pt modelId="{DDDF64DB-73E0-4918-8612-64380C486E75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GB" dirty="0"/>
            <a:t>Convert </a:t>
          </a:r>
          <a:r>
            <a:rPr lang="en-GB" dirty="0" err="1"/>
            <a:t>InvoiceDate</a:t>
          </a:r>
          <a:r>
            <a:rPr lang="en-GB" dirty="0"/>
            <a:t> to datetime object</a:t>
          </a:r>
        </a:p>
      </dgm:t>
    </dgm:pt>
    <dgm:pt modelId="{FD829CB6-5D3E-48DF-9D14-3E3612BB76A0}" type="parTrans" cxnId="{3C893361-968E-498D-B216-FC0EC07E698C}">
      <dgm:prSet/>
      <dgm:spPr/>
      <dgm:t>
        <a:bodyPr/>
        <a:lstStyle/>
        <a:p>
          <a:endParaRPr lang="en-GB"/>
        </a:p>
      </dgm:t>
    </dgm:pt>
    <dgm:pt modelId="{41507434-2ED4-4C5F-8746-1442591976BF}" type="sibTrans" cxnId="{3C893361-968E-498D-B216-FC0EC07E698C}">
      <dgm:prSet/>
      <dgm:spPr/>
      <dgm:t>
        <a:bodyPr/>
        <a:lstStyle/>
        <a:p>
          <a:endParaRPr lang="en-GB"/>
        </a:p>
      </dgm:t>
    </dgm:pt>
    <dgm:pt modelId="{47387471-63D9-4B8D-9F9D-2A12C2067C83}">
      <dgm:prSet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GB" dirty="0"/>
            <a:t>Calculate </a:t>
          </a:r>
          <a:r>
            <a:rPr lang="en-GB" dirty="0" err="1"/>
            <a:t>TotalPrice</a:t>
          </a:r>
          <a:r>
            <a:rPr lang="en-GB" dirty="0"/>
            <a:t> for each transaction</a:t>
          </a:r>
        </a:p>
      </dgm:t>
    </dgm:pt>
    <dgm:pt modelId="{AE9994BE-9427-4946-8FEB-7AC7547679D1}" type="parTrans" cxnId="{D9C5D36D-B316-4EA7-9803-1D917966069C}">
      <dgm:prSet/>
      <dgm:spPr/>
      <dgm:t>
        <a:bodyPr/>
        <a:lstStyle/>
        <a:p>
          <a:endParaRPr lang="en-GB"/>
        </a:p>
      </dgm:t>
    </dgm:pt>
    <dgm:pt modelId="{39B8C260-319D-4235-A80C-6FDA2F954302}" type="sibTrans" cxnId="{D9C5D36D-B316-4EA7-9803-1D917966069C}">
      <dgm:prSet/>
      <dgm:spPr/>
      <dgm:t>
        <a:bodyPr/>
        <a:lstStyle/>
        <a:p>
          <a:endParaRPr lang="en-GB"/>
        </a:p>
      </dgm:t>
    </dgm:pt>
    <dgm:pt modelId="{63AD83A0-1883-4039-B5C3-6F7B08F6594D}">
      <dgm:prSet/>
      <dgm:spPr/>
      <dgm:t>
        <a:bodyPr/>
        <a:lstStyle/>
        <a:p>
          <a:r>
            <a:rPr lang="en-GB" dirty="0"/>
            <a:t>Filter only UK data which is approximately ~90% of </a:t>
          </a:r>
          <a:r>
            <a:rPr lang="en-GB"/>
            <a:t>the data</a:t>
          </a:r>
        </a:p>
      </dgm:t>
    </dgm:pt>
    <dgm:pt modelId="{D33353EE-A185-4FE9-A03B-BBAB8AC55D5C}" type="parTrans" cxnId="{3BDF7F51-4D36-4E78-8340-D67F1C40CC96}">
      <dgm:prSet/>
      <dgm:spPr/>
      <dgm:t>
        <a:bodyPr/>
        <a:lstStyle/>
        <a:p>
          <a:endParaRPr lang="en-GB"/>
        </a:p>
      </dgm:t>
    </dgm:pt>
    <dgm:pt modelId="{3B48FB75-189E-4BA2-B7AD-33F939CA39A2}" type="sibTrans" cxnId="{3BDF7F51-4D36-4E78-8340-D67F1C40CC96}">
      <dgm:prSet/>
      <dgm:spPr/>
      <dgm:t>
        <a:bodyPr/>
        <a:lstStyle/>
        <a:p>
          <a:endParaRPr lang="en-GB"/>
        </a:p>
      </dgm:t>
    </dgm:pt>
    <dgm:pt modelId="{043A62FD-11CC-4EEA-A5D0-7D0D9092DDB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Created Recency by comparing Max(</a:t>
          </a:r>
          <a:r>
            <a:rPr lang="en-GB" b="0" i="0" dirty="0" err="1"/>
            <a:t>InvoiceDate</a:t>
          </a:r>
          <a:r>
            <a:rPr lang="en-GB" b="0" i="0" dirty="0"/>
            <a:t>) to a reference date.</a:t>
          </a:r>
        </a:p>
      </dgm:t>
    </dgm:pt>
    <dgm:pt modelId="{53474BFF-EBC1-44A2-BA70-EF970992BA2B}" type="parTrans" cxnId="{DCDE542E-99EB-4923-B24C-790E48A116DB}">
      <dgm:prSet/>
      <dgm:spPr/>
      <dgm:t>
        <a:bodyPr/>
        <a:lstStyle/>
        <a:p>
          <a:endParaRPr lang="en-GB"/>
        </a:p>
      </dgm:t>
    </dgm:pt>
    <dgm:pt modelId="{8F0BF543-ACA1-4B15-A6E9-3C41D675CAB5}" type="sibTrans" cxnId="{DCDE542E-99EB-4923-B24C-790E48A116DB}">
      <dgm:prSet/>
      <dgm:spPr/>
      <dgm:t>
        <a:bodyPr/>
        <a:lstStyle/>
        <a:p>
          <a:endParaRPr lang="en-GB"/>
        </a:p>
      </dgm:t>
    </dgm:pt>
    <dgm:pt modelId="{3380129C-6FFF-41FB-A096-8359C83AA63D}">
      <dgm:prSet/>
      <dgm:spPr/>
      <dgm:t>
        <a:bodyPr/>
        <a:lstStyle/>
        <a:p>
          <a:r>
            <a:rPr lang="en-GB" b="0" i="0" dirty="0"/>
            <a:t>Calculated Diversity as count(distinct </a:t>
          </a:r>
          <a:r>
            <a:rPr lang="en-GB" b="0" i="0" dirty="0" err="1"/>
            <a:t>product_id</a:t>
          </a:r>
          <a:r>
            <a:rPr lang="en-GB" b="0" i="0" dirty="0"/>
            <a:t>) per </a:t>
          </a:r>
          <a:r>
            <a:rPr lang="en-GB" b="0" i="0"/>
            <a:t>customer.</a:t>
          </a:r>
          <a:endParaRPr lang="en-GB"/>
        </a:p>
      </dgm:t>
    </dgm:pt>
    <dgm:pt modelId="{C9EB74DB-215C-4BFC-A627-32F836C5094B}" type="parTrans" cxnId="{F457AEC8-5F6C-434E-A1F4-EEE534D51F26}">
      <dgm:prSet/>
      <dgm:spPr/>
      <dgm:t>
        <a:bodyPr/>
        <a:lstStyle/>
        <a:p>
          <a:endParaRPr lang="en-GB"/>
        </a:p>
      </dgm:t>
    </dgm:pt>
    <dgm:pt modelId="{DE22378A-9B1D-4984-9A2D-627315555F73}" type="sibTrans" cxnId="{F457AEC8-5F6C-434E-A1F4-EEE534D51F26}">
      <dgm:prSet/>
      <dgm:spPr/>
      <dgm:t>
        <a:bodyPr/>
        <a:lstStyle/>
        <a:p>
          <a:endParaRPr lang="en-GB"/>
        </a:p>
      </dgm:t>
    </dgm:pt>
    <dgm:pt modelId="{F26116D4-10FF-4209-9E64-FB06DFF1F3AE}">
      <dgm:prSet phldrT="[Text]"/>
      <dgm:spPr/>
      <dgm:t>
        <a:bodyPr/>
        <a:lstStyle/>
        <a:p>
          <a:pPr>
            <a:buNone/>
          </a:pPr>
          <a:r>
            <a:rPr lang="en-GB" b="0" i="0" dirty="0"/>
            <a:t>Applied </a:t>
          </a:r>
          <a:r>
            <a:rPr lang="en-GB" b="0" i="0" dirty="0" err="1"/>
            <a:t>MinMaxScaler</a:t>
          </a:r>
          <a:r>
            <a:rPr lang="en-GB" b="0" i="0" dirty="0"/>
            <a:t> on RFMTD metrics. K-Means is distance-based, making normalization critical</a:t>
          </a:r>
          <a:r>
            <a:rPr lang="en-GB" b="0" i="0"/>
            <a:t>. </a:t>
          </a:r>
          <a:endParaRPr lang="en-GB" dirty="0"/>
        </a:p>
      </dgm:t>
    </dgm:pt>
    <dgm:pt modelId="{03643079-1D3B-475A-A16F-913F5601881C}" type="parTrans" cxnId="{B3C92020-E794-45CF-A697-76B0E8B89C35}">
      <dgm:prSet/>
      <dgm:spPr/>
      <dgm:t>
        <a:bodyPr/>
        <a:lstStyle/>
        <a:p>
          <a:endParaRPr lang="en-GB"/>
        </a:p>
      </dgm:t>
    </dgm:pt>
    <dgm:pt modelId="{1E98D7CA-5239-4E14-B223-04792D20E603}" type="sibTrans" cxnId="{B3C92020-E794-45CF-A697-76B0E8B89C35}">
      <dgm:prSet/>
      <dgm:spPr/>
      <dgm:t>
        <a:bodyPr/>
        <a:lstStyle/>
        <a:p>
          <a:endParaRPr lang="en-GB"/>
        </a:p>
      </dgm:t>
    </dgm:pt>
    <dgm:pt modelId="{495013DD-D933-4E82-8F89-17565E5F2758}" type="pres">
      <dgm:prSet presAssocID="{77468564-DDC4-4022-8C80-6E8CDED9CDC3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2BBD2FCC-546A-43F9-8504-F6CCE575359B}" type="pres">
      <dgm:prSet presAssocID="{86C03F82-84B2-4246-AF57-06A42D7FDCB4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972C71EF-4450-458D-B5FA-BAB8DFC3AACC}" type="pres">
      <dgm:prSet presAssocID="{86C03F82-84B2-4246-AF57-06A42D7FDCB4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879AB145-C588-464E-9F22-7F3F8B73CE54}" type="pres">
      <dgm:prSet presAssocID="{AD71F061-0EA9-46DC-B32A-726D0959669D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49072EA3-1274-4DC9-9FAE-AD35FE1E79D8}" type="pres">
      <dgm:prSet presAssocID="{AD71F061-0EA9-46DC-B32A-726D0959669D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67D25A05-2420-4245-9BED-0B86E151E415}" type="pres">
      <dgm:prSet presAssocID="{8441608F-5E75-4452-BA46-AD56FBEA5FAE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A9D0F954-9D70-45A1-9A2A-A7C18E7B153F}" type="pres">
      <dgm:prSet presAssocID="{8441608F-5E75-4452-BA46-AD56FBEA5FAE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6442802-1F10-4029-BD3E-6BC3B98E1B2C}" type="presOf" srcId="{12E4528A-E342-425F-BFB4-4823BC129EF8}" destId="{972C71EF-4450-458D-B5FA-BAB8DFC3AACC}" srcOrd="0" destOrd="1" presId="urn:microsoft.com/office/officeart/2009/3/layout/IncreasingArrowsProcess"/>
    <dgm:cxn modelId="{F2C9C505-5FAF-4E50-B0A9-95A5E92B2D6E}" srcId="{77468564-DDC4-4022-8C80-6E8CDED9CDC3}" destId="{8441608F-5E75-4452-BA46-AD56FBEA5FAE}" srcOrd="2" destOrd="0" parTransId="{07E00849-8317-4BBE-A1A0-C499C5DDF872}" sibTransId="{DD4F612F-E8D8-4F30-9760-D8EC213EB426}"/>
    <dgm:cxn modelId="{8A604707-0B08-42F0-B5FB-B1752A7C6A01}" srcId="{77468564-DDC4-4022-8C80-6E8CDED9CDC3}" destId="{AD71F061-0EA9-46DC-B32A-726D0959669D}" srcOrd="1" destOrd="0" parTransId="{2548CE98-502D-4AA5-833C-E8606A5F28CB}" sibTransId="{46176E6C-384C-4AB9-AC57-ADDACA0B0C0E}"/>
    <dgm:cxn modelId="{B7751B1C-664C-4A39-84BA-B252C996A58B}" srcId="{86C03F82-84B2-4246-AF57-06A42D7FDCB4}" destId="{8009CE3B-5BFC-417C-A799-65267C3A7336}" srcOrd="2" destOrd="0" parTransId="{9C2C8FDF-E909-4478-A406-3F1ADA0CDC19}" sibTransId="{9538F554-D9B0-4762-86F4-506BF23A5B49}"/>
    <dgm:cxn modelId="{00D0931F-2946-4285-93B6-337E7666270D}" type="presOf" srcId="{043A62FD-11CC-4EEA-A5D0-7D0D9092DDBA}" destId="{49072EA3-1274-4DC9-9FAE-AD35FE1E79D8}" srcOrd="0" destOrd="0" presId="urn:microsoft.com/office/officeart/2009/3/layout/IncreasingArrowsProcess"/>
    <dgm:cxn modelId="{B3C92020-E794-45CF-A697-76B0E8B89C35}" srcId="{8441608F-5E75-4452-BA46-AD56FBEA5FAE}" destId="{F26116D4-10FF-4209-9E64-FB06DFF1F3AE}" srcOrd="0" destOrd="0" parTransId="{03643079-1D3B-475A-A16F-913F5601881C}" sibTransId="{1E98D7CA-5239-4E14-B223-04792D20E603}"/>
    <dgm:cxn modelId="{0B6EE423-2DAE-4D67-B784-10C9450DE9F7}" type="presOf" srcId="{AD71F061-0EA9-46DC-B32A-726D0959669D}" destId="{879AB145-C588-464E-9F22-7F3F8B73CE54}" srcOrd="0" destOrd="0" presId="urn:microsoft.com/office/officeart/2009/3/layout/IncreasingArrowsProcess"/>
    <dgm:cxn modelId="{DCDE542E-99EB-4923-B24C-790E48A116DB}" srcId="{AD71F061-0EA9-46DC-B32A-726D0959669D}" destId="{043A62FD-11CC-4EEA-A5D0-7D0D9092DDBA}" srcOrd="0" destOrd="0" parTransId="{53474BFF-EBC1-44A2-BA70-EF970992BA2B}" sibTransId="{8F0BF543-ACA1-4B15-A6E9-3C41D675CAB5}"/>
    <dgm:cxn modelId="{9C11EC3F-CE72-45C9-B2ED-38714761B5A9}" type="presOf" srcId="{63AD83A0-1883-4039-B5C3-6F7B08F6594D}" destId="{972C71EF-4450-458D-B5FA-BAB8DFC3AACC}" srcOrd="0" destOrd="5" presId="urn:microsoft.com/office/officeart/2009/3/layout/IncreasingArrowsProcess"/>
    <dgm:cxn modelId="{3C893361-968E-498D-B216-FC0EC07E698C}" srcId="{86C03F82-84B2-4246-AF57-06A42D7FDCB4}" destId="{DDDF64DB-73E0-4918-8612-64380C486E75}" srcOrd="3" destOrd="0" parTransId="{FD829CB6-5D3E-48DF-9D14-3E3612BB76A0}" sibTransId="{41507434-2ED4-4C5F-8746-1442591976BF}"/>
    <dgm:cxn modelId="{1E167A65-41D8-4398-B918-331801BBADB2}" type="presOf" srcId="{F26116D4-10FF-4209-9E64-FB06DFF1F3AE}" destId="{A9D0F954-9D70-45A1-9A2A-A7C18E7B153F}" srcOrd="0" destOrd="0" presId="urn:microsoft.com/office/officeart/2009/3/layout/IncreasingArrowsProcess"/>
    <dgm:cxn modelId="{A18A276A-75EE-4119-87A2-059BFDEB002F}" type="presOf" srcId="{8009CE3B-5BFC-417C-A799-65267C3A7336}" destId="{972C71EF-4450-458D-B5FA-BAB8DFC3AACC}" srcOrd="0" destOrd="2" presId="urn:microsoft.com/office/officeart/2009/3/layout/IncreasingArrowsProcess"/>
    <dgm:cxn modelId="{D9C5D36D-B316-4EA7-9803-1D917966069C}" srcId="{86C03F82-84B2-4246-AF57-06A42D7FDCB4}" destId="{47387471-63D9-4B8D-9F9D-2A12C2067C83}" srcOrd="4" destOrd="0" parTransId="{AE9994BE-9427-4946-8FEB-7AC7547679D1}" sibTransId="{39B8C260-319D-4235-A80C-6FDA2F954302}"/>
    <dgm:cxn modelId="{3BDF7F51-4D36-4E78-8340-D67F1C40CC96}" srcId="{86C03F82-84B2-4246-AF57-06A42D7FDCB4}" destId="{63AD83A0-1883-4039-B5C3-6F7B08F6594D}" srcOrd="5" destOrd="0" parTransId="{D33353EE-A185-4FE9-A03B-BBAB8AC55D5C}" sibTransId="{3B48FB75-189E-4BA2-B7AD-33F939CA39A2}"/>
    <dgm:cxn modelId="{25B95592-218F-452A-96A2-005C3B6414A5}" srcId="{86C03F82-84B2-4246-AF57-06A42D7FDCB4}" destId="{CA2F69A9-BB71-4AAC-8686-879321D0F7D7}" srcOrd="0" destOrd="0" parTransId="{49868C9A-0F0B-4D40-8A46-38021F19E0E2}" sibTransId="{3B8A2DB1-8554-4F36-8266-B9C0A6FB094C}"/>
    <dgm:cxn modelId="{A1E4B09E-147E-4D36-87FC-AC9642A86289}" type="presOf" srcId="{86C03F82-84B2-4246-AF57-06A42D7FDCB4}" destId="{2BBD2FCC-546A-43F9-8504-F6CCE575359B}" srcOrd="0" destOrd="0" presId="urn:microsoft.com/office/officeart/2009/3/layout/IncreasingArrowsProcess"/>
    <dgm:cxn modelId="{C64589B0-92CF-4975-A30F-8CACE8E444CA}" type="presOf" srcId="{3380129C-6FFF-41FB-A096-8359C83AA63D}" destId="{49072EA3-1274-4DC9-9FAE-AD35FE1E79D8}" srcOrd="0" destOrd="1" presId="urn:microsoft.com/office/officeart/2009/3/layout/IncreasingArrowsProcess"/>
    <dgm:cxn modelId="{844F98B9-1885-4AA2-8391-4B6E4F5B5086}" type="presOf" srcId="{8441608F-5E75-4452-BA46-AD56FBEA5FAE}" destId="{67D25A05-2420-4245-9BED-0B86E151E415}" srcOrd="0" destOrd="0" presId="urn:microsoft.com/office/officeart/2009/3/layout/IncreasingArrowsProcess"/>
    <dgm:cxn modelId="{C7B39BBE-21B7-40F0-8E28-E830060D366E}" type="presOf" srcId="{77468564-DDC4-4022-8C80-6E8CDED9CDC3}" destId="{495013DD-D933-4E82-8F89-17565E5F2758}" srcOrd="0" destOrd="0" presId="urn:microsoft.com/office/officeart/2009/3/layout/IncreasingArrowsProcess"/>
    <dgm:cxn modelId="{F457AEC8-5F6C-434E-A1F4-EEE534D51F26}" srcId="{AD71F061-0EA9-46DC-B32A-726D0959669D}" destId="{3380129C-6FFF-41FB-A096-8359C83AA63D}" srcOrd="1" destOrd="0" parTransId="{C9EB74DB-215C-4BFC-A627-32F836C5094B}" sibTransId="{DE22378A-9B1D-4984-9A2D-627315555F73}"/>
    <dgm:cxn modelId="{3CFEF3CB-3145-4DFC-80FA-EA02368BAE7D}" type="presOf" srcId="{47387471-63D9-4B8D-9F9D-2A12C2067C83}" destId="{972C71EF-4450-458D-B5FA-BAB8DFC3AACC}" srcOrd="0" destOrd="4" presId="urn:microsoft.com/office/officeart/2009/3/layout/IncreasingArrowsProcess"/>
    <dgm:cxn modelId="{286472E2-9F31-4466-9B27-A6F4C838D67F}" type="presOf" srcId="{CA2F69A9-BB71-4AAC-8686-879321D0F7D7}" destId="{972C71EF-4450-458D-B5FA-BAB8DFC3AACC}" srcOrd="0" destOrd="0" presId="urn:microsoft.com/office/officeart/2009/3/layout/IncreasingArrowsProcess"/>
    <dgm:cxn modelId="{853027EC-EAF1-4390-8FDF-6FD373573315}" srcId="{77468564-DDC4-4022-8C80-6E8CDED9CDC3}" destId="{86C03F82-84B2-4246-AF57-06A42D7FDCB4}" srcOrd="0" destOrd="0" parTransId="{E6CE06AC-FEE7-4D6F-B013-A201D7B3F73A}" sibTransId="{00BF7BE3-A2D8-400F-B1AB-F98EFEC70054}"/>
    <dgm:cxn modelId="{EA214BEF-7D21-434F-B83D-27E82845B1EA}" srcId="{86C03F82-84B2-4246-AF57-06A42D7FDCB4}" destId="{12E4528A-E342-425F-BFB4-4823BC129EF8}" srcOrd="1" destOrd="0" parTransId="{A818F263-947E-4313-B6C7-1753C09132AE}" sibTransId="{C23EA020-DFDB-4C1F-BA01-5D95C81324CA}"/>
    <dgm:cxn modelId="{EAA4F1F4-C8D9-4F86-B034-CD76371778DE}" type="presOf" srcId="{DDDF64DB-73E0-4918-8612-64380C486E75}" destId="{972C71EF-4450-458D-B5FA-BAB8DFC3AACC}" srcOrd="0" destOrd="3" presId="urn:microsoft.com/office/officeart/2009/3/layout/IncreasingArrowsProcess"/>
    <dgm:cxn modelId="{0E9F22AF-C855-4AFD-B4BF-544DF1BC640E}" type="presParOf" srcId="{495013DD-D933-4E82-8F89-17565E5F2758}" destId="{2BBD2FCC-546A-43F9-8504-F6CCE575359B}" srcOrd="0" destOrd="0" presId="urn:microsoft.com/office/officeart/2009/3/layout/IncreasingArrowsProcess"/>
    <dgm:cxn modelId="{70209A12-7D5E-4313-8C9A-F1F888D875CF}" type="presParOf" srcId="{495013DD-D933-4E82-8F89-17565E5F2758}" destId="{972C71EF-4450-458D-B5FA-BAB8DFC3AACC}" srcOrd="1" destOrd="0" presId="urn:microsoft.com/office/officeart/2009/3/layout/IncreasingArrowsProcess"/>
    <dgm:cxn modelId="{8F891EFC-299F-470F-81F4-F9663CF6EC78}" type="presParOf" srcId="{495013DD-D933-4E82-8F89-17565E5F2758}" destId="{879AB145-C588-464E-9F22-7F3F8B73CE54}" srcOrd="2" destOrd="0" presId="urn:microsoft.com/office/officeart/2009/3/layout/IncreasingArrowsProcess"/>
    <dgm:cxn modelId="{941CBAB1-599E-46BD-AEF6-3DF6993096A7}" type="presParOf" srcId="{495013DD-D933-4E82-8F89-17565E5F2758}" destId="{49072EA3-1274-4DC9-9FAE-AD35FE1E79D8}" srcOrd="3" destOrd="0" presId="urn:microsoft.com/office/officeart/2009/3/layout/IncreasingArrowsProcess"/>
    <dgm:cxn modelId="{7E728846-E9EF-4349-A64F-51D8082C4B0F}" type="presParOf" srcId="{495013DD-D933-4E82-8F89-17565E5F2758}" destId="{67D25A05-2420-4245-9BED-0B86E151E415}" srcOrd="4" destOrd="0" presId="urn:microsoft.com/office/officeart/2009/3/layout/IncreasingArrowsProcess"/>
    <dgm:cxn modelId="{980E7930-1AB5-4738-8EB8-F79901A9F963}" type="presParOf" srcId="{495013DD-D933-4E82-8F89-17565E5F2758}" destId="{A9D0F954-9D70-45A1-9A2A-A7C18E7B153F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225B54-1CCA-4F50-B1E2-B24ADA35AC27}" type="doc">
      <dgm:prSet loTypeId="urn:microsoft.com/office/officeart/2005/8/layout/vList6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9A0DAC74-C288-471E-B9D2-FC24A368D489}">
      <dgm:prSet phldrT="[Text]"/>
      <dgm:spPr/>
      <dgm:t>
        <a:bodyPr/>
        <a:lstStyle/>
        <a:p>
          <a:pPr>
            <a:buNone/>
          </a:pPr>
          <a:r>
            <a:rPr lang="en-GB" b="1" i="0" dirty="0"/>
            <a:t>Algorithm</a:t>
          </a:r>
          <a:endParaRPr lang="en-GB" dirty="0"/>
        </a:p>
      </dgm:t>
    </dgm:pt>
    <dgm:pt modelId="{BACCAC3C-0EE8-496E-829D-519D646DEC30}" type="parTrans" cxnId="{BD2A91A0-C8C8-47F2-9EDC-D3E186D7B9D6}">
      <dgm:prSet/>
      <dgm:spPr/>
      <dgm:t>
        <a:bodyPr/>
        <a:lstStyle/>
        <a:p>
          <a:endParaRPr lang="en-GB"/>
        </a:p>
      </dgm:t>
    </dgm:pt>
    <dgm:pt modelId="{A81300B3-1257-4B37-977B-70A0B0595FF2}" type="sibTrans" cxnId="{BD2A91A0-C8C8-47F2-9EDC-D3E186D7B9D6}">
      <dgm:prSet/>
      <dgm:spPr/>
      <dgm:t>
        <a:bodyPr/>
        <a:lstStyle/>
        <a:p>
          <a:endParaRPr lang="en-GB"/>
        </a:p>
      </dgm:t>
    </dgm:pt>
    <dgm:pt modelId="{9284BCE6-5625-42E5-859A-FE064E2EA2A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Optimal K Calculation</a:t>
          </a:r>
          <a:endParaRPr lang="en-GB" b="0" i="0" dirty="0"/>
        </a:p>
      </dgm:t>
    </dgm:pt>
    <dgm:pt modelId="{CD3E5732-3001-46EB-B310-FBE94260F955}" type="parTrans" cxnId="{7D1CC196-9D2F-48A4-A908-57A47D3D2B45}">
      <dgm:prSet/>
      <dgm:spPr/>
      <dgm:t>
        <a:bodyPr/>
        <a:lstStyle/>
        <a:p>
          <a:endParaRPr lang="en-GB"/>
        </a:p>
      </dgm:t>
    </dgm:pt>
    <dgm:pt modelId="{39D14114-83BF-44D0-806D-5DF9944C3E37}" type="sibTrans" cxnId="{7D1CC196-9D2F-48A4-A908-57A47D3D2B45}">
      <dgm:prSet/>
      <dgm:spPr/>
      <dgm:t>
        <a:bodyPr/>
        <a:lstStyle/>
        <a:p>
          <a:endParaRPr lang="en-GB"/>
        </a:p>
      </dgm:t>
    </dgm:pt>
    <dgm:pt modelId="{AC5E7450-960C-4C00-8ADB-5BD9DC5C78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/>
            <a:t>Elbow Method:</a:t>
          </a:r>
          <a:r>
            <a:rPr lang="en-GB" b="0" i="0"/>
            <a:t> Ran Inertia (Within-Cluster Sum of Squares) for k=1 to 10; found optimal k where the decline significantly slows (e.g., k=4 or 5).</a:t>
          </a:r>
        </a:p>
      </dgm:t>
    </dgm:pt>
    <dgm:pt modelId="{9B1858F4-2CCB-4E89-B74F-FC9E25CA2545}" type="parTrans" cxnId="{34DAF328-91C9-4AD4-8FC4-CB60808AA38B}">
      <dgm:prSet/>
      <dgm:spPr/>
      <dgm:t>
        <a:bodyPr/>
        <a:lstStyle/>
        <a:p>
          <a:endParaRPr lang="en-GB"/>
        </a:p>
      </dgm:t>
    </dgm:pt>
    <dgm:pt modelId="{A0319735-FBB1-40DD-991B-A3E0DA134F41}" type="sibTrans" cxnId="{34DAF328-91C9-4AD4-8FC4-CB60808AA38B}">
      <dgm:prSet/>
      <dgm:spPr/>
      <dgm:t>
        <a:bodyPr/>
        <a:lstStyle/>
        <a:p>
          <a:endParaRPr lang="en-GB"/>
        </a:p>
      </dgm:t>
    </dgm:pt>
    <dgm:pt modelId="{0DA1A91C-6F4F-4851-BE08-86A3CC5676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/>
            <a:t>Silhouette Score:</a:t>
          </a:r>
          <a:r>
            <a:rPr lang="en-GB" b="0" i="0"/>
            <a:t> Confirmed separation distance between clusters (targeting &gt;0.5).</a:t>
          </a:r>
        </a:p>
      </dgm:t>
    </dgm:pt>
    <dgm:pt modelId="{1D716841-654B-4E0F-9453-AA8BA3E2B207}" type="parTrans" cxnId="{1B810142-5B46-4EE6-99DE-4E3D65F3F2C1}">
      <dgm:prSet/>
      <dgm:spPr/>
      <dgm:t>
        <a:bodyPr/>
        <a:lstStyle/>
        <a:p>
          <a:endParaRPr lang="en-GB"/>
        </a:p>
      </dgm:t>
    </dgm:pt>
    <dgm:pt modelId="{AAABE238-621E-4F05-A035-76A1D6C22F0D}" type="sibTrans" cxnId="{1B810142-5B46-4EE6-99DE-4E3D65F3F2C1}">
      <dgm:prSet/>
      <dgm:spPr/>
      <dgm:t>
        <a:bodyPr/>
        <a:lstStyle/>
        <a:p>
          <a:endParaRPr lang="en-GB"/>
        </a:p>
      </dgm:t>
    </dgm:pt>
    <dgm:pt modelId="{ED7CA899-6ABC-4E2A-B1A8-AB9066FA3733}">
      <dgm:prSet phldrT="[Text]"/>
      <dgm:spPr/>
      <dgm:t>
        <a:bodyPr/>
        <a:lstStyle/>
        <a:p>
          <a:pPr>
            <a:buNone/>
          </a:pPr>
          <a:r>
            <a:rPr lang="en-GB" b="0" i="0"/>
            <a:t>K-Means clustering (unsupervised learning) was chosen for computational efficiency with large datasets.</a:t>
          </a:r>
          <a:endParaRPr lang="en-GB" dirty="0"/>
        </a:p>
      </dgm:t>
    </dgm:pt>
    <dgm:pt modelId="{B51E125D-A1EE-4FAE-B4A6-A7CD27F37113}" type="parTrans" cxnId="{959F9177-E62E-431F-B179-D2CE203E7B33}">
      <dgm:prSet/>
      <dgm:spPr/>
      <dgm:t>
        <a:bodyPr/>
        <a:lstStyle/>
        <a:p>
          <a:endParaRPr lang="en-GB"/>
        </a:p>
      </dgm:t>
    </dgm:pt>
    <dgm:pt modelId="{E7B7735B-BF38-463F-89CF-33C77423A7C8}" type="sibTrans" cxnId="{959F9177-E62E-431F-B179-D2CE203E7B33}">
      <dgm:prSet/>
      <dgm:spPr/>
      <dgm:t>
        <a:bodyPr/>
        <a:lstStyle/>
        <a:p>
          <a:endParaRPr lang="en-GB"/>
        </a:p>
      </dgm:t>
    </dgm:pt>
    <dgm:pt modelId="{A357A096-27FE-4DAD-B890-A1C8E95CC4D7}" type="pres">
      <dgm:prSet presAssocID="{F2225B54-1CCA-4F50-B1E2-B24ADA35AC27}" presName="Name0" presStyleCnt="0">
        <dgm:presLayoutVars>
          <dgm:dir/>
          <dgm:animLvl val="lvl"/>
          <dgm:resizeHandles/>
        </dgm:presLayoutVars>
      </dgm:prSet>
      <dgm:spPr/>
    </dgm:pt>
    <dgm:pt modelId="{63B437AC-F7AE-4F30-BC29-A2C67C3B9E8A}" type="pres">
      <dgm:prSet presAssocID="{9A0DAC74-C288-471E-B9D2-FC24A368D489}" presName="linNode" presStyleCnt="0"/>
      <dgm:spPr/>
    </dgm:pt>
    <dgm:pt modelId="{F7E75EE7-D4FE-4FC0-B4A4-0D5BFADBB4CC}" type="pres">
      <dgm:prSet presAssocID="{9A0DAC74-C288-471E-B9D2-FC24A368D489}" presName="parentShp" presStyleLbl="node1" presStyleIdx="0" presStyleCnt="2">
        <dgm:presLayoutVars>
          <dgm:bulletEnabled val="1"/>
        </dgm:presLayoutVars>
      </dgm:prSet>
      <dgm:spPr/>
    </dgm:pt>
    <dgm:pt modelId="{814630E8-E31A-421F-BD8D-521943B8B89E}" type="pres">
      <dgm:prSet presAssocID="{9A0DAC74-C288-471E-B9D2-FC24A368D489}" presName="childShp" presStyleLbl="bgAccFollowNode1" presStyleIdx="0" presStyleCnt="2">
        <dgm:presLayoutVars>
          <dgm:bulletEnabled val="1"/>
        </dgm:presLayoutVars>
      </dgm:prSet>
      <dgm:spPr/>
    </dgm:pt>
    <dgm:pt modelId="{9201B243-81C1-4C18-83F8-AA7C1AD6BE1D}" type="pres">
      <dgm:prSet presAssocID="{A81300B3-1257-4B37-977B-70A0B0595FF2}" presName="spacing" presStyleCnt="0"/>
      <dgm:spPr/>
    </dgm:pt>
    <dgm:pt modelId="{84B0FE9A-A4E1-4C5F-ABA5-71B6C81CA282}" type="pres">
      <dgm:prSet presAssocID="{9284BCE6-5625-42E5-859A-FE064E2EA2A2}" presName="linNode" presStyleCnt="0"/>
      <dgm:spPr/>
    </dgm:pt>
    <dgm:pt modelId="{43461827-7934-4EDD-955B-2933A3F59DA6}" type="pres">
      <dgm:prSet presAssocID="{9284BCE6-5625-42E5-859A-FE064E2EA2A2}" presName="parentShp" presStyleLbl="node1" presStyleIdx="1" presStyleCnt="2">
        <dgm:presLayoutVars>
          <dgm:bulletEnabled val="1"/>
        </dgm:presLayoutVars>
      </dgm:prSet>
      <dgm:spPr/>
    </dgm:pt>
    <dgm:pt modelId="{6670881A-59AE-427E-80AA-339EE4E4A21D}" type="pres">
      <dgm:prSet presAssocID="{9284BCE6-5625-42E5-859A-FE064E2EA2A2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E3D5420B-672D-4B9B-9400-928ED5078712}" type="presOf" srcId="{ED7CA899-6ABC-4E2A-B1A8-AB9066FA3733}" destId="{814630E8-E31A-421F-BD8D-521943B8B89E}" srcOrd="0" destOrd="0" presId="urn:microsoft.com/office/officeart/2005/8/layout/vList6"/>
    <dgm:cxn modelId="{34DAF328-91C9-4AD4-8FC4-CB60808AA38B}" srcId="{9284BCE6-5625-42E5-859A-FE064E2EA2A2}" destId="{AC5E7450-960C-4C00-8ADB-5BD9DC5C78CF}" srcOrd="0" destOrd="0" parTransId="{9B1858F4-2CCB-4E89-B74F-FC9E25CA2545}" sibTransId="{A0319735-FBB1-40DD-991B-A3E0DA134F41}"/>
    <dgm:cxn modelId="{1B810142-5B46-4EE6-99DE-4E3D65F3F2C1}" srcId="{9284BCE6-5625-42E5-859A-FE064E2EA2A2}" destId="{0DA1A91C-6F4F-4851-BE08-86A3CC5676CF}" srcOrd="1" destOrd="0" parTransId="{1D716841-654B-4E0F-9453-AA8BA3E2B207}" sibTransId="{AAABE238-621E-4F05-A035-76A1D6C22F0D}"/>
    <dgm:cxn modelId="{BABCF862-572F-47B8-A78C-0706E8B4093E}" type="presOf" srcId="{9A0DAC74-C288-471E-B9D2-FC24A368D489}" destId="{F7E75EE7-D4FE-4FC0-B4A4-0D5BFADBB4CC}" srcOrd="0" destOrd="0" presId="urn:microsoft.com/office/officeart/2005/8/layout/vList6"/>
    <dgm:cxn modelId="{959F9177-E62E-431F-B179-D2CE203E7B33}" srcId="{9A0DAC74-C288-471E-B9D2-FC24A368D489}" destId="{ED7CA899-6ABC-4E2A-B1A8-AB9066FA3733}" srcOrd="0" destOrd="0" parTransId="{B51E125D-A1EE-4FAE-B4A6-A7CD27F37113}" sibTransId="{E7B7735B-BF38-463F-89CF-33C77423A7C8}"/>
    <dgm:cxn modelId="{5B0D2D5A-A5FF-4D92-BF66-16F7A4355EE6}" type="presOf" srcId="{9284BCE6-5625-42E5-859A-FE064E2EA2A2}" destId="{43461827-7934-4EDD-955B-2933A3F59DA6}" srcOrd="0" destOrd="0" presId="urn:microsoft.com/office/officeart/2005/8/layout/vList6"/>
    <dgm:cxn modelId="{7D1CC196-9D2F-48A4-A908-57A47D3D2B45}" srcId="{F2225B54-1CCA-4F50-B1E2-B24ADA35AC27}" destId="{9284BCE6-5625-42E5-859A-FE064E2EA2A2}" srcOrd="1" destOrd="0" parTransId="{CD3E5732-3001-46EB-B310-FBE94260F955}" sibTransId="{39D14114-83BF-44D0-806D-5DF9944C3E37}"/>
    <dgm:cxn modelId="{BD2A91A0-C8C8-47F2-9EDC-D3E186D7B9D6}" srcId="{F2225B54-1CCA-4F50-B1E2-B24ADA35AC27}" destId="{9A0DAC74-C288-471E-B9D2-FC24A368D489}" srcOrd="0" destOrd="0" parTransId="{BACCAC3C-0EE8-496E-829D-519D646DEC30}" sibTransId="{A81300B3-1257-4B37-977B-70A0B0595FF2}"/>
    <dgm:cxn modelId="{E6FC0BE6-3939-46F5-9C0E-AC84B79114F1}" type="presOf" srcId="{AC5E7450-960C-4C00-8ADB-5BD9DC5C78CF}" destId="{6670881A-59AE-427E-80AA-339EE4E4A21D}" srcOrd="0" destOrd="0" presId="urn:microsoft.com/office/officeart/2005/8/layout/vList6"/>
    <dgm:cxn modelId="{8E7942F5-CA6B-4EE9-BF1D-D4E94D0BBD6F}" type="presOf" srcId="{0DA1A91C-6F4F-4851-BE08-86A3CC5676CF}" destId="{6670881A-59AE-427E-80AA-339EE4E4A21D}" srcOrd="0" destOrd="1" presId="urn:microsoft.com/office/officeart/2005/8/layout/vList6"/>
    <dgm:cxn modelId="{6C8FD8FE-8AEC-4E4D-98AF-5DC19297915C}" type="presOf" srcId="{F2225B54-1CCA-4F50-B1E2-B24ADA35AC27}" destId="{A357A096-27FE-4DAD-B890-A1C8E95CC4D7}" srcOrd="0" destOrd="0" presId="urn:microsoft.com/office/officeart/2005/8/layout/vList6"/>
    <dgm:cxn modelId="{DA98354A-33EE-4605-A628-98E77BCFC9B4}" type="presParOf" srcId="{A357A096-27FE-4DAD-B890-A1C8E95CC4D7}" destId="{63B437AC-F7AE-4F30-BC29-A2C67C3B9E8A}" srcOrd="0" destOrd="0" presId="urn:microsoft.com/office/officeart/2005/8/layout/vList6"/>
    <dgm:cxn modelId="{EF13597F-A18D-43EE-B10A-0827F0EB815F}" type="presParOf" srcId="{63B437AC-F7AE-4F30-BC29-A2C67C3B9E8A}" destId="{F7E75EE7-D4FE-4FC0-B4A4-0D5BFADBB4CC}" srcOrd="0" destOrd="0" presId="urn:microsoft.com/office/officeart/2005/8/layout/vList6"/>
    <dgm:cxn modelId="{9EE02076-18BD-4A5B-B4E4-8BD804DAF35B}" type="presParOf" srcId="{63B437AC-F7AE-4F30-BC29-A2C67C3B9E8A}" destId="{814630E8-E31A-421F-BD8D-521943B8B89E}" srcOrd="1" destOrd="0" presId="urn:microsoft.com/office/officeart/2005/8/layout/vList6"/>
    <dgm:cxn modelId="{3455CEAD-CB49-4366-8EE5-91A9F39BF4AC}" type="presParOf" srcId="{A357A096-27FE-4DAD-B890-A1C8E95CC4D7}" destId="{9201B243-81C1-4C18-83F8-AA7C1AD6BE1D}" srcOrd="1" destOrd="0" presId="urn:microsoft.com/office/officeart/2005/8/layout/vList6"/>
    <dgm:cxn modelId="{68E70A28-725E-417D-9CBC-996EC339C523}" type="presParOf" srcId="{A357A096-27FE-4DAD-B890-A1C8E95CC4D7}" destId="{84B0FE9A-A4E1-4C5F-ABA5-71B6C81CA282}" srcOrd="2" destOrd="0" presId="urn:microsoft.com/office/officeart/2005/8/layout/vList6"/>
    <dgm:cxn modelId="{7FF5A5CF-C069-4868-B7E5-C7264539F3B5}" type="presParOf" srcId="{84B0FE9A-A4E1-4C5F-ABA5-71B6C81CA282}" destId="{43461827-7934-4EDD-955B-2933A3F59DA6}" srcOrd="0" destOrd="0" presId="urn:microsoft.com/office/officeart/2005/8/layout/vList6"/>
    <dgm:cxn modelId="{39DF9C49-DCF2-4E7D-AD06-F3B5590B08D5}" type="presParOf" srcId="{84B0FE9A-A4E1-4C5F-ABA5-71B6C81CA282}" destId="{6670881A-59AE-427E-80AA-339EE4E4A21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D4EA16-D4F5-4D77-8BF5-423C17D9F9D3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GB"/>
        </a:p>
      </dgm:t>
    </dgm:pt>
    <dgm:pt modelId="{40C1755D-9762-4DC3-BC2A-4E1A1BCC6ED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Validation</a:t>
          </a:r>
          <a:endParaRPr lang="en-GB" dirty="0"/>
        </a:p>
      </dgm:t>
    </dgm:pt>
    <dgm:pt modelId="{D1EB2E77-1D1E-43C9-B6C8-F5F7C445BC21}" type="parTrans" cxnId="{9801B139-098F-480E-9ACC-9F1F978F269A}">
      <dgm:prSet/>
      <dgm:spPr/>
      <dgm:t>
        <a:bodyPr/>
        <a:lstStyle/>
        <a:p>
          <a:endParaRPr lang="en-GB"/>
        </a:p>
      </dgm:t>
    </dgm:pt>
    <dgm:pt modelId="{7304CFFB-8860-4713-AADE-4587B141E6D5}" type="sibTrans" cxnId="{9801B139-098F-480E-9ACC-9F1F978F269A}">
      <dgm:prSet/>
      <dgm:spPr/>
      <dgm:t>
        <a:bodyPr/>
        <a:lstStyle/>
        <a:p>
          <a:endParaRPr lang="en-GB"/>
        </a:p>
      </dgm:t>
    </dgm:pt>
    <dgm:pt modelId="{0E2A35C7-52D9-4CEF-BD5F-C8DB7EBA4A4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Personalization</a:t>
          </a:r>
          <a:r>
            <a:rPr lang="en-GB" b="0" i="0" dirty="0"/>
            <a:t> </a:t>
          </a:r>
          <a:endParaRPr lang="en-GB" dirty="0"/>
        </a:p>
      </dgm:t>
    </dgm:pt>
    <dgm:pt modelId="{9FEDE136-6B37-4FB3-9009-1E5D453E11B0}" type="parTrans" cxnId="{F7B00BAA-5C32-4FE6-BAA7-AE6A58E7C0BE}">
      <dgm:prSet/>
      <dgm:spPr/>
      <dgm:t>
        <a:bodyPr/>
        <a:lstStyle/>
        <a:p>
          <a:endParaRPr lang="en-GB"/>
        </a:p>
      </dgm:t>
    </dgm:pt>
    <dgm:pt modelId="{4C33061F-F534-43B4-94D8-B8A1422B5942}" type="sibTrans" cxnId="{F7B00BAA-5C32-4FE6-BAA7-AE6A58E7C0BE}">
      <dgm:prSet/>
      <dgm:spPr/>
      <dgm:t>
        <a:bodyPr/>
        <a:lstStyle/>
        <a:p>
          <a:endParaRPr lang="en-GB"/>
        </a:p>
      </dgm:t>
    </dgm:pt>
    <dgm:pt modelId="{BB92986B-0A65-4A5D-B338-419092104AB3}">
      <dgm:prSet phldrT="[Text]"/>
      <dgm:spPr/>
      <dgm:t>
        <a:bodyPr/>
        <a:lstStyle/>
        <a:p>
          <a:pPr>
            <a:buNone/>
          </a:pPr>
          <a:r>
            <a:rPr lang="en-GB" b="1" i="0" dirty="0"/>
            <a:t>Monitoring</a:t>
          </a:r>
          <a:endParaRPr lang="en-GB" dirty="0"/>
        </a:p>
      </dgm:t>
    </dgm:pt>
    <dgm:pt modelId="{CA320494-8E5D-4D69-9111-B381A6561C35}" type="parTrans" cxnId="{9B582220-843F-409C-876D-50C270203344}">
      <dgm:prSet/>
      <dgm:spPr/>
      <dgm:t>
        <a:bodyPr/>
        <a:lstStyle/>
        <a:p>
          <a:endParaRPr lang="en-GB"/>
        </a:p>
      </dgm:t>
    </dgm:pt>
    <dgm:pt modelId="{259BCC6D-B751-4BD6-AAA9-023C7EABCD24}" type="sibTrans" cxnId="{9B582220-843F-409C-876D-50C270203344}">
      <dgm:prSet/>
      <dgm:spPr/>
      <dgm:t>
        <a:bodyPr/>
        <a:lstStyle/>
        <a:p>
          <a:endParaRPr lang="en-GB"/>
        </a:p>
      </dgm:t>
    </dgm:pt>
    <dgm:pt modelId="{56A40C70-5300-499B-850A-B5107ACB97C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/>
            <a:t>Champions:</a:t>
          </a:r>
          <a:r>
            <a:rPr lang="en-GB" b="0" i="0"/>
            <a:t> Early access to new product launches.</a:t>
          </a:r>
        </a:p>
      </dgm:t>
    </dgm:pt>
    <dgm:pt modelId="{3C20DDF3-23F5-4DC1-A3A6-96A23C4E3CEF}" type="parTrans" cxnId="{703120B6-0A4A-4145-9804-4BD171EEF724}">
      <dgm:prSet/>
      <dgm:spPr/>
      <dgm:t>
        <a:bodyPr/>
        <a:lstStyle/>
        <a:p>
          <a:endParaRPr lang="en-GB"/>
        </a:p>
      </dgm:t>
    </dgm:pt>
    <dgm:pt modelId="{724ABE17-59FD-4466-AA07-DD9848D73927}" type="sibTrans" cxnId="{703120B6-0A4A-4145-9804-4BD171EEF724}">
      <dgm:prSet/>
      <dgm:spPr/>
      <dgm:t>
        <a:bodyPr/>
        <a:lstStyle/>
        <a:p>
          <a:endParaRPr lang="en-GB"/>
        </a:p>
      </dgm:t>
    </dgm:pt>
    <dgm:pt modelId="{11E43088-86DE-4DD3-A573-F439C327FC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At Risk:</a:t>
          </a:r>
          <a:r>
            <a:rPr lang="en-GB" b="0" i="0" dirty="0"/>
            <a:t> Win-back campaign (personalized discount).</a:t>
          </a:r>
        </a:p>
      </dgm:t>
    </dgm:pt>
    <dgm:pt modelId="{645B969D-1215-43D4-843D-D435B1842E91}" type="parTrans" cxnId="{218CBDAE-5F2C-4E32-BA50-763D4A04F561}">
      <dgm:prSet/>
      <dgm:spPr/>
      <dgm:t>
        <a:bodyPr/>
        <a:lstStyle/>
        <a:p>
          <a:endParaRPr lang="en-GB"/>
        </a:p>
      </dgm:t>
    </dgm:pt>
    <dgm:pt modelId="{15178456-CDE5-4B43-87E5-A2AD0705527F}" type="sibTrans" cxnId="{218CBDAE-5F2C-4E32-BA50-763D4A04F561}">
      <dgm:prSet/>
      <dgm:spPr/>
      <dgm:t>
        <a:bodyPr/>
        <a:lstStyle/>
        <a:p>
          <a:endParaRPr lang="en-GB"/>
        </a:p>
      </dgm:t>
    </dgm:pt>
    <dgm:pt modelId="{E45D99F1-D6E5-4E0E-8001-E85B9B224EB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/>
            <a:t>Used silhouette coefficients to evaluate cluster tightness.</a:t>
          </a:r>
          <a:endParaRPr lang="en-GB" dirty="0"/>
        </a:p>
      </dgm:t>
    </dgm:pt>
    <dgm:pt modelId="{C3F4592D-B0D0-47FA-8006-F651C6A68BDA}" type="parTrans" cxnId="{7C402326-C774-4D2B-B38B-358A7EDD5631}">
      <dgm:prSet/>
      <dgm:spPr/>
      <dgm:t>
        <a:bodyPr/>
        <a:lstStyle/>
        <a:p>
          <a:endParaRPr lang="en-GB"/>
        </a:p>
      </dgm:t>
    </dgm:pt>
    <dgm:pt modelId="{877C94F5-271D-4B55-8B3F-A1FB48561BB7}" type="sibTrans" cxnId="{7C402326-C774-4D2B-B38B-358A7EDD5631}">
      <dgm:prSet/>
      <dgm:spPr/>
      <dgm:t>
        <a:bodyPr/>
        <a:lstStyle/>
        <a:p>
          <a:endParaRPr lang="en-GB"/>
        </a:p>
      </dgm:t>
    </dgm:pt>
    <dgm:pt modelId="{87F42D41-F1B4-4FB7-9611-0474847AEB83}">
      <dgm:prSet phldrT="[Text]"/>
      <dgm:spPr/>
      <dgm:t>
        <a:bodyPr/>
        <a:lstStyle/>
        <a:p>
          <a:pPr>
            <a:buNone/>
          </a:pPr>
          <a:r>
            <a:rPr lang="en-GB" b="0" i="0" dirty="0"/>
            <a:t>RFMT-D scores are re-calculated monthly to detect churn via changing behaviour patterns. </a:t>
          </a:r>
          <a:endParaRPr lang="en-GB" dirty="0"/>
        </a:p>
      </dgm:t>
    </dgm:pt>
    <dgm:pt modelId="{FA7D5D07-4228-418F-BEF9-6603F1F64901}" type="parTrans" cxnId="{A671CEFF-3C2D-4638-813F-0E7DD59A3A27}">
      <dgm:prSet/>
      <dgm:spPr/>
      <dgm:t>
        <a:bodyPr/>
        <a:lstStyle/>
        <a:p>
          <a:endParaRPr lang="en-GB"/>
        </a:p>
      </dgm:t>
    </dgm:pt>
    <dgm:pt modelId="{40CA2302-A273-4B77-8690-AA328AF54EEE}" type="sibTrans" cxnId="{A671CEFF-3C2D-4638-813F-0E7DD59A3A27}">
      <dgm:prSet/>
      <dgm:spPr/>
      <dgm:t>
        <a:bodyPr/>
        <a:lstStyle/>
        <a:p>
          <a:endParaRPr lang="en-GB"/>
        </a:p>
      </dgm:t>
    </dgm:pt>
    <dgm:pt modelId="{C78918C4-C8A7-45A3-B143-0FFC1B1BFB1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 dirty="0"/>
            <a:t>High-Diversity Segm</a:t>
          </a:r>
          <a:r>
            <a:rPr lang="en-GB" b="0" i="0" dirty="0"/>
            <a:t>ent: Cross-sell products from categories they haven't touched.</a:t>
          </a:r>
        </a:p>
      </dgm:t>
    </dgm:pt>
    <dgm:pt modelId="{303810D0-9CD5-459B-9D76-98872E6780A1}" type="parTrans" cxnId="{52CD9DC7-4D36-44E7-A193-35AE93E8CC7C}">
      <dgm:prSet/>
      <dgm:spPr/>
      <dgm:t>
        <a:bodyPr/>
        <a:lstStyle/>
        <a:p>
          <a:endParaRPr lang="en-GB"/>
        </a:p>
      </dgm:t>
    </dgm:pt>
    <dgm:pt modelId="{10697A63-5588-49EC-AD8C-95D3CA389D02}" type="sibTrans" cxnId="{52CD9DC7-4D36-44E7-A193-35AE93E8CC7C}">
      <dgm:prSet/>
      <dgm:spPr/>
      <dgm:t>
        <a:bodyPr/>
        <a:lstStyle/>
        <a:p>
          <a:endParaRPr lang="en-GB"/>
        </a:p>
      </dgm:t>
    </dgm:pt>
    <dgm:pt modelId="{C9DBE449-0532-44D7-956A-45E5C610E8E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i="0"/>
            <a:t>Actionable Strategy</a:t>
          </a:r>
          <a:endParaRPr lang="en-GB" dirty="0"/>
        </a:p>
      </dgm:t>
    </dgm:pt>
    <dgm:pt modelId="{EF81AE4A-B62C-43BF-B5A5-78BE36D4D6B5}" type="parTrans" cxnId="{EB6E4325-D6D3-4373-8423-3CCBCC409EB0}">
      <dgm:prSet/>
      <dgm:spPr/>
      <dgm:t>
        <a:bodyPr/>
        <a:lstStyle/>
        <a:p>
          <a:endParaRPr lang="en-GB"/>
        </a:p>
      </dgm:t>
    </dgm:pt>
    <dgm:pt modelId="{4FD481E9-FE1B-40F9-8142-AC72E16BEF2A}" type="sibTrans" cxnId="{EB6E4325-D6D3-4373-8423-3CCBCC409EB0}">
      <dgm:prSet/>
      <dgm:spPr/>
      <dgm:t>
        <a:bodyPr/>
        <a:lstStyle/>
        <a:p>
          <a:endParaRPr lang="en-GB"/>
        </a:p>
      </dgm:t>
    </dgm:pt>
    <dgm:pt modelId="{7AC7FD29-9FAE-4F8D-AA58-AB417279DD8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/>
            <a:t>Real-time scoring using Python/Scikit-learn in production pipelines.</a:t>
          </a:r>
          <a:endParaRPr lang="en-GB" dirty="0"/>
        </a:p>
      </dgm:t>
    </dgm:pt>
    <dgm:pt modelId="{C7D0FAC7-B2B9-40AB-B80E-AC12D4557C9C}" type="parTrans" cxnId="{F9022F67-E53E-4233-8E0E-638CC4B78F0F}">
      <dgm:prSet/>
      <dgm:spPr/>
      <dgm:t>
        <a:bodyPr/>
        <a:lstStyle/>
        <a:p>
          <a:endParaRPr lang="en-GB"/>
        </a:p>
      </dgm:t>
    </dgm:pt>
    <dgm:pt modelId="{ED815A7B-C183-4D68-A6A3-2099FECBC005}" type="sibTrans" cxnId="{F9022F67-E53E-4233-8E0E-638CC4B78F0F}">
      <dgm:prSet/>
      <dgm:spPr/>
      <dgm:t>
        <a:bodyPr/>
        <a:lstStyle/>
        <a:p>
          <a:endParaRPr lang="en-GB"/>
        </a:p>
      </dgm:t>
    </dgm:pt>
    <dgm:pt modelId="{D5F83CBF-C1D9-4BE5-B1F8-7AF1C518879F}" type="pres">
      <dgm:prSet presAssocID="{5ED4EA16-D4F5-4D77-8BF5-423C17D9F9D3}" presName="Name0" presStyleCnt="0">
        <dgm:presLayoutVars>
          <dgm:chMax val="7"/>
          <dgm:chPref val="7"/>
          <dgm:dir/>
        </dgm:presLayoutVars>
      </dgm:prSet>
      <dgm:spPr/>
    </dgm:pt>
    <dgm:pt modelId="{62D2CA5B-27AA-4E14-B2C1-C4AA9D25A25A}" type="pres">
      <dgm:prSet presAssocID="{5ED4EA16-D4F5-4D77-8BF5-423C17D9F9D3}" presName="Name1" presStyleCnt="0"/>
      <dgm:spPr/>
    </dgm:pt>
    <dgm:pt modelId="{2C29A03D-A2BB-46F5-948D-9DBBCA0D5268}" type="pres">
      <dgm:prSet presAssocID="{5ED4EA16-D4F5-4D77-8BF5-423C17D9F9D3}" presName="cycle" presStyleCnt="0"/>
      <dgm:spPr/>
    </dgm:pt>
    <dgm:pt modelId="{F39F6237-DC9D-4D2F-A267-6AB9A1B3F407}" type="pres">
      <dgm:prSet presAssocID="{5ED4EA16-D4F5-4D77-8BF5-423C17D9F9D3}" presName="srcNode" presStyleLbl="node1" presStyleIdx="0" presStyleCnt="4"/>
      <dgm:spPr/>
    </dgm:pt>
    <dgm:pt modelId="{FD56F4C7-D8A4-4F3E-96D9-63AE42B525C7}" type="pres">
      <dgm:prSet presAssocID="{5ED4EA16-D4F5-4D77-8BF5-423C17D9F9D3}" presName="conn" presStyleLbl="parChTrans1D2" presStyleIdx="0" presStyleCnt="1"/>
      <dgm:spPr/>
    </dgm:pt>
    <dgm:pt modelId="{481E8F60-3715-4F18-9633-4912A1207F7A}" type="pres">
      <dgm:prSet presAssocID="{5ED4EA16-D4F5-4D77-8BF5-423C17D9F9D3}" presName="extraNode" presStyleLbl="node1" presStyleIdx="0" presStyleCnt="4"/>
      <dgm:spPr/>
    </dgm:pt>
    <dgm:pt modelId="{EB0651B1-76FE-4185-81CA-BA85F240A08E}" type="pres">
      <dgm:prSet presAssocID="{5ED4EA16-D4F5-4D77-8BF5-423C17D9F9D3}" presName="dstNode" presStyleLbl="node1" presStyleIdx="0" presStyleCnt="4"/>
      <dgm:spPr/>
    </dgm:pt>
    <dgm:pt modelId="{E12655B2-9F18-44E3-9C54-89D8A3EF13B2}" type="pres">
      <dgm:prSet presAssocID="{40C1755D-9762-4DC3-BC2A-4E1A1BCC6ED3}" presName="text_1" presStyleLbl="node1" presStyleIdx="0" presStyleCnt="4">
        <dgm:presLayoutVars>
          <dgm:bulletEnabled val="1"/>
        </dgm:presLayoutVars>
      </dgm:prSet>
      <dgm:spPr/>
    </dgm:pt>
    <dgm:pt modelId="{158B37CE-D4A9-4F2E-BFAE-161B556DF5D1}" type="pres">
      <dgm:prSet presAssocID="{40C1755D-9762-4DC3-BC2A-4E1A1BCC6ED3}" presName="accent_1" presStyleCnt="0"/>
      <dgm:spPr/>
    </dgm:pt>
    <dgm:pt modelId="{6913A05D-D63B-44DD-8F29-F67EBA788029}" type="pres">
      <dgm:prSet presAssocID="{40C1755D-9762-4DC3-BC2A-4E1A1BCC6ED3}" presName="accentRepeatNode" presStyleLbl="solidFgAcc1" presStyleIdx="0" presStyleCnt="4"/>
      <dgm:spPr>
        <a:solidFill>
          <a:schemeClr val="accent6">
            <a:lumMod val="50000"/>
          </a:schemeClr>
        </a:solidFill>
      </dgm:spPr>
    </dgm:pt>
    <dgm:pt modelId="{7D1DE768-50ED-4A44-BED1-BC59756DEC70}" type="pres">
      <dgm:prSet presAssocID="{0E2A35C7-52D9-4CEF-BD5F-C8DB7EBA4A45}" presName="text_2" presStyleLbl="node1" presStyleIdx="1" presStyleCnt="4">
        <dgm:presLayoutVars>
          <dgm:bulletEnabled val="1"/>
        </dgm:presLayoutVars>
      </dgm:prSet>
      <dgm:spPr/>
    </dgm:pt>
    <dgm:pt modelId="{0AF894E2-7969-4EB3-BAE5-9032126401B2}" type="pres">
      <dgm:prSet presAssocID="{0E2A35C7-52D9-4CEF-BD5F-C8DB7EBA4A45}" presName="accent_2" presStyleCnt="0"/>
      <dgm:spPr/>
    </dgm:pt>
    <dgm:pt modelId="{61FB939D-7673-4CF5-B242-562A03C405B0}" type="pres">
      <dgm:prSet presAssocID="{0E2A35C7-52D9-4CEF-BD5F-C8DB7EBA4A45}" presName="accentRepeatNode" presStyleLbl="solidFgAcc1" presStyleIdx="1" presStyleCnt="4"/>
      <dgm:spPr>
        <a:solidFill>
          <a:schemeClr val="accent2">
            <a:lumMod val="75000"/>
          </a:schemeClr>
        </a:solidFill>
      </dgm:spPr>
    </dgm:pt>
    <dgm:pt modelId="{3BD4D7AA-3B58-45CE-AD8D-09802AA88D47}" type="pres">
      <dgm:prSet presAssocID="{C9DBE449-0532-44D7-956A-45E5C610E8E1}" presName="text_3" presStyleLbl="node1" presStyleIdx="2" presStyleCnt="4">
        <dgm:presLayoutVars>
          <dgm:bulletEnabled val="1"/>
        </dgm:presLayoutVars>
      </dgm:prSet>
      <dgm:spPr/>
    </dgm:pt>
    <dgm:pt modelId="{11F52D20-7AA8-47C7-900E-C82FF8AF035D}" type="pres">
      <dgm:prSet presAssocID="{C9DBE449-0532-44D7-956A-45E5C610E8E1}" presName="accent_3" presStyleCnt="0"/>
      <dgm:spPr/>
    </dgm:pt>
    <dgm:pt modelId="{F0953CDC-DB1D-4BDF-9CE4-0718CA90F3B5}" type="pres">
      <dgm:prSet presAssocID="{C9DBE449-0532-44D7-956A-45E5C610E8E1}" presName="accentRepeatNode" presStyleLbl="solidFgAcc1" presStyleIdx="2" presStyleCnt="4"/>
      <dgm:spPr/>
    </dgm:pt>
    <dgm:pt modelId="{6351F154-AD35-4A86-A842-A58AE52B8D29}" type="pres">
      <dgm:prSet presAssocID="{BB92986B-0A65-4A5D-B338-419092104AB3}" presName="text_4" presStyleLbl="node1" presStyleIdx="3" presStyleCnt="4">
        <dgm:presLayoutVars>
          <dgm:bulletEnabled val="1"/>
        </dgm:presLayoutVars>
      </dgm:prSet>
      <dgm:spPr/>
    </dgm:pt>
    <dgm:pt modelId="{5593F8F1-8F32-42C2-A5AA-DE28B555A864}" type="pres">
      <dgm:prSet presAssocID="{BB92986B-0A65-4A5D-B338-419092104AB3}" presName="accent_4" presStyleCnt="0"/>
      <dgm:spPr/>
    </dgm:pt>
    <dgm:pt modelId="{F3317B6B-9618-44E1-934F-FC84CD34A1F6}" type="pres">
      <dgm:prSet presAssocID="{BB92986B-0A65-4A5D-B338-419092104AB3}" presName="accentRepeatNode" presStyleLbl="solidFgAcc1" presStyleIdx="3" presStyleCnt="4"/>
      <dgm:spPr>
        <a:solidFill>
          <a:schemeClr val="accent6">
            <a:lumMod val="60000"/>
            <a:lumOff val="40000"/>
          </a:schemeClr>
        </a:solidFill>
      </dgm:spPr>
    </dgm:pt>
  </dgm:ptLst>
  <dgm:cxnLst>
    <dgm:cxn modelId="{D8226E0E-1B27-49F0-9EF5-85D1133B0340}" type="presOf" srcId="{C78918C4-C8A7-45A3-B143-0FFC1B1BFB1D}" destId="{3BD4D7AA-3B58-45CE-AD8D-09802AA88D47}" srcOrd="0" destOrd="3" presId="urn:microsoft.com/office/officeart/2008/layout/VerticalCurvedList"/>
    <dgm:cxn modelId="{9B582220-843F-409C-876D-50C270203344}" srcId="{5ED4EA16-D4F5-4D77-8BF5-423C17D9F9D3}" destId="{BB92986B-0A65-4A5D-B338-419092104AB3}" srcOrd="3" destOrd="0" parTransId="{CA320494-8E5D-4D69-9111-B381A6561C35}" sibTransId="{259BCC6D-B751-4BD6-AAA9-023C7EABCD24}"/>
    <dgm:cxn modelId="{EB6E4325-D6D3-4373-8423-3CCBCC409EB0}" srcId="{5ED4EA16-D4F5-4D77-8BF5-423C17D9F9D3}" destId="{C9DBE449-0532-44D7-956A-45E5C610E8E1}" srcOrd="2" destOrd="0" parTransId="{EF81AE4A-B62C-43BF-B5A5-78BE36D4D6B5}" sibTransId="{4FD481E9-FE1B-40F9-8142-AC72E16BEF2A}"/>
    <dgm:cxn modelId="{7C402326-C774-4D2B-B38B-358A7EDD5631}" srcId="{40C1755D-9762-4DC3-BC2A-4E1A1BCC6ED3}" destId="{E45D99F1-D6E5-4E0E-8001-E85B9B224EB3}" srcOrd="0" destOrd="0" parTransId="{C3F4592D-B0D0-47FA-8006-F651C6A68BDA}" sibTransId="{877C94F5-271D-4B55-8B3F-A1FB48561BB7}"/>
    <dgm:cxn modelId="{6E687632-6168-4F7E-B480-9CF0E44020A3}" type="presOf" srcId="{11E43088-86DE-4DD3-A573-F439C327FC26}" destId="{3BD4D7AA-3B58-45CE-AD8D-09802AA88D47}" srcOrd="0" destOrd="2" presId="urn:microsoft.com/office/officeart/2008/layout/VerticalCurvedList"/>
    <dgm:cxn modelId="{9801B139-098F-480E-9ACC-9F1F978F269A}" srcId="{5ED4EA16-D4F5-4D77-8BF5-423C17D9F9D3}" destId="{40C1755D-9762-4DC3-BC2A-4E1A1BCC6ED3}" srcOrd="0" destOrd="0" parTransId="{D1EB2E77-1D1E-43C9-B6C8-F5F7C445BC21}" sibTransId="{7304CFFB-8860-4713-AADE-4587B141E6D5}"/>
    <dgm:cxn modelId="{9B178E60-9A1B-4606-B05F-C7486B732F23}" type="presOf" srcId="{7AC7FD29-9FAE-4F8D-AA58-AB417279DD89}" destId="{7D1DE768-50ED-4A44-BED1-BC59756DEC70}" srcOrd="0" destOrd="1" presId="urn:microsoft.com/office/officeart/2008/layout/VerticalCurvedList"/>
    <dgm:cxn modelId="{F9022F67-E53E-4233-8E0E-638CC4B78F0F}" srcId="{0E2A35C7-52D9-4CEF-BD5F-C8DB7EBA4A45}" destId="{7AC7FD29-9FAE-4F8D-AA58-AB417279DD89}" srcOrd="0" destOrd="0" parTransId="{C7D0FAC7-B2B9-40AB-B80E-AC12D4557C9C}" sibTransId="{ED815A7B-C183-4D68-A6A3-2099FECBC005}"/>
    <dgm:cxn modelId="{A0CD4E71-3385-4126-A2DF-EE300146DE09}" type="presOf" srcId="{5ED4EA16-D4F5-4D77-8BF5-423C17D9F9D3}" destId="{D5F83CBF-C1D9-4BE5-B1F8-7AF1C518879F}" srcOrd="0" destOrd="0" presId="urn:microsoft.com/office/officeart/2008/layout/VerticalCurvedList"/>
    <dgm:cxn modelId="{5668135A-268B-4626-A26C-932085D54D93}" type="presOf" srcId="{40C1755D-9762-4DC3-BC2A-4E1A1BCC6ED3}" destId="{E12655B2-9F18-44E3-9C54-89D8A3EF13B2}" srcOrd="0" destOrd="0" presId="urn:microsoft.com/office/officeart/2008/layout/VerticalCurvedList"/>
    <dgm:cxn modelId="{5ACCBB8C-0A87-450F-ABF4-0923CBCE4992}" type="presOf" srcId="{87F42D41-F1B4-4FB7-9611-0474847AEB83}" destId="{6351F154-AD35-4A86-A842-A58AE52B8D29}" srcOrd="0" destOrd="1" presId="urn:microsoft.com/office/officeart/2008/layout/VerticalCurvedList"/>
    <dgm:cxn modelId="{508A3A8F-8174-48E6-8149-54D3E044DC44}" type="presOf" srcId="{BB92986B-0A65-4A5D-B338-419092104AB3}" destId="{6351F154-AD35-4A86-A842-A58AE52B8D29}" srcOrd="0" destOrd="0" presId="urn:microsoft.com/office/officeart/2008/layout/VerticalCurvedList"/>
    <dgm:cxn modelId="{D0191997-1122-4BCC-B1B6-8BF4934195ED}" type="presOf" srcId="{0E2A35C7-52D9-4CEF-BD5F-C8DB7EBA4A45}" destId="{7D1DE768-50ED-4A44-BED1-BC59756DEC70}" srcOrd="0" destOrd="0" presId="urn:microsoft.com/office/officeart/2008/layout/VerticalCurvedList"/>
    <dgm:cxn modelId="{994FC3A0-64A5-4401-BE5C-9ED5511E54C0}" type="presOf" srcId="{877C94F5-271D-4B55-8B3F-A1FB48561BB7}" destId="{FD56F4C7-D8A4-4F3E-96D9-63AE42B525C7}" srcOrd="0" destOrd="0" presId="urn:microsoft.com/office/officeart/2008/layout/VerticalCurvedList"/>
    <dgm:cxn modelId="{F7B00BAA-5C32-4FE6-BAA7-AE6A58E7C0BE}" srcId="{5ED4EA16-D4F5-4D77-8BF5-423C17D9F9D3}" destId="{0E2A35C7-52D9-4CEF-BD5F-C8DB7EBA4A45}" srcOrd="1" destOrd="0" parTransId="{9FEDE136-6B37-4FB3-9009-1E5D453E11B0}" sibTransId="{4C33061F-F534-43B4-94D8-B8A1422B5942}"/>
    <dgm:cxn modelId="{218CBDAE-5F2C-4E32-BA50-763D4A04F561}" srcId="{C9DBE449-0532-44D7-956A-45E5C610E8E1}" destId="{11E43088-86DE-4DD3-A573-F439C327FC26}" srcOrd="1" destOrd="0" parTransId="{645B969D-1215-43D4-843D-D435B1842E91}" sibTransId="{15178456-CDE5-4B43-87E5-A2AD0705527F}"/>
    <dgm:cxn modelId="{703120B6-0A4A-4145-9804-4BD171EEF724}" srcId="{C9DBE449-0532-44D7-956A-45E5C610E8E1}" destId="{56A40C70-5300-499B-850A-B5107ACB97CB}" srcOrd="0" destOrd="0" parTransId="{3C20DDF3-23F5-4DC1-A3A6-96A23C4E3CEF}" sibTransId="{724ABE17-59FD-4466-AA07-DD9848D73927}"/>
    <dgm:cxn modelId="{080BF2BA-E802-4074-A5DA-D28B9FA78997}" type="presOf" srcId="{E45D99F1-D6E5-4E0E-8001-E85B9B224EB3}" destId="{E12655B2-9F18-44E3-9C54-89D8A3EF13B2}" srcOrd="0" destOrd="1" presId="urn:microsoft.com/office/officeart/2008/layout/VerticalCurvedList"/>
    <dgm:cxn modelId="{52CD9DC7-4D36-44E7-A193-35AE93E8CC7C}" srcId="{C9DBE449-0532-44D7-956A-45E5C610E8E1}" destId="{C78918C4-C8A7-45A3-B143-0FFC1B1BFB1D}" srcOrd="2" destOrd="0" parTransId="{303810D0-9CD5-459B-9D76-98872E6780A1}" sibTransId="{10697A63-5588-49EC-AD8C-95D3CA389D02}"/>
    <dgm:cxn modelId="{BCC241D5-97B2-4B2E-8F80-3E8ECC9E823E}" type="presOf" srcId="{56A40C70-5300-499B-850A-B5107ACB97CB}" destId="{3BD4D7AA-3B58-45CE-AD8D-09802AA88D47}" srcOrd="0" destOrd="1" presId="urn:microsoft.com/office/officeart/2008/layout/VerticalCurvedList"/>
    <dgm:cxn modelId="{C9338FEE-CF23-4C0C-82DE-D1AE19465985}" type="presOf" srcId="{C9DBE449-0532-44D7-956A-45E5C610E8E1}" destId="{3BD4D7AA-3B58-45CE-AD8D-09802AA88D47}" srcOrd="0" destOrd="0" presId="urn:microsoft.com/office/officeart/2008/layout/VerticalCurvedList"/>
    <dgm:cxn modelId="{A671CEFF-3C2D-4638-813F-0E7DD59A3A27}" srcId="{BB92986B-0A65-4A5D-B338-419092104AB3}" destId="{87F42D41-F1B4-4FB7-9611-0474847AEB83}" srcOrd="0" destOrd="0" parTransId="{FA7D5D07-4228-418F-BEF9-6603F1F64901}" sibTransId="{40CA2302-A273-4B77-8690-AA328AF54EEE}"/>
    <dgm:cxn modelId="{3C45B449-533A-46EF-8A7F-E47F63F28B68}" type="presParOf" srcId="{D5F83CBF-C1D9-4BE5-B1F8-7AF1C518879F}" destId="{62D2CA5B-27AA-4E14-B2C1-C4AA9D25A25A}" srcOrd="0" destOrd="0" presId="urn:microsoft.com/office/officeart/2008/layout/VerticalCurvedList"/>
    <dgm:cxn modelId="{EE8F068E-1D1B-4558-BA68-994BB8F1495A}" type="presParOf" srcId="{62D2CA5B-27AA-4E14-B2C1-C4AA9D25A25A}" destId="{2C29A03D-A2BB-46F5-948D-9DBBCA0D5268}" srcOrd="0" destOrd="0" presId="urn:microsoft.com/office/officeart/2008/layout/VerticalCurvedList"/>
    <dgm:cxn modelId="{B8CB7C6E-E405-4064-B28D-C03935EEAA23}" type="presParOf" srcId="{2C29A03D-A2BB-46F5-948D-9DBBCA0D5268}" destId="{F39F6237-DC9D-4D2F-A267-6AB9A1B3F407}" srcOrd="0" destOrd="0" presId="urn:microsoft.com/office/officeart/2008/layout/VerticalCurvedList"/>
    <dgm:cxn modelId="{3538F6B6-E99D-4B35-AD3E-8573C0E6A22D}" type="presParOf" srcId="{2C29A03D-A2BB-46F5-948D-9DBBCA0D5268}" destId="{FD56F4C7-D8A4-4F3E-96D9-63AE42B525C7}" srcOrd="1" destOrd="0" presId="urn:microsoft.com/office/officeart/2008/layout/VerticalCurvedList"/>
    <dgm:cxn modelId="{13EFA0B9-AD49-46A1-A79E-BB2E01A40B09}" type="presParOf" srcId="{2C29A03D-A2BB-46F5-948D-9DBBCA0D5268}" destId="{481E8F60-3715-4F18-9633-4912A1207F7A}" srcOrd="2" destOrd="0" presId="urn:microsoft.com/office/officeart/2008/layout/VerticalCurvedList"/>
    <dgm:cxn modelId="{7F211830-3CAF-4BF9-9228-DC75050C57FA}" type="presParOf" srcId="{2C29A03D-A2BB-46F5-948D-9DBBCA0D5268}" destId="{EB0651B1-76FE-4185-81CA-BA85F240A08E}" srcOrd="3" destOrd="0" presId="urn:microsoft.com/office/officeart/2008/layout/VerticalCurvedList"/>
    <dgm:cxn modelId="{F8A29431-61F3-4BB6-98DC-20D456F3BB39}" type="presParOf" srcId="{62D2CA5B-27AA-4E14-B2C1-C4AA9D25A25A}" destId="{E12655B2-9F18-44E3-9C54-89D8A3EF13B2}" srcOrd="1" destOrd="0" presId="urn:microsoft.com/office/officeart/2008/layout/VerticalCurvedList"/>
    <dgm:cxn modelId="{A82320E6-B029-4DCB-AB6D-EF03AA2E1ABC}" type="presParOf" srcId="{62D2CA5B-27AA-4E14-B2C1-C4AA9D25A25A}" destId="{158B37CE-D4A9-4F2E-BFAE-161B556DF5D1}" srcOrd="2" destOrd="0" presId="urn:microsoft.com/office/officeart/2008/layout/VerticalCurvedList"/>
    <dgm:cxn modelId="{942E4EF8-D6EE-4E47-AE01-615085722967}" type="presParOf" srcId="{158B37CE-D4A9-4F2E-BFAE-161B556DF5D1}" destId="{6913A05D-D63B-44DD-8F29-F67EBA788029}" srcOrd="0" destOrd="0" presId="urn:microsoft.com/office/officeart/2008/layout/VerticalCurvedList"/>
    <dgm:cxn modelId="{4197A035-2BBE-421F-BA6D-0024336911C8}" type="presParOf" srcId="{62D2CA5B-27AA-4E14-B2C1-C4AA9D25A25A}" destId="{7D1DE768-50ED-4A44-BED1-BC59756DEC70}" srcOrd="3" destOrd="0" presId="urn:microsoft.com/office/officeart/2008/layout/VerticalCurvedList"/>
    <dgm:cxn modelId="{CCDF6F9C-9253-4833-802A-55B2C4A5F496}" type="presParOf" srcId="{62D2CA5B-27AA-4E14-B2C1-C4AA9D25A25A}" destId="{0AF894E2-7969-4EB3-BAE5-9032126401B2}" srcOrd="4" destOrd="0" presId="urn:microsoft.com/office/officeart/2008/layout/VerticalCurvedList"/>
    <dgm:cxn modelId="{FBA614D0-7FCA-4F11-910D-35EA942BA147}" type="presParOf" srcId="{0AF894E2-7969-4EB3-BAE5-9032126401B2}" destId="{61FB939D-7673-4CF5-B242-562A03C405B0}" srcOrd="0" destOrd="0" presId="urn:microsoft.com/office/officeart/2008/layout/VerticalCurvedList"/>
    <dgm:cxn modelId="{72397832-EE32-42C0-9688-6BF2F8A37DF9}" type="presParOf" srcId="{62D2CA5B-27AA-4E14-B2C1-C4AA9D25A25A}" destId="{3BD4D7AA-3B58-45CE-AD8D-09802AA88D47}" srcOrd="5" destOrd="0" presId="urn:microsoft.com/office/officeart/2008/layout/VerticalCurvedList"/>
    <dgm:cxn modelId="{A8149256-7C33-4D93-9BC0-21A221335A73}" type="presParOf" srcId="{62D2CA5B-27AA-4E14-B2C1-C4AA9D25A25A}" destId="{11F52D20-7AA8-47C7-900E-C82FF8AF035D}" srcOrd="6" destOrd="0" presId="urn:microsoft.com/office/officeart/2008/layout/VerticalCurvedList"/>
    <dgm:cxn modelId="{FA714FE0-F146-4956-8E70-DB2DE4620494}" type="presParOf" srcId="{11F52D20-7AA8-47C7-900E-C82FF8AF035D}" destId="{F0953CDC-DB1D-4BDF-9CE4-0718CA90F3B5}" srcOrd="0" destOrd="0" presId="urn:microsoft.com/office/officeart/2008/layout/VerticalCurvedList"/>
    <dgm:cxn modelId="{A91173FD-5CD2-4240-B7BF-BF0AE53E29B4}" type="presParOf" srcId="{62D2CA5B-27AA-4E14-B2C1-C4AA9D25A25A}" destId="{6351F154-AD35-4A86-A842-A58AE52B8D29}" srcOrd="7" destOrd="0" presId="urn:microsoft.com/office/officeart/2008/layout/VerticalCurvedList"/>
    <dgm:cxn modelId="{BE248370-F87D-4452-8757-098AB939D416}" type="presParOf" srcId="{62D2CA5B-27AA-4E14-B2C1-C4AA9D25A25A}" destId="{5593F8F1-8F32-42C2-A5AA-DE28B555A864}" srcOrd="8" destOrd="0" presId="urn:microsoft.com/office/officeart/2008/layout/VerticalCurvedList"/>
    <dgm:cxn modelId="{69744E3E-C2D8-423E-9E9B-1151F49F61D7}" type="presParOf" srcId="{5593F8F1-8F32-42C2-A5AA-DE28B555A864}" destId="{F3317B6B-9618-44E1-934F-FC84CD34A1F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CB94AF-88F6-4131-A3E2-12E98344ECC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7C3626DD-BCDC-4EED-A5CF-4749D110549F}">
      <dgm:prSet phldrT="[Text]"/>
      <dgm:spPr/>
      <dgm:t>
        <a:bodyPr/>
        <a:lstStyle/>
        <a:p>
          <a:pPr>
            <a:buNone/>
          </a:pPr>
          <a:r>
            <a:rPr lang="en-GB" b="1" i="0" dirty="0"/>
            <a:t>Stack</a:t>
          </a:r>
          <a:endParaRPr lang="en-GB" dirty="0"/>
        </a:p>
      </dgm:t>
    </dgm:pt>
    <dgm:pt modelId="{22B362D1-88D9-4BF8-9DE8-E35CC1975A23}" type="parTrans" cxnId="{4115138E-16AB-4F57-822B-D54D4BAE1058}">
      <dgm:prSet/>
      <dgm:spPr/>
      <dgm:t>
        <a:bodyPr/>
        <a:lstStyle/>
        <a:p>
          <a:endParaRPr lang="en-GB"/>
        </a:p>
      </dgm:t>
    </dgm:pt>
    <dgm:pt modelId="{7FF49157-F32F-448E-9811-03EC885E684C}" type="sibTrans" cxnId="{4115138E-16AB-4F57-822B-D54D4BAE1058}">
      <dgm:prSet/>
      <dgm:spPr/>
      <dgm:t>
        <a:bodyPr/>
        <a:lstStyle/>
        <a:p>
          <a:endParaRPr lang="en-GB"/>
        </a:p>
      </dgm:t>
    </dgm:pt>
    <dgm:pt modelId="{D2F28404-6041-4C2A-9A01-B2B7EE2A44A8}">
      <dgm:prSet phldrT="[Text]"/>
      <dgm:spPr/>
      <dgm:t>
        <a:bodyPr/>
        <a:lstStyle/>
        <a:p>
          <a:pPr>
            <a:buNone/>
          </a:pPr>
          <a:r>
            <a:rPr lang="en-GB" b="1" i="0" dirty="0"/>
            <a:t>Future</a:t>
          </a:r>
          <a:endParaRPr lang="en-GB" dirty="0"/>
        </a:p>
      </dgm:t>
    </dgm:pt>
    <dgm:pt modelId="{053323DC-8A6C-4E06-8227-1808C6A9F761}" type="parTrans" cxnId="{E8D728C1-8893-4633-B393-21601B669954}">
      <dgm:prSet/>
      <dgm:spPr/>
      <dgm:t>
        <a:bodyPr/>
        <a:lstStyle/>
        <a:p>
          <a:endParaRPr lang="en-GB"/>
        </a:p>
      </dgm:t>
    </dgm:pt>
    <dgm:pt modelId="{0F33786A-969D-4A8E-8399-DD9538149B4C}" type="sibTrans" cxnId="{E8D728C1-8893-4633-B393-21601B669954}">
      <dgm:prSet/>
      <dgm:spPr/>
      <dgm:t>
        <a:bodyPr/>
        <a:lstStyle/>
        <a:p>
          <a:endParaRPr lang="en-GB"/>
        </a:p>
      </dgm:t>
    </dgm:pt>
    <dgm:pt modelId="{F626035B-F51D-40D1-9045-B87EA547BF76}">
      <dgm:prSet phldrT="[Text]" custT="1"/>
      <dgm:spPr/>
      <dgm:t>
        <a:bodyPr/>
        <a:lstStyle/>
        <a:p>
          <a:pPr>
            <a:buNone/>
          </a:pPr>
          <a:r>
            <a:rPr lang="en-GB" sz="1900" b="0" i="0" dirty="0"/>
            <a:t>Python, Pandas, Scikit-learn, PCA, LIME, Databricks (for real-time scaling).</a:t>
          </a:r>
          <a:endParaRPr lang="en-GB" sz="1900" dirty="0"/>
        </a:p>
      </dgm:t>
    </dgm:pt>
    <dgm:pt modelId="{B197DBFC-08E4-40FA-B9AA-BD0168C4CD0E}" type="parTrans" cxnId="{A01C601E-192A-4086-B137-5F50D0AAC7BB}">
      <dgm:prSet/>
      <dgm:spPr/>
      <dgm:t>
        <a:bodyPr/>
        <a:lstStyle/>
        <a:p>
          <a:endParaRPr lang="en-GB"/>
        </a:p>
      </dgm:t>
    </dgm:pt>
    <dgm:pt modelId="{26C59414-E7A0-4FA1-B9F7-F5F21A40BDC8}" type="sibTrans" cxnId="{A01C601E-192A-4086-B137-5F50D0AAC7BB}">
      <dgm:prSet/>
      <dgm:spPr/>
      <dgm:t>
        <a:bodyPr/>
        <a:lstStyle/>
        <a:p>
          <a:endParaRPr lang="en-GB"/>
        </a:p>
      </dgm:t>
    </dgm:pt>
    <dgm:pt modelId="{A1DEE350-68BC-4113-8BFA-A098968A447F}">
      <dgm:prSet phldrT="[Text]"/>
      <dgm:spPr/>
      <dgm:t>
        <a:bodyPr/>
        <a:lstStyle/>
        <a:p>
          <a:pPr>
            <a:buNone/>
          </a:pPr>
          <a:r>
            <a:rPr lang="en-GB" b="0" i="0" dirty="0"/>
            <a:t>Implementing autoencoder neural networks to track evolving consumer state transitions (pre/post-promotion). </a:t>
          </a:r>
          <a:endParaRPr lang="en-GB" dirty="0"/>
        </a:p>
      </dgm:t>
    </dgm:pt>
    <dgm:pt modelId="{10FE37ED-1AE7-44DA-AB27-11D2545D5180}" type="parTrans" cxnId="{2BE0E6F7-6FBA-4633-87B4-AF7055C4E77A}">
      <dgm:prSet/>
      <dgm:spPr/>
      <dgm:t>
        <a:bodyPr/>
        <a:lstStyle/>
        <a:p>
          <a:endParaRPr lang="en-GB"/>
        </a:p>
      </dgm:t>
    </dgm:pt>
    <dgm:pt modelId="{1E933C37-6001-4BD9-B0BD-C6BDBD6F108B}" type="sibTrans" cxnId="{2BE0E6F7-6FBA-4633-87B4-AF7055C4E77A}">
      <dgm:prSet/>
      <dgm:spPr/>
      <dgm:t>
        <a:bodyPr/>
        <a:lstStyle/>
        <a:p>
          <a:endParaRPr lang="en-GB"/>
        </a:p>
      </dgm:t>
    </dgm:pt>
    <dgm:pt modelId="{3409E29C-8810-4FF4-AB8E-AAB6EECAE0FB}" type="pres">
      <dgm:prSet presAssocID="{64CB94AF-88F6-4131-A3E2-12E98344ECC3}" presName="rootnode" presStyleCnt="0">
        <dgm:presLayoutVars>
          <dgm:chMax/>
          <dgm:chPref/>
          <dgm:dir/>
          <dgm:animLvl val="lvl"/>
        </dgm:presLayoutVars>
      </dgm:prSet>
      <dgm:spPr/>
    </dgm:pt>
    <dgm:pt modelId="{B6B7279E-F8B1-4604-8252-649670726B9F}" type="pres">
      <dgm:prSet presAssocID="{7C3626DD-BCDC-4EED-A5CF-4749D110549F}" presName="composite" presStyleCnt="0"/>
      <dgm:spPr/>
    </dgm:pt>
    <dgm:pt modelId="{33D39F09-4BE3-4C62-AAA4-5525569223CB}" type="pres">
      <dgm:prSet presAssocID="{7C3626DD-BCDC-4EED-A5CF-4749D110549F}" presName="bentUpArrow1" presStyleLbl="alignImgPlace1" presStyleIdx="0" presStyleCnt="1" custScaleY="62098" custLinFactNeighborX="32160" custLinFactNeighborY="-35347"/>
      <dgm:spPr/>
    </dgm:pt>
    <dgm:pt modelId="{6E7EE482-8F2F-4119-9D01-CE9400606290}" type="pres">
      <dgm:prSet presAssocID="{7C3626DD-BCDC-4EED-A5CF-4749D110549F}" presName="ParentText" presStyleLbl="node1" presStyleIdx="0" presStyleCnt="2" custScaleX="61375" custScaleY="78494">
        <dgm:presLayoutVars>
          <dgm:chMax val="1"/>
          <dgm:chPref val="1"/>
          <dgm:bulletEnabled val="1"/>
        </dgm:presLayoutVars>
      </dgm:prSet>
      <dgm:spPr/>
    </dgm:pt>
    <dgm:pt modelId="{587E5AB0-77BF-47A7-8D93-75063FE24BEA}" type="pres">
      <dgm:prSet presAssocID="{7C3626DD-BCDC-4EED-A5CF-4749D110549F}" presName="ChildText" presStyleLbl="revTx" presStyleIdx="0" presStyleCnt="2" custScaleX="223925" custLinFactNeighborX="70150" custLinFactNeighborY="3701">
        <dgm:presLayoutVars>
          <dgm:chMax val="0"/>
          <dgm:chPref val="0"/>
          <dgm:bulletEnabled val="1"/>
        </dgm:presLayoutVars>
      </dgm:prSet>
      <dgm:spPr/>
    </dgm:pt>
    <dgm:pt modelId="{76CF174C-9F28-4B6C-80D3-3F608090FEBC}" type="pres">
      <dgm:prSet presAssocID="{7FF49157-F32F-448E-9811-03EC885E684C}" presName="sibTrans" presStyleCnt="0"/>
      <dgm:spPr/>
    </dgm:pt>
    <dgm:pt modelId="{08CAC1E7-3A4A-4A50-8EB1-F1AD6EDBD6AF}" type="pres">
      <dgm:prSet presAssocID="{D2F28404-6041-4C2A-9A01-B2B7EE2A44A8}" presName="composite" presStyleCnt="0"/>
      <dgm:spPr/>
    </dgm:pt>
    <dgm:pt modelId="{E4B5190F-566D-4AF3-A61D-596BF3CC7754}" type="pres">
      <dgm:prSet presAssocID="{D2F28404-6041-4C2A-9A01-B2B7EE2A44A8}" presName="ParentText" presStyleLbl="node1" presStyleIdx="1" presStyleCnt="2" custScaleX="61375" custScaleY="78494">
        <dgm:presLayoutVars>
          <dgm:chMax val="1"/>
          <dgm:chPref val="1"/>
          <dgm:bulletEnabled val="1"/>
        </dgm:presLayoutVars>
      </dgm:prSet>
      <dgm:spPr/>
    </dgm:pt>
    <dgm:pt modelId="{911DDC65-2C8A-4404-8B97-69A865F4C438}" type="pres">
      <dgm:prSet presAssocID="{D2F28404-6041-4C2A-9A01-B2B7EE2A44A8}" presName="FinalChildText" presStyleLbl="revTx" presStyleIdx="1" presStyleCnt="2" custScaleX="126294" custLinFactNeighborX="-5679" custLinFactNeighborY="787">
        <dgm:presLayoutVars>
          <dgm:chMax val="0"/>
          <dgm:chPref val="0"/>
          <dgm:bulletEnabled val="1"/>
        </dgm:presLayoutVars>
      </dgm:prSet>
      <dgm:spPr/>
    </dgm:pt>
  </dgm:ptLst>
  <dgm:cxnLst>
    <dgm:cxn modelId="{A01C601E-192A-4086-B137-5F50D0AAC7BB}" srcId="{7C3626DD-BCDC-4EED-A5CF-4749D110549F}" destId="{F626035B-F51D-40D1-9045-B87EA547BF76}" srcOrd="0" destOrd="0" parTransId="{B197DBFC-08E4-40FA-B9AA-BD0168C4CD0E}" sibTransId="{26C59414-E7A0-4FA1-B9F7-F5F21A40BDC8}"/>
    <dgm:cxn modelId="{A24CC872-8E5E-4289-BB23-B0A24550F0F6}" type="presOf" srcId="{A1DEE350-68BC-4113-8BFA-A098968A447F}" destId="{911DDC65-2C8A-4404-8B97-69A865F4C438}" srcOrd="0" destOrd="0" presId="urn:microsoft.com/office/officeart/2005/8/layout/StepDownProcess"/>
    <dgm:cxn modelId="{2428AE58-200E-4504-A153-E3E198176B41}" type="presOf" srcId="{F626035B-F51D-40D1-9045-B87EA547BF76}" destId="{587E5AB0-77BF-47A7-8D93-75063FE24BEA}" srcOrd="0" destOrd="0" presId="urn:microsoft.com/office/officeart/2005/8/layout/StepDownProcess"/>
    <dgm:cxn modelId="{4115138E-16AB-4F57-822B-D54D4BAE1058}" srcId="{64CB94AF-88F6-4131-A3E2-12E98344ECC3}" destId="{7C3626DD-BCDC-4EED-A5CF-4749D110549F}" srcOrd="0" destOrd="0" parTransId="{22B362D1-88D9-4BF8-9DE8-E35CC1975A23}" sibTransId="{7FF49157-F32F-448E-9811-03EC885E684C}"/>
    <dgm:cxn modelId="{5E10638E-D21E-47DE-9D08-23EE1021D9D3}" type="presOf" srcId="{D2F28404-6041-4C2A-9A01-B2B7EE2A44A8}" destId="{E4B5190F-566D-4AF3-A61D-596BF3CC7754}" srcOrd="0" destOrd="0" presId="urn:microsoft.com/office/officeart/2005/8/layout/StepDownProcess"/>
    <dgm:cxn modelId="{3F84A9A9-10D8-47AB-B115-EC36A5A7C43D}" type="presOf" srcId="{64CB94AF-88F6-4131-A3E2-12E98344ECC3}" destId="{3409E29C-8810-4FF4-AB8E-AAB6EECAE0FB}" srcOrd="0" destOrd="0" presId="urn:microsoft.com/office/officeart/2005/8/layout/StepDownProcess"/>
    <dgm:cxn modelId="{E8D728C1-8893-4633-B393-21601B669954}" srcId="{64CB94AF-88F6-4131-A3E2-12E98344ECC3}" destId="{D2F28404-6041-4C2A-9A01-B2B7EE2A44A8}" srcOrd="1" destOrd="0" parTransId="{053323DC-8A6C-4E06-8227-1808C6A9F761}" sibTransId="{0F33786A-969D-4A8E-8399-DD9538149B4C}"/>
    <dgm:cxn modelId="{F034BCC8-D95F-4034-8654-7D09FEE5C033}" type="presOf" srcId="{7C3626DD-BCDC-4EED-A5CF-4749D110549F}" destId="{6E7EE482-8F2F-4119-9D01-CE9400606290}" srcOrd="0" destOrd="0" presId="urn:microsoft.com/office/officeart/2005/8/layout/StepDownProcess"/>
    <dgm:cxn modelId="{2BE0E6F7-6FBA-4633-87B4-AF7055C4E77A}" srcId="{D2F28404-6041-4C2A-9A01-B2B7EE2A44A8}" destId="{A1DEE350-68BC-4113-8BFA-A098968A447F}" srcOrd="0" destOrd="0" parTransId="{10FE37ED-1AE7-44DA-AB27-11D2545D5180}" sibTransId="{1E933C37-6001-4BD9-B0BD-C6BDBD6F108B}"/>
    <dgm:cxn modelId="{427EF5A2-6FD9-4FD7-BA5C-11BB297FF779}" type="presParOf" srcId="{3409E29C-8810-4FF4-AB8E-AAB6EECAE0FB}" destId="{B6B7279E-F8B1-4604-8252-649670726B9F}" srcOrd="0" destOrd="0" presId="urn:microsoft.com/office/officeart/2005/8/layout/StepDownProcess"/>
    <dgm:cxn modelId="{11EDAB70-6741-48B1-B4EA-E972CDE23C65}" type="presParOf" srcId="{B6B7279E-F8B1-4604-8252-649670726B9F}" destId="{33D39F09-4BE3-4C62-AAA4-5525569223CB}" srcOrd="0" destOrd="0" presId="urn:microsoft.com/office/officeart/2005/8/layout/StepDownProcess"/>
    <dgm:cxn modelId="{256401CA-4050-4C1E-A725-A8F45BE42F31}" type="presParOf" srcId="{B6B7279E-F8B1-4604-8252-649670726B9F}" destId="{6E7EE482-8F2F-4119-9D01-CE9400606290}" srcOrd="1" destOrd="0" presId="urn:microsoft.com/office/officeart/2005/8/layout/StepDownProcess"/>
    <dgm:cxn modelId="{316E5577-6CD3-4A4C-8442-1DF3EC060A55}" type="presParOf" srcId="{B6B7279E-F8B1-4604-8252-649670726B9F}" destId="{587E5AB0-77BF-47A7-8D93-75063FE24BEA}" srcOrd="2" destOrd="0" presId="urn:microsoft.com/office/officeart/2005/8/layout/StepDownProcess"/>
    <dgm:cxn modelId="{8A18BE40-78E3-4E64-A46C-7272E2AC1A68}" type="presParOf" srcId="{3409E29C-8810-4FF4-AB8E-AAB6EECAE0FB}" destId="{76CF174C-9F28-4B6C-80D3-3F608090FEBC}" srcOrd="1" destOrd="0" presId="urn:microsoft.com/office/officeart/2005/8/layout/StepDownProcess"/>
    <dgm:cxn modelId="{D468186D-718D-4D0E-BAFD-5C6EDA9E273B}" type="presParOf" srcId="{3409E29C-8810-4FF4-AB8E-AAB6EECAE0FB}" destId="{08CAC1E7-3A4A-4A50-8EB1-F1AD6EDBD6AF}" srcOrd="2" destOrd="0" presId="urn:microsoft.com/office/officeart/2005/8/layout/StepDownProcess"/>
    <dgm:cxn modelId="{DF362BD5-FD18-4A01-82A0-4B8349BFC710}" type="presParOf" srcId="{08CAC1E7-3A4A-4A50-8EB1-F1AD6EDBD6AF}" destId="{E4B5190F-566D-4AF3-A61D-596BF3CC7754}" srcOrd="0" destOrd="0" presId="urn:microsoft.com/office/officeart/2005/8/layout/StepDownProcess"/>
    <dgm:cxn modelId="{69D03E13-67FA-4F06-94BE-D48470696A1A}" type="presParOf" srcId="{08CAC1E7-3A4A-4A50-8EB1-F1AD6EDBD6AF}" destId="{911DDC65-2C8A-4404-8B97-69A865F4C438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6CD77-7B0F-4F1C-9A1C-60E48B8BC2DF}">
      <dsp:nvSpPr>
        <dsp:cNvPr id="0" name=""/>
        <dsp:cNvSpPr/>
      </dsp:nvSpPr>
      <dsp:spPr>
        <a:xfrm rot="5400000">
          <a:off x="-298098" y="308682"/>
          <a:ext cx="1987322" cy="1391125"/>
        </a:xfrm>
        <a:prstGeom prst="chevron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 dirty="0"/>
            <a:t>Limitation of Standard RFM</a:t>
          </a:r>
          <a:endParaRPr lang="en-GB" sz="2000" b="1" kern="1200" dirty="0">
            <a:solidFill>
              <a:schemeClr val="accent6">
                <a:lumMod val="20000"/>
                <a:lumOff val="80000"/>
              </a:schemeClr>
            </a:solidFill>
          </a:endParaRPr>
        </a:p>
      </dsp:txBody>
      <dsp:txXfrm rot="-5400000">
        <a:off x="1" y="706147"/>
        <a:ext cx="1391125" cy="596197"/>
      </dsp:txXfrm>
    </dsp:sp>
    <dsp:sp modelId="{0C950F6C-9ABF-4EB3-A3D6-AAF7702C8581}">
      <dsp:nvSpPr>
        <dsp:cNvPr id="0" name=""/>
        <dsp:cNvSpPr/>
      </dsp:nvSpPr>
      <dsp:spPr>
        <a:xfrm rot="5400000">
          <a:off x="4989639" y="-3598514"/>
          <a:ext cx="1291759" cy="8488787"/>
        </a:xfrm>
        <a:prstGeom prst="round2SameRect">
          <a:avLst/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i="0" kern="1200" dirty="0"/>
            <a:t>Static, rule-based segmentation (e.g., 1-5 scoring) fails to capture complex, </a:t>
          </a:r>
          <a:endParaRPr lang="en-GB" sz="2100" b="0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i="0" kern="1200" dirty="0"/>
            <a:t>high-dimensional consumer </a:t>
          </a:r>
          <a:r>
            <a:rPr lang="en-GB" sz="2100" b="0" i="0" kern="1200" dirty="0" err="1"/>
            <a:t>behavior</a:t>
          </a:r>
          <a:r>
            <a:rPr lang="en-GB" sz="2100" b="0" i="0" kern="1200" dirty="0"/>
            <a:t>.</a:t>
          </a:r>
          <a:endParaRPr lang="en-GB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i="0" kern="1200"/>
            <a:t>Ignores product variety, often leading to missed opportunities to target customers interested in new categories.</a:t>
          </a:r>
          <a:endParaRPr lang="en-GB" sz="2100" b="0" kern="1200" dirty="0"/>
        </a:p>
      </dsp:txBody>
      <dsp:txXfrm rot="-5400000">
        <a:off x="1391125" y="63058"/>
        <a:ext cx="8425729" cy="1165643"/>
      </dsp:txXfrm>
    </dsp:sp>
    <dsp:sp modelId="{CCE83A06-08BF-498D-8408-E56C9B531DCC}">
      <dsp:nvSpPr>
        <dsp:cNvPr id="0" name=""/>
        <dsp:cNvSpPr/>
      </dsp:nvSpPr>
      <dsp:spPr>
        <a:xfrm rot="5400000">
          <a:off x="-298098" y="2405848"/>
          <a:ext cx="1987322" cy="1391125"/>
        </a:xfrm>
        <a:prstGeom prst="chevron">
          <a:avLst/>
        </a:prstGeom>
        <a:solidFill>
          <a:schemeClr val="accent2">
            <a:shade val="50000"/>
            <a:hueOff val="23428"/>
            <a:satOff val="3831"/>
            <a:lumOff val="25619"/>
            <a:alphaOff val="0"/>
          </a:schemeClr>
        </a:solidFill>
        <a:ln w="12700" cap="flat" cmpd="sng" algn="ctr">
          <a:solidFill>
            <a:schemeClr val="accent2">
              <a:shade val="50000"/>
              <a:hueOff val="23428"/>
              <a:satOff val="3831"/>
              <a:lumOff val="256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/>
            <a:t>The RFMT-D Model</a:t>
          </a:r>
          <a:endParaRPr lang="en-GB" sz="2000" b="1" kern="1200" dirty="0">
            <a:solidFill>
              <a:schemeClr val="accent6">
                <a:lumMod val="50000"/>
              </a:schemeClr>
            </a:solidFill>
          </a:endParaRPr>
        </a:p>
      </dsp:txBody>
      <dsp:txXfrm rot="-5400000">
        <a:off x="1" y="2803313"/>
        <a:ext cx="1391125" cy="596197"/>
      </dsp:txXfrm>
    </dsp:sp>
    <dsp:sp modelId="{3135D7C3-4A2F-41E7-A543-741F1705857C}">
      <dsp:nvSpPr>
        <dsp:cNvPr id="0" name=""/>
        <dsp:cNvSpPr/>
      </dsp:nvSpPr>
      <dsp:spPr>
        <a:xfrm rot="5400000">
          <a:off x="4699755" y="-1601868"/>
          <a:ext cx="1871526" cy="848878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21176"/>
              <a:satOff val="4088"/>
              <a:lumOff val="234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800" b="1" i="0" kern="1200" dirty="0"/>
            <a:t>R</a:t>
          </a:r>
          <a:r>
            <a:rPr lang="en-GB" sz="1800" b="0" i="0" kern="1200" dirty="0"/>
            <a:t>ecency: Days since last purchase.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800" b="1" i="0" kern="1200"/>
            <a:t>F</a:t>
          </a:r>
          <a:r>
            <a:rPr lang="en-GB" sz="1800" b="0" i="0" kern="1200"/>
            <a:t>requency: Total transactions.</a:t>
          </a:r>
          <a:endParaRPr lang="en-GB" sz="1800" b="0" i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800" b="1" i="0" kern="1200"/>
            <a:t>M</a:t>
          </a:r>
          <a:r>
            <a:rPr lang="en-GB" sz="1800" b="0" i="0" kern="1200"/>
            <a:t>onetary: Total revenue generated.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800" b="1" i="0" kern="1200" dirty="0"/>
            <a:t>T</a:t>
          </a:r>
          <a:r>
            <a:rPr lang="en-GB" sz="1800" b="0" i="0" kern="1200" dirty="0"/>
            <a:t>ime: </a:t>
          </a:r>
          <a:r>
            <a:rPr lang="en-GB" sz="1800" i="0" kern="1200" dirty="0"/>
            <a:t>Number of days between the first and last purchase</a:t>
          </a:r>
          <a:r>
            <a:rPr lang="en-GB" sz="1800" b="0" i="0" kern="1200" dirty="0"/>
            <a:t>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800" b="1" i="0" kern="1200"/>
            <a:t>D</a:t>
          </a:r>
          <a:r>
            <a:rPr lang="en-GB" sz="1800" b="0" i="0" kern="1200"/>
            <a:t>iversity: Unique count of product categories purchased.</a:t>
          </a:r>
        </a:p>
      </dsp:txBody>
      <dsp:txXfrm rot="-5400000">
        <a:off x="1391125" y="1798122"/>
        <a:ext cx="8397427" cy="1688806"/>
      </dsp:txXfrm>
    </dsp:sp>
    <dsp:sp modelId="{74B5AC58-AC14-4F7C-8178-D29C64828818}">
      <dsp:nvSpPr>
        <dsp:cNvPr id="0" name=""/>
        <dsp:cNvSpPr/>
      </dsp:nvSpPr>
      <dsp:spPr>
        <a:xfrm rot="5400000">
          <a:off x="-298098" y="4213129"/>
          <a:ext cx="1987322" cy="1391125"/>
        </a:xfrm>
        <a:prstGeom prst="chevron">
          <a:avLst/>
        </a:prstGeom>
        <a:solidFill>
          <a:schemeClr val="accent2">
            <a:shade val="50000"/>
            <a:hueOff val="23428"/>
            <a:satOff val="3831"/>
            <a:lumOff val="25619"/>
            <a:alphaOff val="0"/>
          </a:schemeClr>
        </a:solidFill>
        <a:ln w="12700" cap="flat" cmpd="sng" algn="ctr">
          <a:solidFill>
            <a:schemeClr val="accent2">
              <a:shade val="50000"/>
              <a:hueOff val="23428"/>
              <a:satOff val="3831"/>
              <a:lumOff val="256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0" kern="1200" dirty="0"/>
            <a:t>AI Goal</a:t>
          </a:r>
          <a:endParaRPr lang="en-GB" sz="2000" b="1" kern="1200" dirty="0">
            <a:solidFill>
              <a:schemeClr val="accent6">
                <a:lumMod val="50000"/>
              </a:schemeClr>
            </a:solidFill>
          </a:endParaRPr>
        </a:p>
      </dsp:txBody>
      <dsp:txXfrm rot="-5400000">
        <a:off x="1" y="4610594"/>
        <a:ext cx="1391125" cy="596197"/>
      </dsp:txXfrm>
    </dsp:sp>
    <dsp:sp modelId="{3CE5B6DA-AF6F-4983-ACF2-13E061209560}">
      <dsp:nvSpPr>
        <dsp:cNvPr id="0" name=""/>
        <dsp:cNvSpPr/>
      </dsp:nvSpPr>
      <dsp:spPr>
        <a:xfrm rot="5400000">
          <a:off x="4989639" y="316517"/>
          <a:ext cx="1291759" cy="8488787"/>
        </a:xfrm>
        <a:prstGeom prst="round2SameRect">
          <a:avLst/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2">
              <a:shade val="50000"/>
              <a:hueOff val="21176"/>
              <a:satOff val="4088"/>
              <a:lumOff val="234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800" b="0" i="0" kern="1200" dirty="0"/>
            <a:t>Use unsupervised machine learning to uncover non-linear, granular clusters, shifting from "static rules" to "dynamic </a:t>
          </a:r>
          <a:r>
            <a:rPr lang="en-GB" sz="1800" b="0" i="0" kern="1200" dirty="0" err="1"/>
            <a:t>behavior</a:t>
          </a:r>
          <a:r>
            <a:rPr lang="en-GB" sz="1800" b="0" i="0" kern="1200" dirty="0"/>
            <a:t> tracking".</a:t>
          </a:r>
          <a:endParaRPr lang="en-GB" sz="1800" b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800" b="0" i="0" kern="1200" dirty="0"/>
            <a:t>Improve prediction of customer response to new products (Diversity parameter).</a:t>
          </a:r>
          <a:endParaRPr lang="en-GB" sz="1800" b="0" kern="1200" dirty="0"/>
        </a:p>
      </dsp:txBody>
      <dsp:txXfrm rot="-5400000">
        <a:off x="1391125" y="3978089"/>
        <a:ext cx="8425729" cy="11656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D2FCC-546A-43F9-8504-F6CCE575359B}">
      <dsp:nvSpPr>
        <dsp:cNvPr id="0" name=""/>
        <dsp:cNvSpPr/>
      </dsp:nvSpPr>
      <dsp:spPr>
        <a:xfrm>
          <a:off x="349666" y="11520"/>
          <a:ext cx="10243261" cy="1491809"/>
        </a:xfrm>
        <a:prstGeom prst="rightArrow">
          <a:avLst>
            <a:gd name="adj1" fmla="val 50000"/>
            <a:gd name="adj2" fmla="val 5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36825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800" b="1" i="0" kern="1200"/>
            <a:t>Data Cleaning</a:t>
          </a:r>
          <a:endParaRPr lang="en-GB" sz="2800" kern="1200" dirty="0"/>
        </a:p>
      </dsp:txBody>
      <dsp:txXfrm>
        <a:off x="349666" y="384472"/>
        <a:ext cx="9870309" cy="745905"/>
      </dsp:txXfrm>
    </dsp:sp>
    <dsp:sp modelId="{972C71EF-4450-458D-B5FA-BAB8DFC3AACC}">
      <dsp:nvSpPr>
        <dsp:cNvPr id="0" name=""/>
        <dsp:cNvSpPr/>
      </dsp:nvSpPr>
      <dsp:spPr>
        <a:xfrm>
          <a:off x="349666" y="1161920"/>
          <a:ext cx="3154924" cy="28737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 dirty="0"/>
            <a:t>Remove rows with no CustomerID or </a:t>
          </a:r>
          <a:r>
            <a:rPr lang="en-GB" sz="1600" kern="1200" dirty="0" err="1"/>
            <a:t>InvoiceNo</a:t>
          </a:r>
          <a:endParaRPr lang="en-GB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GB" sz="1600" kern="1200" dirty="0"/>
            <a:t>Remove cancelled transactions (often indicated by 'C' in </a:t>
          </a:r>
          <a:r>
            <a:rPr lang="en-GB" sz="1600" kern="1200" dirty="0" err="1"/>
            <a:t>InvoiceNo</a:t>
          </a:r>
          <a:r>
            <a:rPr lang="en-GB" sz="1600" kern="1200" dirty="0"/>
            <a:t>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GB" sz="1600" kern="1200" dirty="0"/>
            <a:t>Remove zero or negative Quantity and </a:t>
          </a:r>
          <a:r>
            <a:rPr lang="en-GB" sz="1600" kern="1200" dirty="0" err="1"/>
            <a:t>UnitPrice</a:t>
          </a:r>
          <a:endParaRPr lang="en-GB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GB" sz="1600" kern="1200" dirty="0"/>
            <a:t>Convert </a:t>
          </a:r>
          <a:r>
            <a:rPr lang="en-GB" sz="1600" kern="1200" dirty="0" err="1"/>
            <a:t>InvoiceDate</a:t>
          </a:r>
          <a:r>
            <a:rPr lang="en-GB" sz="1600" kern="1200" dirty="0"/>
            <a:t> to datetime object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GB" sz="1600" kern="1200" dirty="0"/>
            <a:t>Calculate </a:t>
          </a:r>
          <a:r>
            <a:rPr lang="en-GB" sz="1600" kern="1200" dirty="0" err="1"/>
            <a:t>TotalPrice</a:t>
          </a:r>
          <a:r>
            <a:rPr lang="en-GB" sz="1600" kern="1200" dirty="0"/>
            <a:t> for each transaction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Filter only UK data which is approximately ~90% of </a:t>
          </a:r>
          <a:r>
            <a:rPr lang="en-GB" sz="1600" kern="1200"/>
            <a:t>the data</a:t>
          </a:r>
        </a:p>
      </dsp:txBody>
      <dsp:txXfrm>
        <a:off x="349666" y="1161920"/>
        <a:ext cx="3154924" cy="2873773"/>
      </dsp:txXfrm>
    </dsp:sp>
    <dsp:sp modelId="{879AB145-C588-464E-9F22-7F3F8B73CE54}">
      <dsp:nvSpPr>
        <dsp:cNvPr id="0" name=""/>
        <dsp:cNvSpPr/>
      </dsp:nvSpPr>
      <dsp:spPr>
        <a:xfrm>
          <a:off x="3504591" y="508790"/>
          <a:ext cx="7088337" cy="1491809"/>
        </a:xfrm>
        <a:prstGeom prst="rightArrow">
          <a:avLst>
            <a:gd name="adj1" fmla="val 50000"/>
            <a:gd name="adj2" fmla="val 50000"/>
          </a:avLst>
        </a:prstGeom>
        <a:solidFill>
          <a:schemeClr val="accent2">
            <a:shade val="50000"/>
            <a:hueOff val="23428"/>
            <a:satOff val="3831"/>
            <a:lumOff val="256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36825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i="0" kern="1200" dirty="0"/>
            <a:t>Feature Engineering:</a:t>
          </a:r>
          <a:endParaRPr lang="en-GB" sz="2800" kern="1200" dirty="0"/>
        </a:p>
      </dsp:txBody>
      <dsp:txXfrm>
        <a:off x="3504591" y="881742"/>
        <a:ext cx="6715385" cy="745905"/>
      </dsp:txXfrm>
    </dsp:sp>
    <dsp:sp modelId="{49072EA3-1274-4DC9-9FAE-AD35FE1E79D8}">
      <dsp:nvSpPr>
        <dsp:cNvPr id="0" name=""/>
        <dsp:cNvSpPr/>
      </dsp:nvSpPr>
      <dsp:spPr>
        <a:xfrm>
          <a:off x="3504591" y="1659190"/>
          <a:ext cx="3154924" cy="28737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b="0" i="0" kern="1200" dirty="0"/>
            <a:t>Created Recency by comparing Max(</a:t>
          </a:r>
          <a:r>
            <a:rPr lang="en-GB" sz="1600" b="0" i="0" kern="1200" dirty="0" err="1"/>
            <a:t>InvoiceDate</a:t>
          </a:r>
          <a:r>
            <a:rPr lang="en-GB" sz="1600" b="0" i="0" kern="1200" dirty="0"/>
            <a:t>) to a reference date.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/>
            <a:t>Calculated Diversity as count(distinct </a:t>
          </a:r>
          <a:r>
            <a:rPr lang="en-GB" sz="1600" b="0" i="0" kern="1200" dirty="0" err="1"/>
            <a:t>product_id</a:t>
          </a:r>
          <a:r>
            <a:rPr lang="en-GB" sz="1600" b="0" i="0" kern="1200" dirty="0"/>
            <a:t>) per </a:t>
          </a:r>
          <a:r>
            <a:rPr lang="en-GB" sz="1600" b="0" i="0" kern="1200"/>
            <a:t>customer.</a:t>
          </a:r>
          <a:endParaRPr lang="en-GB" sz="1600" kern="1200"/>
        </a:p>
      </dsp:txBody>
      <dsp:txXfrm>
        <a:off x="3504591" y="1659190"/>
        <a:ext cx="3154924" cy="2873773"/>
      </dsp:txXfrm>
    </dsp:sp>
    <dsp:sp modelId="{67D25A05-2420-4245-9BED-0B86E151E415}">
      <dsp:nvSpPr>
        <dsp:cNvPr id="0" name=""/>
        <dsp:cNvSpPr/>
      </dsp:nvSpPr>
      <dsp:spPr>
        <a:xfrm>
          <a:off x="6659515" y="1006060"/>
          <a:ext cx="3933412" cy="1491809"/>
        </a:xfrm>
        <a:prstGeom prst="rightArrow">
          <a:avLst>
            <a:gd name="adj1" fmla="val 50000"/>
            <a:gd name="adj2" fmla="val 50000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254000" bIns="236825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i="0" kern="1200" dirty="0">
              <a:solidFill>
                <a:schemeClr val="accent6">
                  <a:lumMod val="75000"/>
                </a:schemeClr>
              </a:solidFill>
            </a:rPr>
            <a:t>Scaling</a:t>
          </a:r>
          <a:endParaRPr lang="en-GB" sz="2800" kern="1200" dirty="0"/>
        </a:p>
      </dsp:txBody>
      <dsp:txXfrm>
        <a:off x="6659515" y="1379012"/>
        <a:ext cx="3560460" cy="745905"/>
      </dsp:txXfrm>
    </dsp:sp>
    <dsp:sp modelId="{A9D0F954-9D70-45A1-9A2A-A7C18E7B153F}">
      <dsp:nvSpPr>
        <dsp:cNvPr id="0" name=""/>
        <dsp:cNvSpPr/>
      </dsp:nvSpPr>
      <dsp:spPr>
        <a:xfrm>
          <a:off x="6659515" y="2156460"/>
          <a:ext cx="3154924" cy="28317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/>
            <a:t>Applied </a:t>
          </a:r>
          <a:r>
            <a:rPr lang="en-GB" sz="1600" b="0" i="0" kern="1200" dirty="0" err="1"/>
            <a:t>MinMaxScaler</a:t>
          </a:r>
          <a:r>
            <a:rPr lang="en-GB" sz="1600" b="0" i="0" kern="1200" dirty="0"/>
            <a:t> on RFMTD metrics. K-Means is distance-based, making normalization critical</a:t>
          </a:r>
          <a:r>
            <a:rPr lang="en-GB" sz="1600" b="0" i="0" kern="1200"/>
            <a:t>. </a:t>
          </a:r>
          <a:endParaRPr lang="en-GB" sz="1600" kern="1200" dirty="0"/>
        </a:p>
      </dsp:txBody>
      <dsp:txXfrm>
        <a:off x="6659515" y="2156460"/>
        <a:ext cx="3154924" cy="2831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630E8-E31A-421F-BD8D-521943B8B89E}">
      <dsp:nvSpPr>
        <dsp:cNvPr id="0" name=""/>
        <dsp:cNvSpPr/>
      </dsp:nvSpPr>
      <dsp:spPr>
        <a:xfrm>
          <a:off x="4683485" y="661"/>
          <a:ext cx="7025227" cy="2579687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" tIns="15875" rIns="15875" bIns="1587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500" b="0" i="0" kern="1200"/>
            <a:t>K-Means clustering (unsupervised learning) was chosen for computational efficiency with large datasets.</a:t>
          </a:r>
          <a:endParaRPr lang="en-GB" sz="2500" kern="1200" dirty="0"/>
        </a:p>
      </dsp:txBody>
      <dsp:txXfrm>
        <a:off x="4683485" y="323122"/>
        <a:ext cx="6057844" cy="1934765"/>
      </dsp:txXfrm>
    </dsp:sp>
    <dsp:sp modelId="{F7E75EE7-D4FE-4FC0-B4A4-0D5BFADBB4CC}">
      <dsp:nvSpPr>
        <dsp:cNvPr id="0" name=""/>
        <dsp:cNvSpPr/>
      </dsp:nvSpPr>
      <dsp:spPr>
        <a:xfrm>
          <a:off x="0" y="661"/>
          <a:ext cx="4683485" cy="2579687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b="1" i="0" kern="1200" dirty="0"/>
            <a:t>Algorithm</a:t>
          </a:r>
          <a:endParaRPr lang="en-GB" sz="6500" kern="1200" dirty="0"/>
        </a:p>
      </dsp:txBody>
      <dsp:txXfrm>
        <a:off x="125930" y="126591"/>
        <a:ext cx="4431625" cy="2327827"/>
      </dsp:txXfrm>
    </dsp:sp>
    <dsp:sp modelId="{6670881A-59AE-427E-80AA-339EE4E4A21D}">
      <dsp:nvSpPr>
        <dsp:cNvPr id="0" name=""/>
        <dsp:cNvSpPr/>
      </dsp:nvSpPr>
      <dsp:spPr>
        <a:xfrm>
          <a:off x="4683485" y="2838317"/>
          <a:ext cx="7025227" cy="2579687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" tIns="15875" rIns="15875" bIns="1587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500" b="1" i="0" kern="1200"/>
            <a:t>Elbow Method:</a:t>
          </a:r>
          <a:r>
            <a:rPr lang="en-GB" sz="2500" b="0" i="0" kern="1200"/>
            <a:t> Ran Inertia (Within-Cluster Sum of Squares) for k=1 to 10; found optimal k where the decline significantly slows (e.g., k=4 or 5).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500" b="1" i="0" kern="1200"/>
            <a:t>Silhouette Score:</a:t>
          </a:r>
          <a:r>
            <a:rPr lang="en-GB" sz="2500" b="0" i="0" kern="1200"/>
            <a:t> Confirmed separation distance between clusters (targeting &gt;0.5).</a:t>
          </a:r>
        </a:p>
      </dsp:txBody>
      <dsp:txXfrm>
        <a:off x="4683485" y="3160778"/>
        <a:ext cx="6057844" cy="1934765"/>
      </dsp:txXfrm>
    </dsp:sp>
    <dsp:sp modelId="{43461827-7934-4EDD-955B-2933A3F59DA6}">
      <dsp:nvSpPr>
        <dsp:cNvPr id="0" name=""/>
        <dsp:cNvSpPr/>
      </dsp:nvSpPr>
      <dsp:spPr>
        <a:xfrm>
          <a:off x="0" y="2838317"/>
          <a:ext cx="4683485" cy="2579687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6500" b="1" i="0" kern="1200" dirty="0"/>
            <a:t>Optimal K Calculation</a:t>
          </a:r>
          <a:endParaRPr lang="en-GB" sz="6500" b="0" i="0" kern="1200" dirty="0"/>
        </a:p>
      </dsp:txBody>
      <dsp:txXfrm>
        <a:off x="125930" y="2964247"/>
        <a:ext cx="4431625" cy="23278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6F4C7-D8A4-4F3E-96D9-63AE42B525C7}">
      <dsp:nvSpPr>
        <dsp:cNvPr id="0" name=""/>
        <dsp:cNvSpPr/>
      </dsp:nvSpPr>
      <dsp:spPr>
        <a:xfrm>
          <a:off x="-7475812" y="-1142468"/>
          <a:ext cx="8895802" cy="8895802"/>
        </a:xfrm>
        <a:prstGeom prst="blockArc">
          <a:avLst>
            <a:gd name="adj1" fmla="val 18900000"/>
            <a:gd name="adj2" fmla="val 2700000"/>
            <a:gd name="adj3" fmla="val 243"/>
          </a:avLst>
        </a:pr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2655B2-9F18-44E3-9C54-89D8A3EF13B2}">
      <dsp:nvSpPr>
        <dsp:cNvPr id="0" name=""/>
        <dsp:cNvSpPr/>
      </dsp:nvSpPr>
      <dsp:spPr>
        <a:xfrm>
          <a:off x="742846" y="508243"/>
          <a:ext cx="8695668" cy="101701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256" tIns="40640" rIns="40640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b="1" i="0" kern="1200" dirty="0"/>
            <a:t>Validation</a:t>
          </a:r>
          <a:endParaRPr lang="en-GB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/>
            <a:t>Used silhouette coefficients to evaluate cluster tightness.</a:t>
          </a:r>
          <a:endParaRPr lang="en-GB" sz="1200" kern="1200" dirty="0"/>
        </a:p>
      </dsp:txBody>
      <dsp:txXfrm>
        <a:off x="742846" y="508243"/>
        <a:ext cx="8695668" cy="1017015"/>
      </dsp:txXfrm>
    </dsp:sp>
    <dsp:sp modelId="{6913A05D-D63B-44DD-8F29-F67EBA788029}">
      <dsp:nvSpPr>
        <dsp:cNvPr id="0" name=""/>
        <dsp:cNvSpPr/>
      </dsp:nvSpPr>
      <dsp:spPr>
        <a:xfrm>
          <a:off x="107211" y="381116"/>
          <a:ext cx="1271269" cy="1271269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DE768-50ED-4A44-BED1-BC59756DEC70}">
      <dsp:nvSpPr>
        <dsp:cNvPr id="0" name=""/>
        <dsp:cNvSpPr/>
      </dsp:nvSpPr>
      <dsp:spPr>
        <a:xfrm>
          <a:off x="1325924" y="2034030"/>
          <a:ext cx="8112590" cy="101701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256" tIns="40640" rIns="40640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b="1" i="0" kern="1200" dirty="0"/>
            <a:t>Personalization</a:t>
          </a:r>
          <a:r>
            <a:rPr lang="en-GB" sz="1600" b="0" i="0" kern="1200" dirty="0"/>
            <a:t> </a:t>
          </a:r>
          <a:endParaRPr lang="en-GB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0" i="0" kern="1200"/>
            <a:t>Real-time scoring using Python/Scikit-learn in production pipelines.</a:t>
          </a:r>
          <a:endParaRPr lang="en-GB" sz="1200" kern="1200" dirty="0"/>
        </a:p>
      </dsp:txBody>
      <dsp:txXfrm>
        <a:off x="1325924" y="2034030"/>
        <a:ext cx="8112590" cy="1017015"/>
      </dsp:txXfrm>
    </dsp:sp>
    <dsp:sp modelId="{61FB939D-7673-4CF5-B242-562A03C405B0}">
      <dsp:nvSpPr>
        <dsp:cNvPr id="0" name=""/>
        <dsp:cNvSpPr/>
      </dsp:nvSpPr>
      <dsp:spPr>
        <a:xfrm>
          <a:off x="690289" y="1906904"/>
          <a:ext cx="1271269" cy="1271269"/>
        </a:xfrm>
        <a:prstGeom prst="ellipse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4D7AA-3B58-45CE-AD8D-09802AA88D47}">
      <dsp:nvSpPr>
        <dsp:cNvPr id="0" name=""/>
        <dsp:cNvSpPr/>
      </dsp:nvSpPr>
      <dsp:spPr>
        <a:xfrm>
          <a:off x="1325924" y="3559818"/>
          <a:ext cx="8112590" cy="101701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256" tIns="40640" rIns="40640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b="1" i="0" kern="1200"/>
            <a:t>Actionable Strategy</a:t>
          </a:r>
          <a:endParaRPr lang="en-GB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1" i="0" kern="1200"/>
            <a:t>Champions:</a:t>
          </a:r>
          <a:r>
            <a:rPr lang="en-GB" sz="1200" b="0" i="0" kern="1200"/>
            <a:t> Early access to new product launches.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1" i="0" kern="1200" dirty="0"/>
            <a:t>At Risk:</a:t>
          </a:r>
          <a:r>
            <a:rPr lang="en-GB" sz="1200" b="0" i="0" kern="1200" dirty="0"/>
            <a:t> Win-back campaign (personalized discount).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b="1" i="0" kern="1200" dirty="0"/>
            <a:t>High-Diversity Segm</a:t>
          </a:r>
          <a:r>
            <a:rPr lang="en-GB" sz="1200" b="0" i="0" kern="1200" dirty="0"/>
            <a:t>ent: Cross-sell products from categories they haven't touched.</a:t>
          </a:r>
        </a:p>
      </dsp:txBody>
      <dsp:txXfrm>
        <a:off x="1325924" y="3559818"/>
        <a:ext cx="8112590" cy="1017015"/>
      </dsp:txXfrm>
    </dsp:sp>
    <dsp:sp modelId="{F0953CDC-DB1D-4BDF-9CE4-0718CA90F3B5}">
      <dsp:nvSpPr>
        <dsp:cNvPr id="0" name=""/>
        <dsp:cNvSpPr/>
      </dsp:nvSpPr>
      <dsp:spPr>
        <a:xfrm>
          <a:off x="690289" y="3432691"/>
          <a:ext cx="1271269" cy="12712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1F154-AD35-4A86-A842-A58AE52B8D29}">
      <dsp:nvSpPr>
        <dsp:cNvPr id="0" name=""/>
        <dsp:cNvSpPr/>
      </dsp:nvSpPr>
      <dsp:spPr>
        <a:xfrm>
          <a:off x="742846" y="5085606"/>
          <a:ext cx="8695668" cy="1017015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256" tIns="40640" rIns="40640" bIns="406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/>
            <a:t>Monitoring</a:t>
          </a:r>
          <a:endParaRPr lang="en-GB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b="0" i="0" kern="1200" dirty="0"/>
            <a:t>RFMT-D scores are re-calculated monthly to detect churn via changing behaviour patterns. </a:t>
          </a:r>
          <a:endParaRPr lang="en-GB" sz="1200" kern="1200" dirty="0"/>
        </a:p>
      </dsp:txBody>
      <dsp:txXfrm>
        <a:off x="742846" y="5085606"/>
        <a:ext cx="8695668" cy="1017015"/>
      </dsp:txXfrm>
    </dsp:sp>
    <dsp:sp modelId="{F3317B6B-9618-44E1-934F-FC84CD34A1F6}">
      <dsp:nvSpPr>
        <dsp:cNvPr id="0" name=""/>
        <dsp:cNvSpPr/>
      </dsp:nvSpPr>
      <dsp:spPr>
        <a:xfrm>
          <a:off x="107211" y="4958479"/>
          <a:ext cx="1271269" cy="1271269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39F09-4BE3-4C62-AAA4-5525569223CB}">
      <dsp:nvSpPr>
        <dsp:cNvPr id="0" name=""/>
        <dsp:cNvSpPr/>
      </dsp:nvSpPr>
      <dsp:spPr>
        <a:xfrm rot="5400000">
          <a:off x="1028999" y="1724246"/>
          <a:ext cx="1024011" cy="187735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EE482-8F2F-4119-9D01-CE9400606290}">
      <dsp:nvSpPr>
        <dsp:cNvPr id="0" name=""/>
        <dsp:cNvSpPr/>
      </dsp:nvSpPr>
      <dsp:spPr>
        <a:xfrm>
          <a:off x="211956" y="688091"/>
          <a:ext cx="1703762" cy="1525217"/>
        </a:xfrm>
        <a:prstGeom prst="roundRect">
          <a:avLst>
            <a:gd name="adj" fmla="val 1667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b="1" i="0" kern="1200" dirty="0"/>
            <a:t>Stack</a:t>
          </a:r>
          <a:endParaRPr lang="en-GB" sz="4200" kern="1200" dirty="0"/>
        </a:p>
      </dsp:txBody>
      <dsp:txXfrm>
        <a:off x="286424" y="762559"/>
        <a:ext cx="1554826" cy="1376281"/>
      </dsp:txXfrm>
    </dsp:sp>
    <dsp:sp modelId="{587E5AB0-77BF-47A7-8D93-75063FE24BEA}">
      <dsp:nvSpPr>
        <dsp:cNvPr id="0" name=""/>
        <dsp:cNvSpPr/>
      </dsp:nvSpPr>
      <dsp:spPr>
        <a:xfrm>
          <a:off x="2617135" y="722593"/>
          <a:ext cx="4521020" cy="1570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900" b="0" i="0" kern="1200" dirty="0"/>
            <a:t>Python, Pandas, Scikit-learn, PCA, LIME, Databricks (for real-time scaling).</a:t>
          </a:r>
          <a:endParaRPr lang="en-GB" sz="1900" kern="1200" dirty="0"/>
        </a:p>
      </dsp:txBody>
      <dsp:txXfrm>
        <a:off x="2617135" y="722593"/>
        <a:ext cx="4521020" cy="1570500"/>
      </dsp:txXfrm>
    </dsp:sp>
    <dsp:sp modelId="{E4B5190F-566D-4AF3-A61D-596BF3CC7754}">
      <dsp:nvSpPr>
        <dsp:cNvPr id="0" name=""/>
        <dsp:cNvSpPr/>
      </dsp:nvSpPr>
      <dsp:spPr>
        <a:xfrm>
          <a:off x="2745737" y="2373009"/>
          <a:ext cx="1703762" cy="1525217"/>
        </a:xfrm>
        <a:prstGeom prst="roundRect">
          <a:avLst>
            <a:gd name="adj" fmla="val 16670"/>
          </a:avLst>
        </a:prstGeom>
        <a:solidFill>
          <a:schemeClr val="accent2">
            <a:shade val="50000"/>
            <a:hueOff val="35142"/>
            <a:satOff val="5747"/>
            <a:lumOff val="384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b="1" i="0" kern="1200" dirty="0"/>
            <a:t>Future</a:t>
          </a:r>
          <a:endParaRPr lang="en-GB" sz="4200" kern="1200" dirty="0"/>
        </a:p>
      </dsp:txBody>
      <dsp:txXfrm>
        <a:off x="2820205" y="2447477"/>
        <a:ext cx="1554826" cy="1376281"/>
      </dsp:txXfrm>
    </dsp:sp>
    <dsp:sp modelId="{911DDC65-2C8A-4404-8B97-69A865F4C438}">
      <dsp:nvSpPr>
        <dsp:cNvPr id="0" name=""/>
        <dsp:cNvSpPr/>
      </dsp:nvSpPr>
      <dsp:spPr>
        <a:xfrm>
          <a:off x="4605517" y="2361746"/>
          <a:ext cx="2549861" cy="1570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900" b="0" i="0" kern="1200" dirty="0"/>
            <a:t>Implementing autoencoder neural networks to track evolving consumer state transitions (pre/post-promotion). </a:t>
          </a:r>
          <a:endParaRPr lang="en-GB" sz="1900" kern="1200" dirty="0"/>
        </a:p>
      </dsp:txBody>
      <dsp:txXfrm>
        <a:off x="4605517" y="2361746"/>
        <a:ext cx="2549861" cy="1570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DC4B7-0178-DBD7-42CA-DA60BBDC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738E8-1F72-95C2-C217-FA6465A0B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3E9D9-E12A-08F8-6765-675EED7FF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F5052-5B5B-9043-126E-6F20AC613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93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3389-B225-5FD3-A37A-F98F9BB5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B1F6E-725B-A2E1-C2E0-E690E96BD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08990-F5CE-4BAD-EF66-127D10384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EDC91-316D-26CF-D8AB-04015D06A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19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90BEF-4831-3ACA-3E0F-87E91BA67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94661-4A3A-3C42-0DAC-A3D8B106E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7A363-6977-914D-F731-7DB45AB3E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6F7A9-B86A-2D9F-FFBA-EFA57D537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55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9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9" r:id="rId20"/>
    <p:sldLayoutId id="214748369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693" y="-6713"/>
            <a:ext cx="5852566" cy="5062047"/>
          </a:xfrm>
        </p:spPr>
        <p:txBody>
          <a:bodyPr/>
          <a:lstStyle/>
          <a:p>
            <a:r>
              <a:rPr lang="en-GB" dirty="0"/>
              <a:t>Next-Gen Customer Segmentation </a:t>
            </a:r>
            <a:br>
              <a:rPr lang="en-GB" dirty="0"/>
            </a:br>
            <a:br>
              <a:rPr lang="en-GB" dirty="0"/>
            </a:br>
            <a:r>
              <a:rPr lang="en-GB" sz="3000" dirty="0"/>
              <a:t>Using AI-Driven RFMT-D</a:t>
            </a:r>
            <a:r>
              <a:rPr lang="en-US" sz="3000" dirty="0"/>
              <a:t> and </a:t>
            </a:r>
            <a:br>
              <a:rPr lang="en-US" sz="3000" dirty="0"/>
            </a:br>
            <a:r>
              <a:rPr lang="en-US" sz="3000" dirty="0"/>
              <a:t>UNSUPERVISED </a:t>
            </a:r>
            <a:br>
              <a:rPr lang="en-US" sz="3000" dirty="0"/>
            </a:br>
            <a:r>
              <a:rPr lang="en-US" sz="3000" dirty="0"/>
              <a:t>k-means clustering</a:t>
            </a:r>
            <a:br>
              <a:rPr lang="en-US" sz="3000" dirty="0"/>
            </a:br>
            <a:endParaRPr lang="en-US" sz="1200" i="0" dirty="0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21C9D0-6C19-740B-97C6-5340ADE01381}"/>
              </a:ext>
            </a:extLst>
          </p:cNvPr>
          <p:cNvSpPr txBox="1"/>
          <p:nvPr/>
        </p:nvSpPr>
        <p:spPr>
          <a:xfrm>
            <a:off x="0" y="6488668"/>
            <a:ext cx="383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Technical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503" y="509286"/>
            <a:ext cx="5063309" cy="5617194"/>
          </a:xfrm>
          <a:noFill/>
        </p:spPr>
        <p:txBody>
          <a:bodyPr anchor="ctr">
            <a:noAutofit/>
          </a:bodyPr>
          <a:lstStyle/>
          <a:p>
            <a:r>
              <a:rPr lang="en-US" sz="2400" dirty="0"/>
              <a:t>Project Motivation &amp; Scope</a:t>
            </a:r>
          </a:p>
          <a:p>
            <a:r>
              <a:rPr lang="en-GB" sz="2400" dirty="0"/>
              <a:t>Data Engineering &amp; Preprocessing</a:t>
            </a:r>
            <a:endParaRPr lang="en-US" sz="2400" dirty="0"/>
          </a:p>
          <a:p>
            <a:r>
              <a:rPr lang="en-GB" sz="2400" dirty="0"/>
              <a:t>Clustering Methodology (K-Means)</a:t>
            </a:r>
            <a:endParaRPr lang="en-GB" sz="1000" dirty="0"/>
          </a:p>
          <a:p>
            <a:r>
              <a:rPr lang="en-US" sz="2400" dirty="0"/>
              <a:t>Segment Analysis &amp; Results</a:t>
            </a:r>
          </a:p>
          <a:p>
            <a:r>
              <a:rPr lang="en-US" sz="2400" dirty="0"/>
              <a:t>Model Evaluation &amp; Deployment</a:t>
            </a:r>
          </a:p>
          <a:p>
            <a:r>
              <a:rPr lang="en-US" sz="2400" dirty="0"/>
              <a:t>Technical Stack and Future Directions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Project Motivation &amp; Scope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5C46-5EEF-E3FF-9FC2-CB5CC774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42791A1-32EA-D6D5-BCD5-E8510A33EE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865262"/>
              </p:ext>
            </p:extLst>
          </p:nvPr>
        </p:nvGraphicFramePr>
        <p:xfrm>
          <a:off x="1080529" y="611430"/>
          <a:ext cx="9879913" cy="5912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88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06CD77-7B0F-4F1C-9A1C-60E48B8B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5E06CD77-7B0F-4F1C-9A1C-60E48B8BC2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C950F6C-9ABF-4EB3-A3D6-AAF7702C85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0C950F6C-9ABF-4EB3-A3D6-AAF7702C85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E83A06-08BF-498D-8408-E56C9B531D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CCE83A06-08BF-498D-8408-E56C9B531D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35D7C3-4A2F-41E7-A543-741F170585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3135D7C3-4A2F-41E7-A543-741F170585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4B5AC58-AC14-4F7C-8178-D29C648288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74B5AC58-AC14-4F7C-8178-D29C648288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5B6DA-AF6F-4983-ACF2-13E061209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3CE5B6DA-AF6F-4983-ACF2-13E0612095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DA2B-2F42-FED7-0E9C-31B1EB47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3178-802D-23FB-88B9-E5B21558F974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Data Engineering &amp; Preprocessing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A44D3F7-A527-5C39-CCB5-401080B319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6834683"/>
              </p:ext>
            </p:extLst>
          </p:nvPr>
        </p:nvGraphicFramePr>
        <p:xfrm>
          <a:off x="783966" y="1643449"/>
          <a:ext cx="10942595" cy="4999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770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BD2FCC-546A-43F9-8504-F6CCE5753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2BBD2FCC-546A-43F9-8504-F6CCE57535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72C71EF-4450-458D-B5FA-BAB8DFC3AA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972C71EF-4450-458D-B5FA-BAB8DFC3AA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79AB145-C588-464E-9F22-7F3F8B73CE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879AB145-C588-464E-9F22-7F3F8B73CE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9072EA3-1274-4DC9-9FAE-AD35FE1E79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49072EA3-1274-4DC9-9FAE-AD35FE1E79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7D25A05-2420-4245-9BED-0B86E151E4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67D25A05-2420-4245-9BED-0B86E151E4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D0F954-9D70-45A1-9A2A-A7C18E7B15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graphicEl>
                                              <a:dgm id="{A9D0F954-9D70-45A1-9A2A-A7C18E7B15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484" y="185196"/>
            <a:ext cx="8477284" cy="860888"/>
          </a:xfrm>
          <a:noFill/>
        </p:spPr>
        <p:txBody>
          <a:bodyPr/>
          <a:lstStyle/>
          <a:p>
            <a:r>
              <a:rPr lang="en-GB" dirty="0"/>
              <a:t>Clustering Methodology </a:t>
            </a:r>
            <a:br>
              <a:rPr lang="en-GB" dirty="0"/>
            </a:br>
            <a:r>
              <a:rPr lang="en-GB" sz="3200" dirty="0"/>
              <a:t>(K-Means)</a:t>
            </a:r>
            <a:endParaRPr lang="en-US" sz="1600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9544A44-26FC-A8A0-9099-629D85DC97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023681"/>
              </p:ext>
            </p:extLst>
          </p:nvPr>
        </p:nvGraphicFramePr>
        <p:xfrm>
          <a:off x="241643" y="1254138"/>
          <a:ext cx="1170871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E75EE7-D4FE-4FC0-B4A4-0D5BFADBB4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7E75EE7-D4FE-4FC0-B4A4-0D5BFADBB4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3461827-7934-4EDD-955B-2933A3F59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43461827-7934-4EDD-955B-2933A3F59D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4630E8-E31A-421F-BD8D-521943B8B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814630E8-E31A-421F-BD8D-521943B8B8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70881A-59AE-427E-80AA-339EE4E4A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6670881A-59AE-427E-80AA-339EE4E4A2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18614-73F2-0FC4-55B6-1ABD90ED5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466D-D690-440A-2311-B9D761A8CF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Segment Analysis &amp; Results</a:t>
            </a:r>
          </a:p>
        </p:txBody>
      </p:sp>
      <p:graphicFrame>
        <p:nvGraphicFramePr>
          <p:cNvPr id="10" name="Table Placeholder 3">
            <a:extLst>
              <a:ext uri="{FF2B5EF4-FFF2-40B4-BE49-F238E27FC236}">
                <a16:creationId xmlns:a16="http://schemas.microsoft.com/office/drawing/2014/main" id="{BBFB0B3A-E5BA-0723-DD57-1A8C27AC4B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7198831"/>
              </p:ext>
            </p:extLst>
          </p:nvPr>
        </p:nvGraphicFramePr>
        <p:xfrm>
          <a:off x="306861" y="1915557"/>
          <a:ext cx="11578278" cy="4708939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70453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155383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710799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  <a:gridCol w="1710799">
                  <a:extLst>
                    <a:ext uri="{9D8B030D-6E8A-4147-A177-3AD203B41FA5}">
                      <a16:colId xmlns:a16="http://schemas.microsoft.com/office/drawing/2014/main" val="1355232582"/>
                    </a:ext>
                  </a:extLst>
                </a:gridCol>
                <a:gridCol w="1710799">
                  <a:extLst>
                    <a:ext uri="{9D8B030D-6E8A-4147-A177-3AD203B41FA5}">
                      <a16:colId xmlns:a16="http://schemas.microsoft.com/office/drawing/2014/main" val="2408038826"/>
                    </a:ext>
                  </a:extLst>
                </a:gridCol>
                <a:gridCol w="1710799">
                  <a:extLst>
                    <a:ext uri="{9D8B030D-6E8A-4147-A177-3AD203B41FA5}">
                      <a16:colId xmlns:a16="http://schemas.microsoft.com/office/drawing/2014/main" val="2422086220"/>
                    </a:ext>
                  </a:extLst>
                </a:gridCol>
                <a:gridCol w="1710799">
                  <a:extLst>
                    <a:ext uri="{9D8B030D-6E8A-4147-A177-3AD203B41FA5}">
                      <a16:colId xmlns:a16="http://schemas.microsoft.com/office/drawing/2014/main" val="4180916487"/>
                    </a:ext>
                  </a:extLst>
                </a:gridCol>
              </a:tblGrid>
              <a:tr h="502699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R-MEAN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F-MEAN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M-MEAN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T-MEAN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D-MEAN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BEHAVIOUR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1117536"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CHAMPIONS</a:t>
                      </a:r>
                      <a:endParaRPr lang="en-US" sz="2000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Bought recently, frequent, high spend, high diversity</a:t>
                      </a:r>
                      <a:endParaRPr lang="en-US" sz="1400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859643"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LOYALISTS</a:t>
                      </a:r>
                      <a:endParaRPr lang="en-US" sz="2000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Frequent, but focused on fewer products</a:t>
                      </a:r>
                      <a:endParaRPr lang="en-US" sz="1400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1117536"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/ PROMISING</a:t>
                      </a:r>
                      <a:endParaRPr lang="en-US" sz="2000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Recent buyers, open to trying new, varied products</a:t>
                      </a:r>
                      <a:endParaRPr lang="en-US" sz="1400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859643"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RISK</a:t>
                      </a:r>
                      <a:endParaRPr lang="en-US" sz="2000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+mn-lt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Haven't bought in a long time, low spend</a:t>
                      </a:r>
                      <a:endParaRPr lang="en-US" sz="1400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762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4778" y="0"/>
            <a:ext cx="3595816" cy="6857999"/>
          </a:xfrm>
          <a:noFill/>
        </p:spPr>
        <p:txBody>
          <a:bodyPr anchor="ctr" anchorCtr="1"/>
          <a:lstStyle/>
          <a:p>
            <a:r>
              <a:rPr lang="en-US" sz="3200" dirty="0"/>
              <a:t>Model Evaluation &amp; Deployment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25FF580-1C9D-69D7-976E-8D4FD3205D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4749786"/>
              </p:ext>
            </p:extLst>
          </p:nvPr>
        </p:nvGraphicFramePr>
        <p:xfrm>
          <a:off x="2501556" y="247134"/>
          <a:ext cx="9533926" cy="6610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D56F4C7-D8A4-4F3E-96D9-63AE42B52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D56F4C7-D8A4-4F3E-96D9-63AE42B525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913A05D-D63B-44DD-8F29-F67EBA7880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6913A05D-D63B-44DD-8F29-F67EBA7880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2655B2-9F18-44E3-9C54-89D8A3EF1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>
                                            <p:graphicEl>
                                              <a:dgm id="{E12655B2-9F18-44E3-9C54-89D8A3EF13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1FB939D-7673-4CF5-B242-562A03C40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61FB939D-7673-4CF5-B242-562A03C405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D1DE768-50ED-4A44-BED1-BC59756DE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7D1DE768-50ED-4A44-BED1-BC59756DE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953CDC-DB1D-4BDF-9CE4-0718CA90F3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graphicEl>
                                              <a:dgm id="{F0953CDC-DB1D-4BDF-9CE4-0718CA90F3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D4D7AA-3B58-45CE-AD8D-09802AA88D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3BD4D7AA-3B58-45CE-AD8D-09802AA88D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317B6B-9618-44E1-934F-FC84CD34A1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graphicEl>
                                              <a:dgm id="{F3317B6B-9618-44E1-934F-FC84CD34A1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351F154-AD35-4A86-A842-A58AE52B8D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6351F154-AD35-4A86-A842-A58AE52B8D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Technical Stack &amp; Future Directions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31F8DFC-F46F-4722-015D-D2D47BD28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9305836"/>
              </p:ext>
            </p:extLst>
          </p:nvPr>
        </p:nvGraphicFramePr>
        <p:xfrm>
          <a:off x="215557" y="2113265"/>
          <a:ext cx="7268607" cy="4584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3D39F09-4BE3-4C62-AAA4-5525569223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3D39F09-4BE3-4C62-AAA4-5525569223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7EE482-8F2F-4119-9D01-CE94006062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6E7EE482-8F2F-4119-9D01-CE94006062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7E5AB0-77BF-47A7-8D93-75063FE24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87E5AB0-77BF-47A7-8D93-75063FE24B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B5190F-566D-4AF3-A61D-596BF3CC77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>
                                            <p:graphicEl>
                                              <a:dgm id="{E4B5190F-566D-4AF3-A61D-596BF3CC77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11DDC65-2C8A-4404-8B97-69A865F4C4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>
                                            <p:graphicEl>
                                              <a:dgm id="{911DDC65-2C8A-4404-8B97-69A865F4C4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2138794"/>
          </a:xfrm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992" y="3429000"/>
            <a:ext cx="5608500" cy="3083011"/>
          </a:xfrm>
          <a:noFill/>
        </p:spPr>
        <p:txBody>
          <a:bodyPr anchor="t">
            <a:normAutofit/>
          </a:bodyPr>
          <a:lstStyle/>
          <a:p>
            <a:r>
              <a:rPr lang="en-US" sz="2500" b="1" dirty="0"/>
              <a:t>Bernadette Nitura</a:t>
            </a:r>
          </a:p>
          <a:p>
            <a:endParaRPr lang="en-GB" sz="1100" b="1" dirty="0"/>
          </a:p>
          <a:p>
            <a:r>
              <a:rPr lang="en-GB" sz="2500" b="1" dirty="0"/>
              <a:t>Asian Institute of Management</a:t>
            </a:r>
          </a:p>
          <a:p>
            <a:endParaRPr lang="en-GB" sz="1000" b="1" dirty="0"/>
          </a:p>
          <a:p>
            <a:r>
              <a:rPr lang="en-GB" sz="2500" b="1" dirty="0"/>
              <a:t>Postgraduate Diploma in </a:t>
            </a:r>
          </a:p>
          <a:p>
            <a:r>
              <a:rPr lang="en-GB" sz="2500" b="1" dirty="0"/>
              <a:t>Artificial Intelligence and Machine Learning 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{F7F338D6-BEF6-41F4-8B05-FE3D7945FF20}TF020710ce-b2a3-4743-8ec4-0abcd2574951ef9f6aa4_win32-415a623b9e9a</Template>
  <TotalTime>295</TotalTime>
  <Words>557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Symbol</vt:lpstr>
      <vt:lpstr>Univers Condensed Light</vt:lpstr>
      <vt:lpstr>Walbaum Display Light</vt:lpstr>
      <vt:lpstr>AngleLinesVTI</vt:lpstr>
      <vt:lpstr>Next-Gen Customer Segmentation   Using AI-Driven RFMT-D and  UNSUPERVISED  k-means clustering </vt:lpstr>
      <vt:lpstr>AGENDA</vt:lpstr>
      <vt:lpstr>Project Motivation &amp; Scope  </vt:lpstr>
      <vt:lpstr>PowerPoint Presentation</vt:lpstr>
      <vt:lpstr>Data Engineering &amp; Preprocessing</vt:lpstr>
      <vt:lpstr>Clustering Methodology  (K-Means)</vt:lpstr>
      <vt:lpstr>Segment Analysis &amp; Results</vt:lpstr>
      <vt:lpstr>Model Evaluation &amp; Deployment</vt:lpstr>
      <vt:lpstr>Technical Stack &amp; Future Directions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Bernadette Nitura</dc:creator>
  <cp:lastModifiedBy>Bernadette Nitura</cp:lastModifiedBy>
  <cp:revision>37</cp:revision>
  <dcterms:created xsi:type="dcterms:W3CDTF">2026-03-28T10:09:48Z</dcterms:created>
  <dcterms:modified xsi:type="dcterms:W3CDTF">2026-03-30T04:08:11Z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