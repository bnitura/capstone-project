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7"/>
  </p:notesMasterIdLst>
  <p:handoutMasterIdLst>
    <p:handoutMasterId r:id="rId18"/>
  </p:handoutMasterIdLst>
  <p:sldIdLst>
    <p:sldId id="289" r:id="rId5"/>
    <p:sldId id="288" r:id="rId6"/>
    <p:sldId id="276" r:id="rId7"/>
    <p:sldId id="290" r:id="rId8"/>
    <p:sldId id="283" r:id="rId9"/>
    <p:sldId id="291" r:id="rId10"/>
    <p:sldId id="261" r:id="rId11"/>
    <p:sldId id="257" r:id="rId12"/>
    <p:sldId id="264" r:id="rId13"/>
    <p:sldId id="265" r:id="rId14"/>
    <p:sldId id="263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52" d="100"/>
          <a:sy n="52" d="100"/>
        </p:scale>
        <p:origin x="122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25947-7CD7-4976-8378-268EEED7225B}" type="doc">
      <dgm:prSet loTypeId="urn:microsoft.com/office/officeart/2005/8/layout/chevron2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563827B9-2FC5-4A8D-8325-A2E31C87CBB7}">
      <dgm:prSet phldrT="[Text]" phldr="0"/>
      <dgm:spPr/>
      <dgm:t>
        <a:bodyPr/>
        <a:lstStyle/>
        <a:p>
          <a:r>
            <a:rPr lang="en-GB" b="1" dirty="0">
              <a:solidFill>
                <a:schemeClr val="accent6">
                  <a:lumMod val="20000"/>
                  <a:lumOff val="80000"/>
                </a:schemeClr>
              </a:solidFill>
            </a:rPr>
            <a:t>Challenge</a:t>
          </a:r>
        </a:p>
      </dgm:t>
    </dgm:pt>
    <dgm:pt modelId="{D29A3F1D-014E-4E75-BB87-47A228E0BCA0}" type="parTrans" cxnId="{B180D5FF-1495-4C1E-BFAC-1E2FDC2B7D72}">
      <dgm:prSet/>
      <dgm:spPr/>
      <dgm:t>
        <a:bodyPr/>
        <a:lstStyle/>
        <a:p>
          <a:endParaRPr lang="en-GB" b="1"/>
        </a:p>
      </dgm:t>
    </dgm:pt>
    <dgm:pt modelId="{330EC24C-25A9-4C66-8365-E1107B42B878}" type="sibTrans" cxnId="{B180D5FF-1495-4C1E-BFAC-1E2FDC2B7D72}">
      <dgm:prSet/>
      <dgm:spPr/>
      <dgm:t>
        <a:bodyPr/>
        <a:lstStyle/>
        <a:p>
          <a:endParaRPr lang="en-GB" b="1"/>
        </a:p>
      </dgm:t>
    </dgm:pt>
    <dgm:pt modelId="{D1DDD503-98C9-48BE-957A-280A5530C893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100" b="0" i="0" dirty="0"/>
            <a:t>Static, demographic-based segmentation fails to capture real-time behaviour, leading to wasteful marketing spend and declining retention</a:t>
          </a:r>
          <a:endParaRPr lang="en-GB" sz="2100" b="0" dirty="0"/>
        </a:p>
      </dgm:t>
    </dgm:pt>
    <dgm:pt modelId="{D9715A6C-6951-491E-9537-2FC1E02E1C79}" type="parTrans" cxnId="{66884EA6-8B03-4709-9EF2-83C50FC67623}">
      <dgm:prSet/>
      <dgm:spPr/>
      <dgm:t>
        <a:bodyPr/>
        <a:lstStyle/>
        <a:p>
          <a:endParaRPr lang="en-GB" b="1"/>
        </a:p>
      </dgm:t>
    </dgm:pt>
    <dgm:pt modelId="{0BB57E6D-E4A9-488B-91CE-9F9ECE15DC1D}" type="sibTrans" cxnId="{66884EA6-8B03-4709-9EF2-83C50FC67623}">
      <dgm:prSet/>
      <dgm:spPr/>
      <dgm:t>
        <a:bodyPr/>
        <a:lstStyle/>
        <a:p>
          <a:endParaRPr lang="en-GB" b="1"/>
        </a:p>
      </dgm:t>
    </dgm:pt>
    <dgm:pt modelId="{5E9BDB71-7F3F-4314-8327-2D485DCA0B9A}">
      <dgm:prSet phldrT="[Text]" phldr="0"/>
      <dgm:spPr/>
      <dgm:t>
        <a:bodyPr/>
        <a:lstStyle/>
        <a:p>
          <a:r>
            <a:rPr lang="en-GB" b="1" dirty="0">
              <a:solidFill>
                <a:schemeClr val="accent6">
                  <a:lumMod val="50000"/>
                </a:schemeClr>
              </a:solidFill>
            </a:rPr>
            <a:t>Solution</a:t>
          </a:r>
        </a:p>
      </dgm:t>
    </dgm:pt>
    <dgm:pt modelId="{9C552117-1F0A-4AE0-809F-E4E458C6BB85}" type="parTrans" cxnId="{8C75AB06-C542-405C-815E-EFA0DFC02A26}">
      <dgm:prSet/>
      <dgm:spPr/>
      <dgm:t>
        <a:bodyPr/>
        <a:lstStyle/>
        <a:p>
          <a:endParaRPr lang="en-GB" b="1"/>
        </a:p>
      </dgm:t>
    </dgm:pt>
    <dgm:pt modelId="{642830FD-D148-4453-8768-0607B9F5B1C2}" type="sibTrans" cxnId="{8C75AB06-C542-405C-815E-EFA0DFC02A26}">
      <dgm:prSet/>
      <dgm:spPr/>
      <dgm:t>
        <a:bodyPr/>
        <a:lstStyle/>
        <a:p>
          <a:endParaRPr lang="en-GB" b="1"/>
        </a:p>
      </dgm:t>
    </dgm:pt>
    <dgm:pt modelId="{B2DD331C-89FB-4DEC-ADBD-53278C47C6AE}">
      <dgm:prSet phldrT="[Text]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b="0" i="0" dirty="0"/>
            <a:t>Implement AI-powered RFMT-D segmentation (using K-means) to dynamically categorize customers based on behavioural patterns (Recency, Frequency, Monetary, Time, and Diversity).</a:t>
          </a:r>
          <a:endParaRPr lang="en-GB" b="0" dirty="0"/>
        </a:p>
      </dgm:t>
    </dgm:pt>
    <dgm:pt modelId="{36B5C0CA-4A46-4EF0-BC91-121A8DEA22D7}" type="parTrans" cxnId="{D0E1BA2B-B935-42DF-A894-96FB8DB619F8}">
      <dgm:prSet/>
      <dgm:spPr/>
      <dgm:t>
        <a:bodyPr/>
        <a:lstStyle/>
        <a:p>
          <a:endParaRPr lang="en-GB" b="1"/>
        </a:p>
      </dgm:t>
    </dgm:pt>
    <dgm:pt modelId="{9D851001-75E1-414F-A708-3C6B603B16DF}" type="sibTrans" cxnId="{D0E1BA2B-B935-42DF-A894-96FB8DB619F8}">
      <dgm:prSet/>
      <dgm:spPr/>
      <dgm:t>
        <a:bodyPr/>
        <a:lstStyle/>
        <a:p>
          <a:endParaRPr lang="en-GB" b="1"/>
        </a:p>
      </dgm:t>
    </dgm:pt>
    <dgm:pt modelId="{94C72663-A202-469D-B3D9-EF624851B578}">
      <dgm:prSet phldrT="[Text]" phldr="0"/>
      <dgm:spPr/>
      <dgm:t>
        <a:bodyPr/>
        <a:lstStyle/>
        <a:p>
          <a:r>
            <a:rPr lang="en-GB" b="1" dirty="0">
              <a:solidFill>
                <a:schemeClr val="accent6">
                  <a:lumMod val="50000"/>
                </a:schemeClr>
              </a:solidFill>
            </a:rPr>
            <a:t>Impact</a:t>
          </a:r>
        </a:p>
      </dgm:t>
    </dgm:pt>
    <dgm:pt modelId="{C74E020C-50E8-464F-834C-622D06163BF2}" type="parTrans" cxnId="{69ED3E6A-C843-4E08-A2E4-0CC6AE0CBE8C}">
      <dgm:prSet/>
      <dgm:spPr/>
      <dgm:t>
        <a:bodyPr/>
        <a:lstStyle/>
        <a:p>
          <a:endParaRPr lang="en-GB" b="1"/>
        </a:p>
      </dgm:t>
    </dgm:pt>
    <dgm:pt modelId="{91FF5A63-B8BE-41EA-BED5-A9D54F2DC383}" type="sibTrans" cxnId="{69ED3E6A-C843-4E08-A2E4-0CC6AE0CBE8C}">
      <dgm:prSet/>
      <dgm:spPr/>
      <dgm:t>
        <a:bodyPr/>
        <a:lstStyle/>
        <a:p>
          <a:endParaRPr lang="en-GB" b="1"/>
        </a:p>
      </dgm:t>
    </dgm:pt>
    <dgm:pt modelId="{DFDD6E30-08A0-4D28-B74B-76EB8DEB742C}">
      <dgm:prSet phldrT="[Text]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b="0" i="0" dirty="0"/>
            <a:t>Approval for Phase 1 (Data Integration) to begin pilot targeting in 60 days. </a:t>
          </a:r>
          <a:endParaRPr lang="en-GB" b="0" dirty="0"/>
        </a:p>
      </dgm:t>
    </dgm:pt>
    <dgm:pt modelId="{61373F15-DF05-4C74-94CA-586848234AF5}" type="parTrans" cxnId="{653C5BAD-3D87-4937-8EF7-02735E30B732}">
      <dgm:prSet/>
      <dgm:spPr/>
      <dgm:t>
        <a:bodyPr/>
        <a:lstStyle/>
        <a:p>
          <a:endParaRPr lang="en-GB" b="1"/>
        </a:p>
      </dgm:t>
    </dgm:pt>
    <dgm:pt modelId="{B04BA145-3A23-40BC-90AF-317081101D3C}" type="sibTrans" cxnId="{653C5BAD-3D87-4937-8EF7-02735E30B732}">
      <dgm:prSet/>
      <dgm:spPr/>
      <dgm:t>
        <a:bodyPr/>
        <a:lstStyle/>
        <a:p>
          <a:endParaRPr lang="en-GB" b="1"/>
        </a:p>
      </dgm:t>
    </dgm:pt>
    <dgm:pt modelId="{77B6438E-B7F6-4DD3-B6D6-5710D129507A}">
      <dgm:prSet phldrT="[Text]" phldr="0"/>
      <dgm:spPr/>
      <dgm:t>
        <a:bodyPr/>
        <a:lstStyle/>
        <a:p>
          <a:r>
            <a:rPr lang="en-GB" b="1" dirty="0">
              <a:solidFill>
                <a:schemeClr val="accent6">
                  <a:lumMod val="50000"/>
                </a:schemeClr>
              </a:solidFill>
            </a:rPr>
            <a:t>The Ask</a:t>
          </a:r>
        </a:p>
      </dgm:t>
    </dgm:pt>
    <dgm:pt modelId="{5908F903-8C2E-4A03-9EE3-C78ECF51E1CF}" type="parTrans" cxnId="{D091DB56-8B6D-4BBA-8B7D-98312171D362}">
      <dgm:prSet/>
      <dgm:spPr/>
      <dgm:t>
        <a:bodyPr/>
        <a:lstStyle/>
        <a:p>
          <a:endParaRPr lang="en-GB" b="1"/>
        </a:p>
      </dgm:t>
    </dgm:pt>
    <dgm:pt modelId="{110DEC0D-D66B-4BF1-B23E-A56DF1CD1AE4}" type="sibTrans" cxnId="{D091DB56-8B6D-4BBA-8B7D-98312171D362}">
      <dgm:prSet/>
      <dgm:spPr/>
      <dgm:t>
        <a:bodyPr/>
        <a:lstStyle/>
        <a:p>
          <a:endParaRPr lang="en-GB" b="1"/>
        </a:p>
      </dgm:t>
    </dgm:pt>
    <dgm:pt modelId="{9083BB0F-8C4E-464F-A0B8-EBE3E79CADF7}">
      <dgm:prSet phldrT="[Text]" phldr="0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b="0" i="0" dirty="0"/>
            <a:t>30% higher conversion rates, 15–20% churn reduction, and improved customer lifetime value (CLV).</a:t>
          </a:r>
          <a:endParaRPr lang="en-GB" b="0" dirty="0"/>
        </a:p>
      </dgm:t>
    </dgm:pt>
    <dgm:pt modelId="{610F3246-DFCB-4DBA-930B-BF8D85E04BF3}" type="parTrans" cxnId="{ED363E78-B0C5-4F24-AF16-AAFB132A4855}">
      <dgm:prSet/>
      <dgm:spPr/>
      <dgm:t>
        <a:bodyPr/>
        <a:lstStyle/>
        <a:p>
          <a:endParaRPr lang="en-GB" b="1"/>
        </a:p>
      </dgm:t>
    </dgm:pt>
    <dgm:pt modelId="{A141C19B-E574-49EE-B8C8-28859EB4DF30}" type="sibTrans" cxnId="{ED363E78-B0C5-4F24-AF16-AAFB132A4855}">
      <dgm:prSet/>
      <dgm:spPr/>
      <dgm:t>
        <a:bodyPr/>
        <a:lstStyle/>
        <a:p>
          <a:endParaRPr lang="en-GB" b="1"/>
        </a:p>
      </dgm:t>
    </dgm:pt>
    <dgm:pt modelId="{AD78948D-7E7D-4840-902A-C335961DDECD}" type="pres">
      <dgm:prSet presAssocID="{90125947-7CD7-4976-8378-268EEED7225B}" presName="linearFlow" presStyleCnt="0">
        <dgm:presLayoutVars>
          <dgm:dir/>
          <dgm:animLvl val="lvl"/>
          <dgm:resizeHandles val="exact"/>
        </dgm:presLayoutVars>
      </dgm:prSet>
      <dgm:spPr/>
    </dgm:pt>
    <dgm:pt modelId="{2D30749F-FC82-4513-9A70-E33C689885B1}" type="pres">
      <dgm:prSet presAssocID="{563827B9-2FC5-4A8D-8325-A2E31C87CBB7}" presName="composite" presStyleCnt="0"/>
      <dgm:spPr/>
    </dgm:pt>
    <dgm:pt modelId="{5E06CD77-7B0F-4F1C-9A1C-60E48B8BC2DF}" type="pres">
      <dgm:prSet presAssocID="{563827B9-2FC5-4A8D-8325-A2E31C87CBB7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0C950F6C-9ABF-4EB3-A3D6-AAF7702C8581}" type="pres">
      <dgm:prSet presAssocID="{563827B9-2FC5-4A8D-8325-A2E31C87CBB7}" presName="descendantText" presStyleLbl="alignAcc1" presStyleIdx="0" presStyleCnt="4" custLinFactNeighborX="1409" custLinFactNeighborY="-40278">
        <dgm:presLayoutVars>
          <dgm:bulletEnabled val="1"/>
        </dgm:presLayoutVars>
      </dgm:prSet>
      <dgm:spPr/>
    </dgm:pt>
    <dgm:pt modelId="{2DBDC60C-48CD-4727-BFB5-2CCDE2C343D0}" type="pres">
      <dgm:prSet presAssocID="{330EC24C-25A9-4C66-8365-E1107B42B878}" presName="sp" presStyleCnt="0"/>
      <dgm:spPr/>
    </dgm:pt>
    <dgm:pt modelId="{31706638-75FA-403B-BF41-6C70A40C71D1}" type="pres">
      <dgm:prSet presAssocID="{5E9BDB71-7F3F-4314-8327-2D485DCA0B9A}" presName="composite" presStyleCnt="0"/>
      <dgm:spPr/>
    </dgm:pt>
    <dgm:pt modelId="{CCE83A06-08BF-498D-8408-E56C9B531DCC}" type="pres">
      <dgm:prSet presAssocID="{5E9BDB71-7F3F-4314-8327-2D485DCA0B9A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3135D7C3-4A2F-41E7-A543-741F1705857C}" type="pres">
      <dgm:prSet presAssocID="{5E9BDB71-7F3F-4314-8327-2D485DCA0B9A}" presName="descendantText" presStyleLbl="alignAcc1" presStyleIdx="1" presStyleCnt="4">
        <dgm:presLayoutVars>
          <dgm:bulletEnabled val="1"/>
        </dgm:presLayoutVars>
      </dgm:prSet>
      <dgm:spPr/>
    </dgm:pt>
    <dgm:pt modelId="{A3B96C28-668A-4FE4-91B8-1651646A9F21}" type="pres">
      <dgm:prSet presAssocID="{642830FD-D148-4453-8768-0607B9F5B1C2}" presName="sp" presStyleCnt="0"/>
      <dgm:spPr/>
    </dgm:pt>
    <dgm:pt modelId="{4A707FE9-DDD1-4022-B747-67BCA6256259}" type="pres">
      <dgm:prSet presAssocID="{94C72663-A202-469D-B3D9-EF624851B578}" presName="composite" presStyleCnt="0"/>
      <dgm:spPr/>
    </dgm:pt>
    <dgm:pt modelId="{74B5AC58-AC14-4F7C-8178-D29C64828818}" type="pres">
      <dgm:prSet presAssocID="{94C72663-A202-469D-B3D9-EF624851B57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3CE5B6DA-AF6F-4983-ACF2-13E061209560}" type="pres">
      <dgm:prSet presAssocID="{94C72663-A202-469D-B3D9-EF624851B578}" presName="descendantText" presStyleLbl="alignAcc1" presStyleIdx="2" presStyleCnt="4">
        <dgm:presLayoutVars>
          <dgm:bulletEnabled val="1"/>
        </dgm:presLayoutVars>
      </dgm:prSet>
      <dgm:spPr/>
    </dgm:pt>
    <dgm:pt modelId="{DF2F5E61-2675-4BA7-A26E-EC0501F6112E}" type="pres">
      <dgm:prSet presAssocID="{91FF5A63-B8BE-41EA-BED5-A9D54F2DC383}" presName="sp" presStyleCnt="0"/>
      <dgm:spPr/>
    </dgm:pt>
    <dgm:pt modelId="{AF1FFCB0-DADC-490A-873F-BCAB5930B37D}" type="pres">
      <dgm:prSet presAssocID="{77B6438E-B7F6-4DD3-B6D6-5710D129507A}" presName="composite" presStyleCnt="0"/>
      <dgm:spPr/>
    </dgm:pt>
    <dgm:pt modelId="{FD511415-5A89-4C23-9F77-13ED51A88A16}" type="pres">
      <dgm:prSet presAssocID="{77B6438E-B7F6-4DD3-B6D6-5710D129507A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F3439C5-AFB5-4F3E-B0ED-C20FC6E0A037}" type="pres">
      <dgm:prSet presAssocID="{77B6438E-B7F6-4DD3-B6D6-5710D129507A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C75AB06-C542-405C-815E-EFA0DFC02A26}" srcId="{90125947-7CD7-4976-8378-268EEED7225B}" destId="{5E9BDB71-7F3F-4314-8327-2D485DCA0B9A}" srcOrd="1" destOrd="0" parTransId="{9C552117-1F0A-4AE0-809F-E4E458C6BB85}" sibTransId="{642830FD-D148-4453-8768-0607B9F5B1C2}"/>
    <dgm:cxn modelId="{B7B9EC08-2924-428F-A6E4-876F1C03DE54}" type="presOf" srcId="{D1DDD503-98C9-48BE-957A-280A5530C893}" destId="{0C950F6C-9ABF-4EB3-A3D6-AAF7702C8581}" srcOrd="0" destOrd="0" presId="urn:microsoft.com/office/officeart/2005/8/layout/chevron2"/>
    <dgm:cxn modelId="{D0E1BA2B-B935-42DF-A894-96FB8DB619F8}" srcId="{5E9BDB71-7F3F-4314-8327-2D485DCA0B9A}" destId="{B2DD331C-89FB-4DEC-ADBD-53278C47C6AE}" srcOrd="0" destOrd="0" parTransId="{36B5C0CA-4A46-4EF0-BC91-121A8DEA22D7}" sibTransId="{9D851001-75E1-414F-A708-3C6B603B16DF}"/>
    <dgm:cxn modelId="{F729E12C-D40C-42B1-8478-0EACF40B3D77}" type="presOf" srcId="{B2DD331C-89FB-4DEC-ADBD-53278C47C6AE}" destId="{3135D7C3-4A2F-41E7-A543-741F1705857C}" srcOrd="0" destOrd="0" presId="urn:microsoft.com/office/officeart/2005/8/layout/chevron2"/>
    <dgm:cxn modelId="{4923C332-186A-4670-8E7D-4ECA02245D61}" type="presOf" srcId="{77B6438E-B7F6-4DD3-B6D6-5710D129507A}" destId="{FD511415-5A89-4C23-9F77-13ED51A88A16}" srcOrd="0" destOrd="0" presId="urn:microsoft.com/office/officeart/2005/8/layout/chevron2"/>
    <dgm:cxn modelId="{69ED3E6A-C843-4E08-A2E4-0CC6AE0CBE8C}" srcId="{90125947-7CD7-4976-8378-268EEED7225B}" destId="{94C72663-A202-469D-B3D9-EF624851B578}" srcOrd="2" destOrd="0" parTransId="{C74E020C-50E8-464F-834C-622D06163BF2}" sibTransId="{91FF5A63-B8BE-41EA-BED5-A9D54F2DC383}"/>
    <dgm:cxn modelId="{D091DB56-8B6D-4BBA-8B7D-98312171D362}" srcId="{90125947-7CD7-4976-8378-268EEED7225B}" destId="{77B6438E-B7F6-4DD3-B6D6-5710D129507A}" srcOrd="3" destOrd="0" parTransId="{5908F903-8C2E-4A03-9EE3-C78ECF51E1CF}" sibTransId="{110DEC0D-D66B-4BF1-B23E-A56DF1CD1AE4}"/>
    <dgm:cxn modelId="{ED363E78-B0C5-4F24-AF16-AAFB132A4855}" srcId="{94C72663-A202-469D-B3D9-EF624851B578}" destId="{9083BB0F-8C4E-464F-A0B8-EBE3E79CADF7}" srcOrd="0" destOrd="0" parTransId="{610F3246-DFCB-4DBA-930B-BF8D85E04BF3}" sibTransId="{A141C19B-E574-49EE-B8C8-28859EB4DF30}"/>
    <dgm:cxn modelId="{97E7DAA5-5471-488D-8AE9-668EB931F56B}" type="presOf" srcId="{9083BB0F-8C4E-464F-A0B8-EBE3E79CADF7}" destId="{3CE5B6DA-AF6F-4983-ACF2-13E061209560}" srcOrd="0" destOrd="0" presId="urn:microsoft.com/office/officeart/2005/8/layout/chevron2"/>
    <dgm:cxn modelId="{66884EA6-8B03-4709-9EF2-83C50FC67623}" srcId="{563827B9-2FC5-4A8D-8325-A2E31C87CBB7}" destId="{D1DDD503-98C9-48BE-957A-280A5530C893}" srcOrd="0" destOrd="0" parTransId="{D9715A6C-6951-491E-9537-2FC1E02E1C79}" sibTransId="{0BB57E6D-E4A9-488B-91CE-9F9ECE15DC1D}"/>
    <dgm:cxn modelId="{653C5BAD-3D87-4937-8EF7-02735E30B732}" srcId="{77B6438E-B7F6-4DD3-B6D6-5710D129507A}" destId="{DFDD6E30-08A0-4D28-B74B-76EB8DEB742C}" srcOrd="0" destOrd="0" parTransId="{61373F15-DF05-4C74-94CA-586848234AF5}" sibTransId="{B04BA145-3A23-40BC-90AF-317081101D3C}"/>
    <dgm:cxn modelId="{D7E04EAD-C24C-4797-9B67-AFA78820571E}" type="presOf" srcId="{90125947-7CD7-4976-8378-268EEED7225B}" destId="{AD78948D-7E7D-4840-902A-C335961DDECD}" srcOrd="0" destOrd="0" presId="urn:microsoft.com/office/officeart/2005/8/layout/chevron2"/>
    <dgm:cxn modelId="{D3C640B1-0970-4D02-85B2-6518BBC5A9B2}" type="presOf" srcId="{563827B9-2FC5-4A8D-8325-A2E31C87CBB7}" destId="{5E06CD77-7B0F-4F1C-9A1C-60E48B8BC2DF}" srcOrd="0" destOrd="0" presId="urn:microsoft.com/office/officeart/2005/8/layout/chevron2"/>
    <dgm:cxn modelId="{C593EED7-0521-4477-A7AC-64F080425BFD}" type="presOf" srcId="{94C72663-A202-469D-B3D9-EF624851B578}" destId="{74B5AC58-AC14-4F7C-8178-D29C64828818}" srcOrd="0" destOrd="0" presId="urn:microsoft.com/office/officeart/2005/8/layout/chevron2"/>
    <dgm:cxn modelId="{2D2686EA-F901-4492-ABA4-2A664DD73F75}" type="presOf" srcId="{5E9BDB71-7F3F-4314-8327-2D485DCA0B9A}" destId="{CCE83A06-08BF-498D-8408-E56C9B531DCC}" srcOrd="0" destOrd="0" presId="urn:microsoft.com/office/officeart/2005/8/layout/chevron2"/>
    <dgm:cxn modelId="{332E14FB-9A42-41E3-93DD-CEDEC84DF8DD}" type="presOf" srcId="{DFDD6E30-08A0-4D28-B74B-76EB8DEB742C}" destId="{CF3439C5-AFB5-4F3E-B0ED-C20FC6E0A037}" srcOrd="0" destOrd="0" presId="urn:microsoft.com/office/officeart/2005/8/layout/chevron2"/>
    <dgm:cxn modelId="{B180D5FF-1495-4C1E-BFAC-1E2FDC2B7D72}" srcId="{90125947-7CD7-4976-8378-268EEED7225B}" destId="{563827B9-2FC5-4A8D-8325-A2E31C87CBB7}" srcOrd="0" destOrd="0" parTransId="{D29A3F1D-014E-4E75-BB87-47A228E0BCA0}" sibTransId="{330EC24C-25A9-4C66-8365-E1107B42B878}"/>
    <dgm:cxn modelId="{F81B6B68-2C89-4BC3-BD45-54DD7820E8B3}" type="presParOf" srcId="{AD78948D-7E7D-4840-902A-C335961DDECD}" destId="{2D30749F-FC82-4513-9A70-E33C689885B1}" srcOrd="0" destOrd="0" presId="urn:microsoft.com/office/officeart/2005/8/layout/chevron2"/>
    <dgm:cxn modelId="{950A7407-E74A-46C1-BC70-98E7113F076E}" type="presParOf" srcId="{2D30749F-FC82-4513-9A70-E33C689885B1}" destId="{5E06CD77-7B0F-4F1C-9A1C-60E48B8BC2DF}" srcOrd="0" destOrd="0" presId="urn:microsoft.com/office/officeart/2005/8/layout/chevron2"/>
    <dgm:cxn modelId="{5EB262E5-01B5-4D4F-8DEE-6563C6EEBB4A}" type="presParOf" srcId="{2D30749F-FC82-4513-9A70-E33C689885B1}" destId="{0C950F6C-9ABF-4EB3-A3D6-AAF7702C8581}" srcOrd="1" destOrd="0" presId="urn:microsoft.com/office/officeart/2005/8/layout/chevron2"/>
    <dgm:cxn modelId="{451B124F-7D25-4781-80D2-D0E93B66D532}" type="presParOf" srcId="{AD78948D-7E7D-4840-902A-C335961DDECD}" destId="{2DBDC60C-48CD-4727-BFB5-2CCDE2C343D0}" srcOrd="1" destOrd="0" presId="urn:microsoft.com/office/officeart/2005/8/layout/chevron2"/>
    <dgm:cxn modelId="{7D005B55-8272-475A-A0A7-F569503924F7}" type="presParOf" srcId="{AD78948D-7E7D-4840-902A-C335961DDECD}" destId="{31706638-75FA-403B-BF41-6C70A40C71D1}" srcOrd="2" destOrd="0" presId="urn:microsoft.com/office/officeart/2005/8/layout/chevron2"/>
    <dgm:cxn modelId="{B8BB51EA-8842-4B1B-9E17-9E91A244D8A1}" type="presParOf" srcId="{31706638-75FA-403B-BF41-6C70A40C71D1}" destId="{CCE83A06-08BF-498D-8408-E56C9B531DCC}" srcOrd="0" destOrd="0" presId="urn:microsoft.com/office/officeart/2005/8/layout/chevron2"/>
    <dgm:cxn modelId="{34BDF554-D696-403A-907B-1831B095C824}" type="presParOf" srcId="{31706638-75FA-403B-BF41-6C70A40C71D1}" destId="{3135D7C3-4A2F-41E7-A543-741F1705857C}" srcOrd="1" destOrd="0" presId="urn:microsoft.com/office/officeart/2005/8/layout/chevron2"/>
    <dgm:cxn modelId="{7A1F9A17-37F1-457B-90A6-73CBECDA88DB}" type="presParOf" srcId="{AD78948D-7E7D-4840-902A-C335961DDECD}" destId="{A3B96C28-668A-4FE4-91B8-1651646A9F21}" srcOrd="3" destOrd="0" presId="urn:microsoft.com/office/officeart/2005/8/layout/chevron2"/>
    <dgm:cxn modelId="{804F7D6D-344B-4C59-84D4-5EF80E4484AA}" type="presParOf" srcId="{AD78948D-7E7D-4840-902A-C335961DDECD}" destId="{4A707FE9-DDD1-4022-B747-67BCA6256259}" srcOrd="4" destOrd="0" presId="urn:microsoft.com/office/officeart/2005/8/layout/chevron2"/>
    <dgm:cxn modelId="{01407727-2FFD-47B3-9FA8-9D55B0DE81A8}" type="presParOf" srcId="{4A707FE9-DDD1-4022-B747-67BCA6256259}" destId="{74B5AC58-AC14-4F7C-8178-D29C64828818}" srcOrd="0" destOrd="0" presId="urn:microsoft.com/office/officeart/2005/8/layout/chevron2"/>
    <dgm:cxn modelId="{AD315C50-87AA-4C80-BE93-F3EB1C9186A1}" type="presParOf" srcId="{4A707FE9-DDD1-4022-B747-67BCA6256259}" destId="{3CE5B6DA-AF6F-4983-ACF2-13E061209560}" srcOrd="1" destOrd="0" presId="urn:microsoft.com/office/officeart/2005/8/layout/chevron2"/>
    <dgm:cxn modelId="{C87A8EAD-933E-4F42-A2EF-D229FBA97D53}" type="presParOf" srcId="{AD78948D-7E7D-4840-902A-C335961DDECD}" destId="{DF2F5E61-2675-4BA7-A26E-EC0501F6112E}" srcOrd="5" destOrd="0" presId="urn:microsoft.com/office/officeart/2005/8/layout/chevron2"/>
    <dgm:cxn modelId="{606F8D34-EA14-405D-BE10-D8ABDC2CC56F}" type="presParOf" srcId="{AD78948D-7E7D-4840-902A-C335961DDECD}" destId="{AF1FFCB0-DADC-490A-873F-BCAB5930B37D}" srcOrd="6" destOrd="0" presId="urn:microsoft.com/office/officeart/2005/8/layout/chevron2"/>
    <dgm:cxn modelId="{1D041670-7AA1-4D1E-A40C-820E98D47D64}" type="presParOf" srcId="{AF1FFCB0-DADC-490A-873F-BCAB5930B37D}" destId="{FD511415-5A89-4C23-9F77-13ED51A88A16}" srcOrd="0" destOrd="0" presId="urn:microsoft.com/office/officeart/2005/8/layout/chevron2"/>
    <dgm:cxn modelId="{CF97577C-ECE6-452E-898E-6FEDAB7AAE38}" type="presParOf" srcId="{AF1FFCB0-DADC-490A-873F-BCAB5930B37D}" destId="{CF3439C5-AFB5-4F3E-B0ED-C20FC6E0A03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125947-7CD7-4976-8378-268EEED7225B}" type="doc">
      <dgm:prSet loTypeId="urn:microsoft.com/office/officeart/2005/8/layout/arrow4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563827B9-2FC5-4A8D-8325-A2E31C87CBB7}">
      <dgm:prSet phldrT="[Text]" phldr="0" custT="1"/>
      <dgm:spPr/>
      <dgm:t>
        <a:bodyPr/>
        <a:lstStyle/>
        <a:p>
          <a:r>
            <a:rPr lang="en-GB" sz="3500" b="0" i="0" dirty="0"/>
            <a:t>AI-Driven RFMT-D</a:t>
          </a:r>
          <a:endParaRPr lang="en-GB" sz="3500" b="1" dirty="0">
            <a:solidFill>
              <a:schemeClr val="accent6">
                <a:lumMod val="50000"/>
              </a:schemeClr>
            </a:solidFill>
          </a:endParaRPr>
        </a:p>
      </dgm:t>
    </dgm:pt>
    <dgm:pt modelId="{D29A3F1D-014E-4E75-BB87-47A228E0BCA0}" type="parTrans" cxnId="{B180D5FF-1495-4C1E-BFAC-1E2FDC2B7D72}">
      <dgm:prSet/>
      <dgm:spPr/>
      <dgm:t>
        <a:bodyPr/>
        <a:lstStyle/>
        <a:p>
          <a:endParaRPr lang="en-GB" b="1"/>
        </a:p>
      </dgm:t>
    </dgm:pt>
    <dgm:pt modelId="{330EC24C-25A9-4C66-8365-E1107B42B878}" type="sibTrans" cxnId="{B180D5FF-1495-4C1E-BFAC-1E2FDC2B7D72}">
      <dgm:prSet/>
      <dgm:spPr/>
      <dgm:t>
        <a:bodyPr/>
        <a:lstStyle/>
        <a:p>
          <a:endParaRPr lang="en-GB" b="1"/>
        </a:p>
      </dgm:t>
    </dgm:pt>
    <dgm:pt modelId="{D1DDD503-98C9-48BE-957A-280A5530C893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500" b="0" i="0" dirty="0"/>
            <a:t>Real-time analysis, hidden pattern detection</a:t>
          </a:r>
          <a:endParaRPr lang="en-GB" sz="2500" b="0" dirty="0"/>
        </a:p>
      </dgm:t>
    </dgm:pt>
    <dgm:pt modelId="{D9715A6C-6951-491E-9537-2FC1E02E1C79}" type="parTrans" cxnId="{66884EA6-8B03-4709-9EF2-83C50FC67623}">
      <dgm:prSet/>
      <dgm:spPr/>
      <dgm:t>
        <a:bodyPr/>
        <a:lstStyle/>
        <a:p>
          <a:endParaRPr lang="en-GB" b="1"/>
        </a:p>
      </dgm:t>
    </dgm:pt>
    <dgm:pt modelId="{0BB57E6D-E4A9-488B-91CE-9F9ECE15DC1D}" type="sibTrans" cxnId="{66884EA6-8B03-4709-9EF2-83C50FC67623}">
      <dgm:prSet/>
      <dgm:spPr/>
      <dgm:t>
        <a:bodyPr/>
        <a:lstStyle/>
        <a:p>
          <a:endParaRPr lang="en-GB" b="1"/>
        </a:p>
      </dgm:t>
    </dgm:pt>
    <dgm:pt modelId="{5E9BDB71-7F3F-4314-8327-2D485DCA0B9A}">
      <dgm:prSet phldrT="[Text]" phldr="0" custT="1"/>
      <dgm:spPr/>
      <dgm:t>
        <a:bodyPr/>
        <a:lstStyle/>
        <a:p>
          <a:r>
            <a:rPr lang="en-GB" sz="3500" b="1" dirty="0">
              <a:solidFill>
                <a:schemeClr val="accent6">
                  <a:lumMod val="50000"/>
                </a:schemeClr>
              </a:solidFill>
            </a:rPr>
            <a:t>Traditional</a:t>
          </a:r>
        </a:p>
      </dgm:t>
    </dgm:pt>
    <dgm:pt modelId="{9C552117-1F0A-4AE0-809F-E4E458C6BB85}" type="parTrans" cxnId="{8C75AB06-C542-405C-815E-EFA0DFC02A26}">
      <dgm:prSet/>
      <dgm:spPr/>
      <dgm:t>
        <a:bodyPr/>
        <a:lstStyle/>
        <a:p>
          <a:endParaRPr lang="en-GB" b="1"/>
        </a:p>
      </dgm:t>
    </dgm:pt>
    <dgm:pt modelId="{642830FD-D148-4453-8768-0607B9F5B1C2}" type="sibTrans" cxnId="{8C75AB06-C542-405C-815E-EFA0DFC02A26}">
      <dgm:prSet/>
      <dgm:spPr/>
      <dgm:t>
        <a:bodyPr/>
        <a:lstStyle/>
        <a:p>
          <a:endParaRPr lang="en-GB" b="1"/>
        </a:p>
      </dgm:t>
    </dgm:pt>
    <dgm:pt modelId="{B2DD331C-89FB-4DEC-ADBD-53278C47C6AE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500" b="0" i="0" dirty="0"/>
            <a:t>Static, outdated, broad segments</a:t>
          </a:r>
          <a:endParaRPr lang="en-GB" sz="2500" b="0" dirty="0"/>
        </a:p>
      </dgm:t>
    </dgm:pt>
    <dgm:pt modelId="{36B5C0CA-4A46-4EF0-BC91-121A8DEA22D7}" type="parTrans" cxnId="{D0E1BA2B-B935-42DF-A894-96FB8DB619F8}">
      <dgm:prSet/>
      <dgm:spPr/>
      <dgm:t>
        <a:bodyPr/>
        <a:lstStyle/>
        <a:p>
          <a:endParaRPr lang="en-GB" b="1"/>
        </a:p>
      </dgm:t>
    </dgm:pt>
    <dgm:pt modelId="{9D851001-75E1-414F-A708-3C6B603B16DF}" type="sibTrans" cxnId="{D0E1BA2B-B935-42DF-A894-96FB8DB619F8}">
      <dgm:prSet/>
      <dgm:spPr/>
      <dgm:t>
        <a:bodyPr/>
        <a:lstStyle/>
        <a:p>
          <a:endParaRPr lang="en-GB" b="1"/>
        </a:p>
      </dgm:t>
    </dgm:pt>
    <dgm:pt modelId="{94C72663-A202-469D-B3D9-EF624851B578}">
      <dgm:prSet phldrT="[Text]" phldr="0"/>
      <dgm:spPr/>
    </dgm:pt>
    <dgm:pt modelId="{C74E020C-50E8-464F-834C-622D06163BF2}" type="parTrans" cxnId="{69ED3E6A-C843-4E08-A2E4-0CC6AE0CBE8C}">
      <dgm:prSet/>
      <dgm:spPr/>
      <dgm:t>
        <a:bodyPr/>
        <a:lstStyle/>
        <a:p>
          <a:endParaRPr lang="en-GB" b="1"/>
        </a:p>
      </dgm:t>
    </dgm:pt>
    <dgm:pt modelId="{91FF5A63-B8BE-41EA-BED5-A9D54F2DC383}" type="sibTrans" cxnId="{69ED3E6A-C843-4E08-A2E4-0CC6AE0CBE8C}">
      <dgm:prSet/>
      <dgm:spPr/>
      <dgm:t>
        <a:bodyPr/>
        <a:lstStyle/>
        <a:p>
          <a:endParaRPr lang="en-GB" b="1"/>
        </a:p>
      </dgm:t>
    </dgm:pt>
    <dgm:pt modelId="{DFDD6E30-08A0-4D28-B74B-76EB8DEB742C}">
      <dgm:prSet phldrT="[Text]"/>
      <dgm:spPr>
        <a:solidFill>
          <a:schemeClr val="bg2">
            <a:alpha val="90000"/>
          </a:schemeClr>
        </a:solidFill>
      </dgm:spPr>
    </dgm:pt>
    <dgm:pt modelId="{61373F15-DF05-4C74-94CA-586848234AF5}" type="parTrans" cxnId="{653C5BAD-3D87-4937-8EF7-02735E30B732}">
      <dgm:prSet/>
      <dgm:spPr/>
      <dgm:t>
        <a:bodyPr/>
        <a:lstStyle/>
        <a:p>
          <a:endParaRPr lang="en-GB" b="1"/>
        </a:p>
      </dgm:t>
    </dgm:pt>
    <dgm:pt modelId="{B04BA145-3A23-40BC-90AF-317081101D3C}" type="sibTrans" cxnId="{653C5BAD-3D87-4937-8EF7-02735E30B732}">
      <dgm:prSet/>
      <dgm:spPr/>
      <dgm:t>
        <a:bodyPr/>
        <a:lstStyle/>
        <a:p>
          <a:endParaRPr lang="en-GB" b="1"/>
        </a:p>
      </dgm:t>
    </dgm:pt>
    <dgm:pt modelId="{77B6438E-B7F6-4DD3-B6D6-5710D129507A}">
      <dgm:prSet phldrT="[Text]" phldr="0"/>
      <dgm:spPr/>
    </dgm:pt>
    <dgm:pt modelId="{5908F903-8C2E-4A03-9EE3-C78ECF51E1CF}" type="parTrans" cxnId="{D091DB56-8B6D-4BBA-8B7D-98312171D362}">
      <dgm:prSet/>
      <dgm:spPr/>
      <dgm:t>
        <a:bodyPr/>
        <a:lstStyle/>
        <a:p>
          <a:endParaRPr lang="en-GB" b="1"/>
        </a:p>
      </dgm:t>
    </dgm:pt>
    <dgm:pt modelId="{110DEC0D-D66B-4BF1-B23E-A56DF1CD1AE4}" type="sibTrans" cxnId="{D091DB56-8B6D-4BBA-8B7D-98312171D362}">
      <dgm:prSet/>
      <dgm:spPr/>
      <dgm:t>
        <a:bodyPr/>
        <a:lstStyle/>
        <a:p>
          <a:endParaRPr lang="en-GB" b="1"/>
        </a:p>
      </dgm:t>
    </dgm:pt>
    <dgm:pt modelId="{9083BB0F-8C4E-464F-A0B8-EBE3E79CADF7}">
      <dgm:prSet phldrT="[Text]" phldr="0"/>
      <dgm:spPr>
        <a:solidFill>
          <a:schemeClr val="bg2">
            <a:alpha val="90000"/>
          </a:schemeClr>
        </a:solidFill>
      </dgm:spPr>
    </dgm:pt>
    <dgm:pt modelId="{610F3246-DFCB-4DBA-930B-BF8D85E04BF3}" type="parTrans" cxnId="{ED363E78-B0C5-4F24-AF16-AAFB132A4855}">
      <dgm:prSet/>
      <dgm:spPr/>
      <dgm:t>
        <a:bodyPr/>
        <a:lstStyle/>
        <a:p>
          <a:endParaRPr lang="en-GB" b="1"/>
        </a:p>
      </dgm:t>
    </dgm:pt>
    <dgm:pt modelId="{A141C19B-E574-49EE-B8C8-28859EB4DF30}" type="sibTrans" cxnId="{ED363E78-B0C5-4F24-AF16-AAFB132A4855}">
      <dgm:prSet/>
      <dgm:spPr/>
      <dgm:t>
        <a:bodyPr/>
        <a:lstStyle/>
        <a:p>
          <a:endParaRPr lang="en-GB" b="1"/>
        </a:p>
      </dgm:t>
    </dgm:pt>
    <dgm:pt modelId="{2E897E99-EF0F-4CDF-AB16-CAB81D2BB20F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endParaRPr lang="en-GB" sz="800" b="0" i="0" dirty="0"/>
        </a:p>
      </dgm:t>
    </dgm:pt>
    <dgm:pt modelId="{50B15B9F-B3B1-473E-8E36-5645A783F157}" type="parTrans" cxnId="{A1755F1A-9588-4E47-9ECA-457422A160E1}">
      <dgm:prSet/>
      <dgm:spPr/>
      <dgm:t>
        <a:bodyPr/>
        <a:lstStyle/>
        <a:p>
          <a:endParaRPr lang="en-GB"/>
        </a:p>
      </dgm:t>
    </dgm:pt>
    <dgm:pt modelId="{666A9CA6-FDC6-4553-8796-4905F07AD03D}" type="sibTrans" cxnId="{A1755F1A-9588-4E47-9ECA-457422A160E1}">
      <dgm:prSet/>
      <dgm:spPr/>
      <dgm:t>
        <a:bodyPr/>
        <a:lstStyle/>
        <a:p>
          <a:endParaRPr lang="en-GB"/>
        </a:p>
      </dgm:t>
    </dgm:pt>
    <dgm:pt modelId="{BB38B070-58C8-4EFD-A266-8926C45C65AE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500" b="0" i="0" dirty="0"/>
            <a:t>(e.g., "High-spend but declining interaction", </a:t>
          </a:r>
          <a:endParaRPr lang="en-GB" sz="2500" b="0" dirty="0"/>
        </a:p>
      </dgm:t>
    </dgm:pt>
    <dgm:pt modelId="{1B25628F-EA4E-4EB5-9375-23CA1588DEDC}" type="parTrans" cxnId="{F953EC41-DAF3-4225-BAE5-ECCA1E652F22}">
      <dgm:prSet/>
      <dgm:spPr/>
      <dgm:t>
        <a:bodyPr/>
        <a:lstStyle/>
        <a:p>
          <a:endParaRPr lang="en-GB"/>
        </a:p>
      </dgm:t>
    </dgm:pt>
    <dgm:pt modelId="{6FF24B56-B29D-46B3-A602-79F8EA0C9845}" type="sibTrans" cxnId="{F953EC41-DAF3-4225-BAE5-ECCA1E652F22}">
      <dgm:prSet/>
      <dgm:spPr/>
      <dgm:t>
        <a:bodyPr/>
        <a:lstStyle/>
        <a:p>
          <a:endParaRPr lang="en-GB"/>
        </a:p>
      </dgm:t>
    </dgm:pt>
    <dgm:pt modelId="{25ACF0EC-20ED-4CE5-BC18-0FA308735D74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500" b="0" i="0" dirty="0"/>
            <a:t>"Low-spend high-engagement").</a:t>
          </a:r>
          <a:endParaRPr lang="en-GB" sz="2500" b="0" dirty="0"/>
        </a:p>
      </dgm:t>
    </dgm:pt>
    <dgm:pt modelId="{D0BB3421-1DB2-4DC0-8CEE-AE04D592B136}" type="parTrans" cxnId="{83EE7DEF-1640-43E3-92A6-664B3E6C0CA2}">
      <dgm:prSet/>
      <dgm:spPr/>
      <dgm:t>
        <a:bodyPr/>
        <a:lstStyle/>
        <a:p>
          <a:endParaRPr lang="en-GB"/>
        </a:p>
      </dgm:t>
    </dgm:pt>
    <dgm:pt modelId="{88E788C7-520D-4FCB-A53A-B7EFE76A1450}" type="sibTrans" cxnId="{83EE7DEF-1640-43E3-92A6-664B3E6C0CA2}">
      <dgm:prSet/>
      <dgm:spPr/>
      <dgm:t>
        <a:bodyPr/>
        <a:lstStyle/>
        <a:p>
          <a:endParaRPr lang="en-GB"/>
        </a:p>
      </dgm:t>
    </dgm:pt>
    <dgm:pt modelId="{ADE3AAB1-4B75-4F48-B056-08E8F5A5D15B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1600" b="0" i="0" dirty="0"/>
            <a:t>Frequency: How often do they buy?</a:t>
          </a:r>
        </a:p>
      </dgm:t>
    </dgm:pt>
    <dgm:pt modelId="{A018D0EF-B723-406E-8D81-80C801C9CC88}" type="parTrans" cxnId="{A623EA33-9360-4E3A-8B0B-CE0FB7B9BDAB}">
      <dgm:prSet/>
      <dgm:spPr/>
      <dgm:t>
        <a:bodyPr/>
        <a:lstStyle/>
        <a:p>
          <a:endParaRPr lang="en-GB"/>
        </a:p>
      </dgm:t>
    </dgm:pt>
    <dgm:pt modelId="{29CEBC92-074D-43F6-869A-F0A1F699616F}" type="sibTrans" cxnId="{A623EA33-9360-4E3A-8B0B-CE0FB7B9BDAB}">
      <dgm:prSet/>
      <dgm:spPr/>
      <dgm:t>
        <a:bodyPr/>
        <a:lstStyle/>
        <a:p>
          <a:endParaRPr lang="en-GB"/>
        </a:p>
      </dgm:t>
    </dgm:pt>
    <dgm:pt modelId="{E5473E42-0DF3-4AC6-A63C-4411727F4CAD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1600" b="0" i="0" dirty="0"/>
            <a:t>Monetary: How much do they spend?</a:t>
          </a:r>
        </a:p>
      </dgm:t>
    </dgm:pt>
    <dgm:pt modelId="{85997F8D-3921-438F-832E-A4E8365D5269}" type="parTrans" cxnId="{1C5B63A3-35D5-47DA-9975-76FB02982D66}">
      <dgm:prSet/>
      <dgm:spPr/>
      <dgm:t>
        <a:bodyPr/>
        <a:lstStyle/>
        <a:p>
          <a:endParaRPr lang="en-GB"/>
        </a:p>
      </dgm:t>
    </dgm:pt>
    <dgm:pt modelId="{C5BC9225-CED0-40C4-BBE6-B3D6A57A1059}" type="sibTrans" cxnId="{1C5B63A3-35D5-47DA-9975-76FB02982D66}">
      <dgm:prSet/>
      <dgm:spPr/>
      <dgm:t>
        <a:bodyPr/>
        <a:lstStyle/>
        <a:p>
          <a:endParaRPr lang="en-GB"/>
        </a:p>
      </dgm:t>
    </dgm:pt>
    <dgm:pt modelId="{7C2E2095-539D-4A18-BFE6-6C4F833B3FC1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1600" b="0" i="0" dirty="0"/>
            <a:t>Time: Time since last session/interaction?</a:t>
          </a:r>
        </a:p>
      </dgm:t>
    </dgm:pt>
    <dgm:pt modelId="{E6D745CF-A309-438F-9218-774C0BEA5FA0}" type="parTrans" cxnId="{8074F5FD-2232-4670-BC82-F281BAE4C9D2}">
      <dgm:prSet/>
      <dgm:spPr/>
      <dgm:t>
        <a:bodyPr/>
        <a:lstStyle/>
        <a:p>
          <a:endParaRPr lang="en-GB"/>
        </a:p>
      </dgm:t>
    </dgm:pt>
    <dgm:pt modelId="{523C2883-BBB5-48CA-824B-8CAD3C7BB069}" type="sibTrans" cxnId="{8074F5FD-2232-4670-BC82-F281BAE4C9D2}">
      <dgm:prSet/>
      <dgm:spPr/>
      <dgm:t>
        <a:bodyPr/>
        <a:lstStyle/>
        <a:p>
          <a:endParaRPr lang="en-GB"/>
        </a:p>
      </dgm:t>
    </dgm:pt>
    <dgm:pt modelId="{E9FB13E7-1C4F-41CA-9654-259B6F4FC25E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1600" b="0" i="0" dirty="0"/>
            <a:t>Diversity: How many distinct products were purchased?</a:t>
          </a:r>
        </a:p>
      </dgm:t>
    </dgm:pt>
    <dgm:pt modelId="{A6E2445B-4559-4A9F-AAE6-63944479E4D1}" type="parTrans" cxnId="{22B49606-F2CE-4ED1-963A-D7C189E81C64}">
      <dgm:prSet/>
      <dgm:spPr/>
      <dgm:t>
        <a:bodyPr/>
        <a:lstStyle/>
        <a:p>
          <a:endParaRPr lang="en-GB"/>
        </a:p>
      </dgm:t>
    </dgm:pt>
    <dgm:pt modelId="{4BCA3FEE-0CB9-488E-B13C-DD644210EE35}" type="sibTrans" cxnId="{22B49606-F2CE-4ED1-963A-D7C189E81C64}">
      <dgm:prSet/>
      <dgm:spPr/>
      <dgm:t>
        <a:bodyPr/>
        <a:lstStyle/>
        <a:p>
          <a:endParaRPr lang="en-GB"/>
        </a:p>
      </dgm:t>
    </dgm:pt>
    <dgm:pt modelId="{AF1F5576-70FE-4842-A6A0-BBD4E60ACF27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1600" b="0" i="0" dirty="0"/>
            <a:t>Recency: How recently did they buy?</a:t>
          </a:r>
        </a:p>
      </dgm:t>
    </dgm:pt>
    <dgm:pt modelId="{83ABCD29-111B-4BB8-9AB2-9EC846A85402}" type="parTrans" cxnId="{A5196BB2-FAA8-4B1D-A9A2-AB2CB08EC335}">
      <dgm:prSet/>
      <dgm:spPr/>
      <dgm:t>
        <a:bodyPr/>
        <a:lstStyle/>
        <a:p>
          <a:endParaRPr lang="en-GB"/>
        </a:p>
      </dgm:t>
    </dgm:pt>
    <dgm:pt modelId="{C87FC966-AF68-4A76-AF9A-8F220DF90037}" type="sibTrans" cxnId="{A5196BB2-FAA8-4B1D-A9A2-AB2CB08EC335}">
      <dgm:prSet/>
      <dgm:spPr/>
      <dgm:t>
        <a:bodyPr/>
        <a:lstStyle/>
        <a:p>
          <a:endParaRPr lang="en-GB"/>
        </a:p>
      </dgm:t>
    </dgm:pt>
    <dgm:pt modelId="{2ECC9C28-8CDB-4EF9-AB77-0E6635E11B7A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500" b="0" i="0" dirty="0"/>
            <a:t>(e.g., "Age 25-35", "Bought last 6 months").</a:t>
          </a:r>
          <a:endParaRPr lang="en-GB" sz="2500" b="0" dirty="0"/>
        </a:p>
      </dgm:t>
    </dgm:pt>
    <dgm:pt modelId="{24EE2348-65E6-4605-91B6-5EDB0140D479}" type="parTrans" cxnId="{0E530C94-6771-4958-BC26-C6C485FC7BEE}">
      <dgm:prSet/>
      <dgm:spPr/>
    </dgm:pt>
    <dgm:pt modelId="{6BC435BE-9AA5-46BD-923A-B701977CC71E}" type="sibTrans" cxnId="{0E530C94-6771-4958-BC26-C6C485FC7BEE}">
      <dgm:prSet/>
      <dgm:spPr/>
    </dgm:pt>
    <dgm:pt modelId="{13E1BAB4-48B9-43EA-8CA6-F47E2EF2D1C0}" type="pres">
      <dgm:prSet presAssocID="{90125947-7CD7-4976-8378-268EEED7225B}" presName="compositeShape" presStyleCnt="0">
        <dgm:presLayoutVars>
          <dgm:chMax val="2"/>
          <dgm:dir/>
          <dgm:resizeHandles val="exact"/>
        </dgm:presLayoutVars>
      </dgm:prSet>
      <dgm:spPr/>
    </dgm:pt>
    <dgm:pt modelId="{A9E4ED22-9FD6-49A8-BD10-F0AB0D19868B}" type="pres">
      <dgm:prSet presAssocID="{563827B9-2FC5-4A8D-8325-A2E31C87CBB7}" presName="upArrow" presStyleLbl="node1" presStyleIdx="0" presStyleCnt="2"/>
      <dgm:spPr/>
    </dgm:pt>
    <dgm:pt modelId="{D17E5934-A337-45A9-9546-83EC11E596DB}" type="pres">
      <dgm:prSet presAssocID="{563827B9-2FC5-4A8D-8325-A2E31C87CBB7}" presName="upArrowText" presStyleLbl="revTx" presStyleIdx="0" presStyleCnt="2" custScaleX="119473" custLinFactNeighborX="7594" custLinFactNeighborY="16544">
        <dgm:presLayoutVars>
          <dgm:chMax val="0"/>
          <dgm:bulletEnabled val="1"/>
        </dgm:presLayoutVars>
      </dgm:prSet>
      <dgm:spPr/>
    </dgm:pt>
    <dgm:pt modelId="{A539DD69-08CB-4350-9D12-8BA5B90E9456}" type="pres">
      <dgm:prSet presAssocID="{5E9BDB71-7F3F-4314-8327-2D485DCA0B9A}" presName="downArrow" presStyleLbl="node1" presStyleIdx="1" presStyleCnt="2"/>
      <dgm:spPr/>
    </dgm:pt>
    <dgm:pt modelId="{217E9A00-A136-4817-9B27-39D3869CE904}" type="pres">
      <dgm:prSet presAssocID="{5E9BDB71-7F3F-4314-8327-2D485DCA0B9A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3289F702-18CF-4B4E-882D-A1C2B7604A65}" type="presOf" srcId="{BB38B070-58C8-4EFD-A266-8926C45C65AE}" destId="{D17E5934-A337-45A9-9546-83EC11E596DB}" srcOrd="0" destOrd="2" presId="urn:microsoft.com/office/officeart/2005/8/layout/arrow4"/>
    <dgm:cxn modelId="{22B49606-F2CE-4ED1-963A-D7C189E81C64}" srcId="{25ACF0EC-20ED-4CE5-BC18-0FA308735D74}" destId="{E9FB13E7-1C4F-41CA-9654-259B6F4FC25E}" srcOrd="5" destOrd="0" parTransId="{A6E2445B-4559-4A9F-AAE6-63944479E4D1}" sibTransId="{4BCA3FEE-0CB9-488E-B13C-DD644210EE35}"/>
    <dgm:cxn modelId="{8C75AB06-C542-405C-815E-EFA0DFC02A26}" srcId="{90125947-7CD7-4976-8378-268EEED7225B}" destId="{5E9BDB71-7F3F-4314-8327-2D485DCA0B9A}" srcOrd="1" destOrd="0" parTransId="{9C552117-1F0A-4AE0-809F-E4E458C6BB85}" sibTransId="{642830FD-D148-4453-8768-0607B9F5B1C2}"/>
    <dgm:cxn modelId="{A1755F1A-9588-4E47-9ECA-457422A160E1}" srcId="{25ACF0EC-20ED-4CE5-BC18-0FA308735D74}" destId="{2E897E99-EF0F-4CDF-AB16-CAB81D2BB20F}" srcOrd="0" destOrd="0" parTransId="{50B15B9F-B3B1-473E-8E36-5645A783F157}" sibTransId="{666A9CA6-FDC6-4553-8796-4905F07AD03D}"/>
    <dgm:cxn modelId="{D0E1BA2B-B935-42DF-A894-96FB8DB619F8}" srcId="{5E9BDB71-7F3F-4314-8327-2D485DCA0B9A}" destId="{B2DD331C-89FB-4DEC-ADBD-53278C47C6AE}" srcOrd="0" destOrd="0" parTransId="{36B5C0CA-4A46-4EF0-BC91-121A8DEA22D7}" sibTransId="{9D851001-75E1-414F-A708-3C6B603B16DF}"/>
    <dgm:cxn modelId="{A623EA33-9360-4E3A-8B0B-CE0FB7B9BDAB}" srcId="{25ACF0EC-20ED-4CE5-BC18-0FA308735D74}" destId="{ADE3AAB1-4B75-4F48-B056-08E8F5A5D15B}" srcOrd="2" destOrd="0" parTransId="{A018D0EF-B723-406E-8D81-80C801C9CC88}" sibTransId="{29CEBC92-074D-43F6-869A-F0A1F699616F}"/>
    <dgm:cxn modelId="{2FB3F35D-7FD6-49D1-A4B1-238E530ECFDF}" type="presOf" srcId="{AF1F5576-70FE-4842-A6A0-BBD4E60ACF27}" destId="{D17E5934-A337-45A9-9546-83EC11E596DB}" srcOrd="0" destOrd="5" presId="urn:microsoft.com/office/officeart/2005/8/layout/arrow4"/>
    <dgm:cxn modelId="{F953EC41-DAF3-4225-BAE5-ECCA1E652F22}" srcId="{563827B9-2FC5-4A8D-8325-A2E31C87CBB7}" destId="{BB38B070-58C8-4EFD-A266-8926C45C65AE}" srcOrd="1" destOrd="0" parTransId="{1B25628F-EA4E-4EB5-9375-23CA1588DEDC}" sibTransId="{6FF24B56-B29D-46B3-A602-79F8EA0C9845}"/>
    <dgm:cxn modelId="{69ED3E6A-C843-4E08-A2E4-0CC6AE0CBE8C}" srcId="{90125947-7CD7-4976-8378-268EEED7225B}" destId="{94C72663-A202-469D-B3D9-EF624851B578}" srcOrd="2" destOrd="0" parTransId="{C74E020C-50E8-464F-834C-622D06163BF2}" sibTransId="{91FF5A63-B8BE-41EA-BED5-A9D54F2DC383}"/>
    <dgm:cxn modelId="{0D01F172-6BB4-4955-ACEB-51EF430DFF5B}" type="presOf" srcId="{B2DD331C-89FB-4DEC-ADBD-53278C47C6AE}" destId="{217E9A00-A136-4817-9B27-39D3869CE904}" srcOrd="0" destOrd="1" presId="urn:microsoft.com/office/officeart/2005/8/layout/arrow4"/>
    <dgm:cxn modelId="{D091DB56-8B6D-4BBA-8B7D-98312171D362}" srcId="{90125947-7CD7-4976-8378-268EEED7225B}" destId="{77B6438E-B7F6-4DD3-B6D6-5710D129507A}" srcOrd="3" destOrd="0" parTransId="{5908F903-8C2E-4A03-9EE3-C78ECF51E1CF}" sibTransId="{110DEC0D-D66B-4BF1-B23E-A56DF1CD1AE4}"/>
    <dgm:cxn modelId="{ED363E78-B0C5-4F24-AF16-AAFB132A4855}" srcId="{94C72663-A202-469D-B3D9-EF624851B578}" destId="{9083BB0F-8C4E-464F-A0B8-EBE3E79CADF7}" srcOrd="0" destOrd="0" parTransId="{610F3246-DFCB-4DBA-930B-BF8D85E04BF3}" sibTransId="{A141C19B-E574-49EE-B8C8-28859EB4DF30}"/>
    <dgm:cxn modelId="{B0C5407A-7FB3-4923-A867-B93148A2C072}" type="presOf" srcId="{90125947-7CD7-4976-8378-268EEED7225B}" destId="{13E1BAB4-48B9-43EA-8CA6-F47E2EF2D1C0}" srcOrd="0" destOrd="0" presId="urn:microsoft.com/office/officeart/2005/8/layout/arrow4"/>
    <dgm:cxn modelId="{D2B62789-04A7-4BE3-9214-040EAC5E4A0D}" type="presOf" srcId="{563827B9-2FC5-4A8D-8325-A2E31C87CBB7}" destId="{D17E5934-A337-45A9-9546-83EC11E596DB}" srcOrd="0" destOrd="0" presId="urn:microsoft.com/office/officeart/2005/8/layout/arrow4"/>
    <dgm:cxn modelId="{09BA128B-9973-468C-AAF4-BE4738815156}" type="presOf" srcId="{25ACF0EC-20ED-4CE5-BC18-0FA308735D74}" destId="{D17E5934-A337-45A9-9546-83EC11E596DB}" srcOrd="0" destOrd="3" presId="urn:microsoft.com/office/officeart/2005/8/layout/arrow4"/>
    <dgm:cxn modelId="{F0CB0F8E-892F-492C-8310-ECD571D00C91}" type="presOf" srcId="{7C2E2095-539D-4A18-BFE6-6C4F833B3FC1}" destId="{D17E5934-A337-45A9-9546-83EC11E596DB}" srcOrd="0" destOrd="8" presId="urn:microsoft.com/office/officeart/2005/8/layout/arrow4"/>
    <dgm:cxn modelId="{0E530C94-6771-4958-BC26-C6C485FC7BEE}" srcId="{5E9BDB71-7F3F-4314-8327-2D485DCA0B9A}" destId="{2ECC9C28-8CDB-4EF9-AB77-0E6635E11B7A}" srcOrd="1" destOrd="0" parTransId="{24EE2348-65E6-4605-91B6-5EDB0140D479}" sibTransId="{6BC435BE-9AA5-46BD-923A-B701977CC71E}"/>
    <dgm:cxn modelId="{393FE69E-3E93-4D7B-BC66-A2CD5CC57EE4}" type="presOf" srcId="{2E897E99-EF0F-4CDF-AB16-CAB81D2BB20F}" destId="{D17E5934-A337-45A9-9546-83EC11E596DB}" srcOrd="0" destOrd="4" presId="urn:microsoft.com/office/officeart/2005/8/layout/arrow4"/>
    <dgm:cxn modelId="{1C5B63A3-35D5-47DA-9975-76FB02982D66}" srcId="{25ACF0EC-20ED-4CE5-BC18-0FA308735D74}" destId="{E5473E42-0DF3-4AC6-A63C-4411727F4CAD}" srcOrd="3" destOrd="0" parTransId="{85997F8D-3921-438F-832E-A4E8365D5269}" sibTransId="{C5BC9225-CED0-40C4-BBE6-B3D6A57A1059}"/>
    <dgm:cxn modelId="{66884EA6-8B03-4709-9EF2-83C50FC67623}" srcId="{563827B9-2FC5-4A8D-8325-A2E31C87CBB7}" destId="{D1DDD503-98C9-48BE-957A-280A5530C893}" srcOrd="0" destOrd="0" parTransId="{D9715A6C-6951-491E-9537-2FC1E02E1C79}" sibTransId="{0BB57E6D-E4A9-488B-91CE-9F9ECE15DC1D}"/>
    <dgm:cxn modelId="{850C79AB-ECF4-4084-83D4-964886AE1FA1}" type="presOf" srcId="{D1DDD503-98C9-48BE-957A-280A5530C893}" destId="{D17E5934-A337-45A9-9546-83EC11E596DB}" srcOrd="0" destOrd="1" presId="urn:microsoft.com/office/officeart/2005/8/layout/arrow4"/>
    <dgm:cxn modelId="{86D42EAC-83B2-4BC3-8D00-9A6CC8479006}" type="presOf" srcId="{E9FB13E7-1C4F-41CA-9654-259B6F4FC25E}" destId="{D17E5934-A337-45A9-9546-83EC11E596DB}" srcOrd="0" destOrd="9" presId="urn:microsoft.com/office/officeart/2005/8/layout/arrow4"/>
    <dgm:cxn modelId="{653C5BAD-3D87-4937-8EF7-02735E30B732}" srcId="{77B6438E-B7F6-4DD3-B6D6-5710D129507A}" destId="{DFDD6E30-08A0-4D28-B74B-76EB8DEB742C}" srcOrd="0" destOrd="0" parTransId="{61373F15-DF05-4C74-94CA-586848234AF5}" sibTransId="{B04BA145-3A23-40BC-90AF-317081101D3C}"/>
    <dgm:cxn modelId="{A5196BB2-FAA8-4B1D-A9A2-AB2CB08EC335}" srcId="{25ACF0EC-20ED-4CE5-BC18-0FA308735D74}" destId="{AF1F5576-70FE-4842-A6A0-BBD4E60ACF27}" srcOrd="1" destOrd="0" parTransId="{83ABCD29-111B-4BB8-9AB2-9EC846A85402}" sibTransId="{C87FC966-AF68-4A76-AF9A-8F220DF90037}"/>
    <dgm:cxn modelId="{62A1A5B6-C2BA-48C4-8DA3-8FF4CC080207}" type="presOf" srcId="{E5473E42-0DF3-4AC6-A63C-4411727F4CAD}" destId="{D17E5934-A337-45A9-9546-83EC11E596DB}" srcOrd="0" destOrd="7" presId="urn:microsoft.com/office/officeart/2005/8/layout/arrow4"/>
    <dgm:cxn modelId="{A398A0BA-BDAE-493A-AF0A-C37CA3CC3D96}" type="presOf" srcId="{2ECC9C28-8CDB-4EF9-AB77-0E6635E11B7A}" destId="{217E9A00-A136-4817-9B27-39D3869CE904}" srcOrd="0" destOrd="2" presId="urn:microsoft.com/office/officeart/2005/8/layout/arrow4"/>
    <dgm:cxn modelId="{83EE7DEF-1640-43E3-92A6-664B3E6C0CA2}" srcId="{563827B9-2FC5-4A8D-8325-A2E31C87CBB7}" destId="{25ACF0EC-20ED-4CE5-BC18-0FA308735D74}" srcOrd="2" destOrd="0" parTransId="{D0BB3421-1DB2-4DC0-8CEE-AE04D592B136}" sibTransId="{88E788C7-520D-4FCB-A53A-B7EFE76A1450}"/>
    <dgm:cxn modelId="{78D53BF2-FFB7-49EC-B68B-1D9F02CF14E4}" type="presOf" srcId="{ADE3AAB1-4B75-4F48-B056-08E8F5A5D15B}" destId="{D17E5934-A337-45A9-9546-83EC11E596DB}" srcOrd="0" destOrd="6" presId="urn:microsoft.com/office/officeart/2005/8/layout/arrow4"/>
    <dgm:cxn modelId="{8EBC7FF5-06D3-4375-AC28-1F9DF9B29291}" type="presOf" srcId="{5E9BDB71-7F3F-4314-8327-2D485DCA0B9A}" destId="{217E9A00-A136-4817-9B27-39D3869CE904}" srcOrd="0" destOrd="0" presId="urn:microsoft.com/office/officeart/2005/8/layout/arrow4"/>
    <dgm:cxn modelId="{8074F5FD-2232-4670-BC82-F281BAE4C9D2}" srcId="{25ACF0EC-20ED-4CE5-BC18-0FA308735D74}" destId="{7C2E2095-539D-4A18-BFE6-6C4F833B3FC1}" srcOrd="4" destOrd="0" parTransId="{E6D745CF-A309-438F-9218-774C0BEA5FA0}" sibTransId="{523C2883-BBB5-48CA-824B-8CAD3C7BB069}"/>
    <dgm:cxn modelId="{B180D5FF-1495-4C1E-BFAC-1E2FDC2B7D72}" srcId="{90125947-7CD7-4976-8378-268EEED7225B}" destId="{563827B9-2FC5-4A8D-8325-A2E31C87CBB7}" srcOrd="0" destOrd="0" parTransId="{D29A3F1D-014E-4E75-BB87-47A228E0BCA0}" sibTransId="{330EC24C-25A9-4C66-8365-E1107B42B878}"/>
    <dgm:cxn modelId="{34632330-403F-4AD8-B3D5-2AA687064960}" type="presParOf" srcId="{13E1BAB4-48B9-43EA-8CA6-F47E2EF2D1C0}" destId="{A9E4ED22-9FD6-49A8-BD10-F0AB0D19868B}" srcOrd="0" destOrd="0" presId="urn:microsoft.com/office/officeart/2005/8/layout/arrow4"/>
    <dgm:cxn modelId="{5AFBADE9-229A-4F80-83AF-4A20C623FF4C}" type="presParOf" srcId="{13E1BAB4-48B9-43EA-8CA6-F47E2EF2D1C0}" destId="{D17E5934-A337-45A9-9546-83EC11E596DB}" srcOrd="1" destOrd="0" presId="urn:microsoft.com/office/officeart/2005/8/layout/arrow4"/>
    <dgm:cxn modelId="{9394E188-B40A-4D20-9A22-251ADB4BC9B8}" type="presParOf" srcId="{13E1BAB4-48B9-43EA-8CA6-F47E2EF2D1C0}" destId="{A539DD69-08CB-4350-9D12-8BA5B90E9456}" srcOrd="2" destOrd="0" presId="urn:microsoft.com/office/officeart/2005/8/layout/arrow4"/>
    <dgm:cxn modelId="{956F8D52-6131-4F60-BFE4-74AFF2C37F76}" type="presParOf" srcId="{13E1BAB4-48B9-43EA-8CA6-F47E2EF2D1C0}" destId="{217E9A00-A136-4817-9B27-39D3869CE904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225B54-1CCA-4F50-B1E2-B24ADA35AC27}" type="doc">
      <dgm:prSet loTypeId="urn:microsoft.com/office/officeart/2005/8/layout/vList6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9A0DAC74-C288-471E-B9D2-FC24A368D489}">
      <dgm:prSet phldrT="[Text]"/>
      <dgm:spPr/>
      <dgm:t>
        <a:bodyPr/>
        <a:lstStyle/>
        <a:p>
          <a:pPr>
            <a:buNone/>
          </a:pPr>
          <a:r>
            <a:rPr lang="en-GB" b="1" i="0" dirty="0"/>
            <a:t>Champions </a:t>
          </a:r>
        </a:p>
        <a:p>
          <a:pPr>
            <a:buNone/>
          </a:pPr>
          <a:r>
            <a:rPr lang="en-GB" b="1" i="0" dirty="0"/>
            <a:t>(High RFMTD)</a:t>
          </a:r>
          <a:endParaRPr lang="en-GB" dirty="0"/>
        </a:p>
      </dgm:t>
    </dgm:pt>
    <dgm:pt modelId="{BACCAC3C-0EE8-496E-829D-519D646DEC30}" type="parTrans" cxnId="{BD2A91A0-C8C8-47F2-9EDC-D3E186D7B9D6}">
      <dgm:prSet/>
      <dgm:spPr/>
      <dgm:t>
        <a:bodyPr/>
        <a:lstStyle/>
        <a:p>
          <a:endParaRPr lang="en-GB"/>
        </a:p>
      </dgm:t>
    </dgm:pt>
    <dgm:pt modelId="{A81300B3-1257-4B37-977B-70A0B0595FF2}" type="sibTrans" cxnId="{BD2A91A0-C8C8-47F2-9EDC-D3E186D7B9D6}">
      <dgm:prSet/>
      <dgm:spPr/>
      <dgm:t>
        <a:bodyPr/>
        <a:lstStyle/>
        <a:p>
          <a:endParaRPr lang="en-GB"/>
        </a:p>
      </dgm:t>
    </dgm:pt>
    <dgm:pt modelId="{07DCF937-E6D6-4000-95C3-9B258855E07A}">
      <dgm:prSet phldrT="[Text]"/>
      <dgm:spPr/>
      <dgm:t>
        <a:bodyPr/>
        <a:lstStyle/>
        <a:p>
          <a:pPr>
            <a:buNone/>
          </a:pPr>
          <a:r>
            <a:rPr lang="en-GB" b="0" i="0" dirty="0"/>
            <a:t>	Frequent, high-spend, recent, engaged. </a:t>
          </a:r>
          <a:endParaRPr lang="en-GB" dirty="0"/>
        </a:p>
      </dgm:t>
    </dgm:pt>
    <dgm:pt modelId="{FF7F337E-293A-44FC-95E6-158F33F57E38}" type="parTrans" cxnId="{E4FCB2F9-9D7F-443F-BEEF-698E3EB4D562}">
      <dgm:prSet/>
      <dgm:spPr/>
      <dgm:t>
        <a:bodyPr/>
        <a:lstStyle/>
        <a:p>
          <a:endParaRPr lang="en-GB"/>
        </a:p>
      </dgm:t>
    </dgm:pt>
    <dgm:pt modelId="{F236A883-623B-4236-9097-EB56228BEDBD}" type="sibTrans" cxnId="{E4FCB2F9-9D7F-443F-BEEF-698E3EB4D562}">
      <dgm:prSet/>
      <dgm:spPr/>
      <dgm:t>
        <a:bodyPr/>
        <a:lstStyle/>
        <a:p>
          <a:endParaRPr lang="en-GB"/>
        </a:p>
      </dgm:t>
    </dgm:pt>
    <dgm:pt modelId="{8CD13F17-4EA2-4D04-9D57-3C8A59CE7ACA}">
      <dgm:prSet phldrT="[Text]"/>
      <dgm:spPr/>
      <dgm:t>
        <a:bodyPr/>
        <a:lstStyle/>
        <a:p>
          <a:pPr>
            <a:buNone/>
          </a:pPr>
          <a:r>
            <a:rPr lang="en-GB" b="1" i="0" dirty="0"/>
            <a:t>Potential Loyalists</a:t>
          </a:r>
        </a:p>
        <a:p>
          <a:pPr>
            <a:buNone/>
          </a:pPr>
          <a:r>
            <a:rPr lang="en-GB" b="1" i="0" dirty="0"/>
            <a:t> (Med-High RFMTD)</a:t>
          </a:r>
          <a:endParaRPr lang="en-GB" dirty="0"/>
        </a:p>
      </dgm:t>
    </dgm:pt>
    <dgm:pt modelId="{21A3BEC2-59D6-44EA-BF92-0E07B36E9ECB}" type="parTrans" cxnId="{8C785BD6-5E8A-4AF6-9C9C-334363D3D4D3}">
      <dgm:prSet/>
      <dgm:spPr/>
      <dgm:t>
        <a:bodyPr/>
        <a:lstStyle/>
        <a:p>
          <a:endParaRPr lang="en-GB"/>
        </a:p>
      </dgm:t>
    </dgm:pt>
    <dgm:pt modelId="{9DE033FD-BC18-4804-9978-506E6D832174}" type="sibTrans" cxnId="{8C785BD6-5E8A-4AF6-9C9C-334363D3D4D3}">
      <dgm:prSet/>
      <dgm:spPr/>
      <dgm:t>
        <a:bodyPr/>
        <a:lstStyle/>
        <a:p>
          <a:endParaRPr lang="en-GB"/>
        </a:p>
      </dgm:t>
    </dgm:pt>
    <dgm:pt modelId="{FFC11550-EC2A-47CA-B244-0E4CC45D5356}">
      <dgm:prSet phldrT="[Text]"/>
      <dgm:spPr/>
      <dgm:t>
        <a:bodyPr/>
        <a:lstStyle/>
        <a:p>
          <a:pPr>
            <a:buNone/>
          </a:pPr>
          <a:r>
            <a:rPr lang="en-GB" b="0" i="0" dirty="0"/>
            <a:t>	High spending, but lower frequency. </a:t>
          </a:r>
          <a:endParaRPr lang="en-GB" dirty="0"/>
        </a:p>
      </dgm:t>
    </dgm:pt>
    <dgm:pt modelId="{B8D7D310-3F30-40F7-9C3F-2E9B630AD0A6}" type="parTrans" cxnId="{3418F574-01E4-46FD-B10F-971DA15CB2FE}">
      <dgm:prSet/>
      <dgm:spPr/>
      <dgm:t>
        <a:bodyPr/>
        <a:lstStyle/>
        <a:p>
          <a:endParaRPr lang="en-GB"/>
        </a:p>
      </dgm:t>
    </dgm:pt>
    <dgm:pt modelId="{3216BFDB-B1DF-4E99-956D-53BD6A309725}" type="sibTrans" cxnId="{3418F574-01E4-46FD-B10F-971DA15CB2FE}">
      <dgm:prSet/>
      <dgm:spPr/>
      <dgm:t>
        <a:bodyPr/>
        <a:lstStyle/>
        <a:p>
          <a:endParaRPr lang="en-GB"/>
        </a:p>
      </dgm:t>
    </dgm:pt>
    <dgm:pt modelId="{E642037C-6DD7-4C34-A370-70C04E07CF64}">
      <dgm:prSet phldrT="[Text]"/>
      <dgm:spPr/>
      <dgm:t>
        <a:bodyPr/>
        <a:lstStyle/>
        <a:p>
          <a:pPr>
            <a:buNone/>
          </a:pPr>
          <a:r>
            <a:rPr lang="en-GB" b="1" i="0" dirty="0"/>
            <a:t>"At-Risk" High-Value </a:t>
          </a:r>
        </a:p>
        <a:p>
          <a:pPr>
            <a:buNone/>
          </a:pPr>
          <a:r>
            <a:rPr lang="en-GB" b="1" i="0" dirty="0"/>
            <a:t>(High M, Low R/T)</a:t>
          </a:r>
          <a:endParaRPr lang="en-GB" dirty="0"/>
        </a:p>
      </dgm:t>
    </dgm:pt>
    <dgm:pt modelId="{D21D6AFE-C463-4CEF-AAA4-98A359122B33}" type="parTrans" cxnId="{92F3E066-64B2-46FA-B2EB-CFA59A0299EF}">
      <dgm:prSet/>
      <dgm:spPr/>
      <dgm:t>
        <a:bodyPr/>
        <a:lstStyle/>
        <a:p>
          <a:endParaRPr lang="en-GB"/>
        </a:p>
      </dgm:t>
    </dgm:pt>
    <dgm:pt modelId="{92C73530-39C6-4F2E-A39F-1AFBA21281F2}" type="sibTrans" cxnId="{92F3E066-64B2-46FA-B2EB-CFA59A0299EF}">
      <dgm:prSet/>
      <dgm:spPr/>
      <dgm:t>
        <a:bodyPr/>
        <a:lstStyle/>
        <a:p>
          <a:endParaRPr lang="en-GB"/>
        </a:p>
      </dgm:t>
    </dgm:pt>
    <dgm:pt modelId="{6A1EFAB6-5A2D-4271-814E-616C9BFCD7AE}">
      <dgm:prSet phldrT="[Text]"/>
      <dgm:spPr/>
      <dgm:t>
        <a:bodyPr/>
        <a:lstStyle/>
        <a:p>
          <a:pPr>
            <a:buNone/>
          </a:pPr>
          <a:r>
            <a:rPr lang="en-GB" b="0" i="0" dirty="0"/>
            <a:t>	Spent a lot, but haven't returned. </a:t>
          </a:r>
          <a:endParaRPr lang="en-GB" dirty="0"/>
        </a:p>
      </dgm:t>
    </dgm:pt>
    <dgm:pt modelId="{37E22EB3-732B-4F0E-BD89-9BADC5F6C48F}" type="parTrans" cxnId="{3ED205E6-4C1E-4723-AC57-5945A498419A}">
      <dgm:prSet/>
      <dgm:spPr/>
      <dgm:t>
        <a:bodyPr/>
        <a:lstStyle/>
        <a:p>
          <a:endParaRPr lang="en-GB"/>
        </a:p>
      </dgm:t>
    </dgm:pt>
    <dgm:pt modelId="{2B439A9C-CA1D-478A-A8ED-126B6598E9D5}" type="sibTrans" cxnId="{3ED205E6-4C1E-4723-AC57-5945A498419A}">
      <dgm:prSet/>
      <dgm:spPr/>
      <dgm:t>
        <a:bodyPr/>
        <a:lstStyle/>
        <a:p>
          <a:endParaRPr lang="en-GB"/>
        </a:p>
      </dgm:t>
    </dgm:pt>
    <dgm:pt modelId="{A5B6ADCF-DA4D-4ED0-AA99-B0FB9CF93F39}">
      <dgm:prSet phldrT="[Text]"/>
      <dgm:spPr/>
      <dgm:t>
        <a:bodyPr/>
        <a:lstStyle/>
        <a:p>
          <a:pPr>
            <a:buNone/>
          </a:pPr>
          <a:r>
            <a:rPr lang="en-GB" b="1" i="0" dirty="0"/>
            <a:t>High-Potential/New </a:t>
          </a:r>
        </a:p>
        <a:p>
          <a:pPr>
            <a:buNone/>
          </a:pPr>
          <a:r>
            <a:rPr lang="en-GB" b="1" i="0" dirty="0"/>
            <a:t>(Low R, Low F, Low M, High D)</a:t>
          </a:r>
          <a:endParaRPr lang="en-GB" dirty="0"/>
        </a:p>
      </dgm:t>
    </dgm:pt>
    <dgm:pt modelId="{1B2BB35D-10EA-4223-89AE-C469080340A4}" type="parTrans" cxnId="{8A563028-6201-42E1-B587-2D8F8DDD60F0}">
      <dgm:prSet/>
      <dgm:spPr/>
      <dgm:t>
        <a:bodyPr/>
        <a:lstStyle/>
        <a:p>
          <a:endParaRPr lang="en-GB"/>
        </a:p>
      </dgm:t>
    </dgm:pt>
    <dgm:pt modelId="{C7188217-EA0A-4186-9DA3-BAE6C92C30DA}" type="sibTrans" cxnId="{8A563028-6201-42E1-B587-2D8F8DDD60F0}">
      <dgm:prSet/>
      <dgm:spPr/>
      <dgm:t>
        <a:bodyPr/>
        <a:lstStyle/>
        <a:p>
          <a:endParaRPr lang="en-GB"/>
        </a:p>
      </dgm:t>
    </dgm:pt>
    <dgm:pt modelId="{81B6B2C7-AAFF-4BAB-BF4B-945E5FABEF65}">
      <dgm:prSet phldrT="[Text]"/>
      <dgm:spPr/>
      <dgm:t>
        <a:bodyPr/>
        <a:lstStyle/>
        <a:p>
          <a:pPr>
            <a:buNone/>
          </a:pPr>
          <a:r>
            <a:rPr lang="en-GB" b="0" i="0" dirty="0"/>
            <a:t>	High engagement, but new/low spending. </a:t>
          </a:r>
          <a:endParaRPr lang="en-GB" dirty="0"/>
        </a:p>
      </dgm:t>
    </dgm:pt>
    <dgm:pt modelId="{4ADC7802-A396-435B-AE69-DEE5A021A8B6}" type="parTrans" cxnId="{66C5F123-1A5F-4724-AE30-177A69B0B6D0}">
      <dgm:prSet/>
      <dgm:spPr/>
      <dgm:t>
        <a:bodyPr/>
        <a:lstStyle/>
        <a:p>
          <a:endParaRPr lang="en-GB"/>
        </a:p>
      </dgm:t>
    </dgm:pt>
    <dgm:pt modelId="{A0529637-C34A-400B-8153-8A65CD0BCBFF}" type="sibTrans" cxnId="{66C5F123-1A5F-4724-AE30-177A69B0B6D0}">
      <dgm:prSet/>
      <dgm:spPr/>
      <dgm:t>
        <a:bodyPr/>
        <a:lstStyle/>
        <a:p>
          <a:endParaRPr lang="en-GB"/>
        </a:p>
      </dgm:t>
    </dgm:pt>
    <dgm:pt modelId="{B4550089-C3AA-4DEA-89C1-0AC48FF8F56A}">
      <dgm:prSet phldrT="[Text]"/>
      <dgm:spPr/>
      <dgm:t>
        <a:bodyPr/>
        <a:lstStyle/>
        <a:p>
          <a:pPr>
            <a:buNone/>
          </a:pPr>
          <a:r>
            <a:rPr lang="en-GB" b="0" i="1" dirty="0"/>
            <a:t>Strategy: VIP rewards, early access.</a:t>
          </a:r>
          <a:endParaRPr lang="en-GB" dirty="0"/>
        </a:p>
      </dgm:t>
    </dgm:pt>
    <dgm:pt modelId="{5286B761-D0DF-4F6F-8A6E-760B1618B3DC}" type="parTrans" cxnId="{CFF9F4FD-4AA7-47CC-82F0-8BE2973D414D}">
      <dgm:prSet/>
      <dgm:spPr/>
      <dgm:t>
        <a:bodyPr/>
        <a:lstStyle/>
        <a:p>
          <a:endParaRPr lang="en-GB"/>
        </a:p>
      </dgm:t>
    </dgm:pt>
    <dgm:pt modelId="{8760BADF-0D8D-476F-9BAD-DFFF358F8BF4}" type="sibTrans" cxnId="{CFF9F4FD-4AA7-47CC-82F0-8BE2973D414D}">
      <dgm:prSet/>
      <dgm:spPr/>
      <dgm:t>
        <a:bodyPr/>
        <a:lstStyle/>
        <a:p>
          <a:endParaRPr lang="en-GB"/>
        </a:p>
      </dgm:t>
    </dgm:pt>
    <dgm:pt modelId="{6C6AF096-8624-46D1-AB16-48463C6D0039}">
      <dgm:prSet phldrT="[Text]"/>
      <dgm:spPr/>
      <dgm:t>
        <a:bodyPr/>
        <a:lstStyle/>
        <a:p>
          <a:pPr>
            <a:buNone/>
          </a:pPr>
          <a:r>
            <a:rPr lang="en-GB" b="0" i="1" dirty="0"/>
            <a:t>Strategy: Loyalty programs, cross-selling</a:t>
          </a:r>
          <a:endParaRPr lang="en-GB" dirty="0"/>
        </a:p>
      </dgm:t>
    </dgm:pt>
    <dgm:pt modelId="{4EBE7FB1-9BA2-4D3B-ADA4-F0947F9AC498}" type="parTrans" cxnId="{A2F2415C-144C-43F5-A1EA-FB283B52ADA5}">
      <dgm:prSet/>
      <dgm:spPr/>
      <dgm:t>
        <a:bodyPr/>
        <a:lstStyle/>
        <a:p>
          <a:endParaRPr lang="en-GB"/>
        </a:p>
      </dgm:t>
    </dgm:pt>
    <dgm:pt modelId="{D8462452-D01D-4818-AA02-F7A82403863F}" type="sibTrans" cxnId="{A2F2415C-144C-43F5-A1EA-FB283B52ADA5}">
      <dgm:prSet/>
      <dgm:spPr/>
      <dgm:t>
        <a:bodyPr/>
        <a:lstStyle/>
        <a:p>
          <a:endParaRPr lang="en-GB"/>
        </a:p>
      </dgm:t>
    </dgm:pt>
    <dgm:pt modelId="{CFF5A465-6D03-4BB2-8656-5CF7CCD24B1C}">
      <dgm:prSet phldrT="[Text]"/>
      <dgm:spPr/>
      <dgm:t>
        <a:bodyPr/>
        <a:lstStyle/>
        <a:p>
          <a:pPr>
            <a:buNone/>
          </a:pPr>
          <a:r>
            <a:rPr lang="en-GB" b="0" i="1" dirty="0"/>
            <a:t>Strategy: Automated, personalized win-back campaigns</a:t>
          </a:r>
          <a:endParaRPr lang="en-GB" dirty="0"/>
        </a:p>
      </dgm:t>
    </dgm:pt>
    <dgm:pt modelId="{143110DA-453D-4EFA-A475-56FF5A69057F}" type="parTrans" cxnId="{4FAEBACC-4884-41EC-9553-354372B8FBA8}">
      <dgm:prSet/>
      <dgm:spPr/>
      <dgm:t>
        <a:bodyPr/>
        <a:lstStyle/>
        <a:p>
          <a:endParaRPr lang="en-GB"/>
        </a:p>
      </dgm:t>
    </dgm:pt>
    <dgm:pt modelId="{A67DDF9A-52E6-419A-8C18-0DE88D3FD17E}" type="sibTrans" cxnId="{4FAEBACC-4884-41EC-9553-354372B8FBA8}">
      <dgm:prSet/>
      <dgm:spPr/>
      <dgm:t>
        <a:bodyPr/>
        <a:lstStyle/>
        <a:p>
          <a:endParaRPr lang="en-GB"/>
        </a:p>
      </dgm:t>
    </dgm:pt>
    <dgm:pt modelId="{CCCE8E65-0B83-49E0-8351-34D75448373F}">
      <dgm:prSet phldrT="[Text]"/>
      <dgm:spPr/>
      <dgm:t>
        <a:bodyPr/>
        <a:lstStyle/>
        <a:p>
          <a:pPr>
            <a:buNone/>
          </a:pPr>
          <a:r>
            <a:rPr lang="en-GB" b="0" i="1" dirty="0"/>
            <a:t>Strategy: Onboarding, nurturing.</a:t>
          </a:r>
          <a:endParaRPr lang="en-GB" dirty="0"/>
        </a:p>
      </dgm:t>
    </dgm:pt>
    <dgm:pt modelId="{19A71FFF-09BD-41F3-9E70-3442A4CF4A53}" type="parTrans" cxnId="{238A43EA-1626-4C7C-80AE-467256A0751C}">
      <dgm:prSet/>
      <dgm:spPr/>
      <dgm:t>
        <a:bodyPr/>
        <a:lstStyle/>
        <a:p>
          <a:endParaRPr lang="en-GB"/>
        </a:p>
      </dgm:t>
    </dgm:pt>
    <dgm:pt modelId="{23EBDFAC-31CC-42DD-BBCD-840D6BDC6D5B}" type="sibTrans" cxnId="{238A43EA-1626-4C7C-80AE-467256A0751C}">
      <dgm:prSet/>
      <dgm:spPr/>
      <dgm:t>
        <a:bodyPr/>
        <a:lstStyle/>
        <a:p>
          <a:endParaRPr lang="en-GB"/>
        </a:p>
      </dgm:t>
    </dgm:pt>
    <dgm:pt modelId="{A357A096-27FE-4DAD-B890-A1C8E95CC4D7}" type="pres">
      <dgm:prSet presAssocID="{F2225B54-1CCA-4F50-B1E2-B24ADA35AC27}" presName="Name0" presStyleCnt="0">
        <dgm:presLayoutVars>
          <dgm:dir/>
          <dgm:animLvl val="lvl"/>
          <dgm:resizeHandles/>
        </dgm:presLayoutVars>
      </dgm:prSet>
      <dgm:spPr/>
    </dgm:pt>
    <dgm:pt modelId="{63B437AC-F7AE-4F30-BC29-A2C67C3B9E8A}" type="pres">
      <dgm:prSet presAssocID="{9A0DAC74-C288-471E-B9D2-FC24A368D489}" presName="linNode" presStyleCnt="0"/>
      <dgm:spPr/>
    </dgm:pt>
    <dgm:pt modelId="{F7E75EE7-D4FE-4FC0-B4A4-0D5BFADBB4CC}" type="pres">
      <dgm:prSet presAssocID="{9A0DAC74-C288-471E-B9D2-FC24A368D489}" presName="parentShp" presStyleLbl="node1" presStyleIdx="0" presStyleCnt="4">
        <dgm:presLayoutVars>
          <dgm:bulletEnabled val="1"/>
        </dgm:presLayoutVars>
      </dgm:prSet>
      <dgm:spPr/>
    </dgm:pt>
    <dgm:pt modelId="{814630E8-E31A-421F-BD8D-521943B8B89E}" type="pres">
      <dgm:prSet presAssocID="{9A0DAC74-C288-471E-B9D2-FC24A368D489}" presName="childShp" presStyleLbl="bgAccFollowNode1" presStyleIdx="0" presStyleCnt="4">
        <dgm:presLayoutVars>
          <dgm:bulletEnabled val="1"/>
        </dgm:presLayoutVars>
      </dgm:prSet>
      <dgm:spPr/>
    </dgm:pt>
    <dgm:pt modelId="{9201B243-81C1-4C18-83F8-AA7C1AD6BE1D}" type="pres">
      <dgm:prSet presAssocID="{A81300B3-1257-4B37-977B-70A0B0595FF2}" presName="spacing" presStyleCnt="0"/>
      <dgm:spPr/>
    </dgm:pt>
    <dgm:pt modelId="{FEDD3585-9B82-4106-8D1D-DC521A4D3607}" type="pres">
      <dgm:prSet presAssocID="{8CD13F17-4EA2-4D04-9D57-3C8A59CE7ACA}" presName="linNode" presStyleCnt="0"/>
      <dgm:spPr/>
    </dgm:pt>
    <dgm:pt modelId="{1C15550E-ACDB-49AD-B213-FFE92CF11B22}" type="pres">
      <dgm:prSet presAssocID="{8CD13F17-4EA2-4D04-9D57-3C8A59CE7ACA}" presName="parentShp" presStyleLbl="node1" presStyleIdx="1" presStyleCnt="4">
        <dgm:presLayoutVars>
          <dgm:bulletEnabled val="1"/>
        </dgm:presLayoutVars>
      </dgm:prSet>
      <dgm:spPr/>
    </dgm:pt>
    <dgm:pt modelId="{69637F30-1E78-4261-ABEE-AEFA18F0E8AA}" type="pres">
      <dgm:prSet presAssocID="{8CD13F17-4EA2-4D04-9D57-3C8A59CE7ACA}" presName="childShp" presStyleLbl="bgAccFollowNode1" presStyleIdx="1" presStyleCnt="4">
        <dgm:presLayoutVars>
          <dgm:bulletEnabled val="1"/>
        </dgm:presLayoutVars>
      </dgm:prSet>
      <dgm:spPr/>
    </dgm:pt>
    <dgm:pt modelId="{EB8FB1DF-7E39-4D9E-A6CB-BE76562F0F34}" type="pres">
      <dgm:prSet presAssocID="{9DE033FD-BC18-4804-9978-506E6D832174}" presName="spacing" presStyleCnt="0"/>
      <dgm:spPr/>
    </dgm:pt>
    <dgm:pt modelId="{E94ED77A-5FC8-44F9-B33C-739C85BCF80C}" type="pres">
      <dgm:prSet presAssocID="{E642037C-6DD7-4C34-A370-70C04E07CF64}" presName="linNode" presStyleCnt="0"/>
      <dgm:spPr/>
    </dgm:pt>
    <dgm:pt modelId="{AB274619-A99C-402D-BA36-97A0AC1F2640}" type="pres">
      <dgm:prSet presAssocID="{E642037C-6DD7-4C34-A370-70C04E07CF64}" presName="parentShp" presStyleLbl="node1" presStyleIdx="2" presStyleCnt="4">
        <dgm:presLayoutVars>
          <dgm:bulletEnabled val="1"/>
        </dgm:presLayoutVars>
      </dgm:prSet>
      <dgm:spPr/>
    </dgm:pt>
    <dgm:pt modelId="{D1477C45-E22E-42F5-B513-F482AC8FA156}" type="pres">
      <dgm:prSet presAssocID="{E642037C-6DD7-4C34-A370-70C04E07CF64}" presName="childShp" presStyleLbl="bgAccFollowNode1" presStyleIdx="2" presStyleCnt="4">
        <dgm:presLayoutVars>
          <dgm:bulletEnabled val="1"/>
        </dgm:presLayoutVars>
      </dgm:prSet>
      <dgm:spPr/>
    </dgm:pt>
    <dgm:pt modelId="{A83C5AEA-5D20-4CF1-8269-5A582D3109B1}" type="pres">
      <dgm:prSet presAssocID="{92C73530-39C6-4F2E-A39F-1AFBA21281F2}" presName="spacing" presStyleCnt="0"/>
      <dgm:spPr/>
    </dgm:pt>
    <dgm:pt modelId="{E16F2BA7-E75C-4B6E-BA41-EA7B0411D384}" type="pres">
      <dgm:prSet presAssocID="{A5B6ADCF-DA4D-4ED0-AA99-B0FB9CF93F39}" presName="linNode" presStyleCnt="0"/>
      <dgm:spPr/>
    </dgm:pt>
    <dgm:pt modelId="{B9360BFE-A3DA-4694-A56C-674985267BAB}" type="pres">
      <dgm:prSet presAssocID="{A5B6ADCF-DA4D-4ED0-AA99-B0FB9CF93F39}" presName="parentShp" presStyleLbl="node1" presStyleIdx="3" presStyleCnt="4">
        <dgm:presLayoutVars>
          <dgm:bulletEnabled val="1"/>
        </dgm:presLayoutVars>
      </dgm:prSet>
      <dgm:spPr/>
    </dgm:pt>
    <dgm:pt modelId="{3EED9938-7FAA-428C-966F-CB2B2C243B5E}" type="pres">
      <dgm:prSet presAssocID="{A5B6ADCF-DA4D-4ED0-AA99-B0FB9CF93F39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7D58CE04-6CC5-4018-9C84-1A1C8B6716CF}" type="presOf" srcId="{B4550089-C3AA-4DEA-89C1-0AC48FF8F56A}" destId="{814630E8-E31A-421F-BD8D-521943B8B89E}" srcOrd="0" destOrd="1" presId="urn:microsoft.com/office/officeart/2005/8/layout/vList6"/>
    <dgm:cxn modelId="{E21B1F13-6F9F-4A56-9952-5CE8DE54FF3D}" type="presOf" srcId="{CFF5A465-6D03-4BB2-8656-5CF7CCD24B1C}" destId="{D1477C45-E22E-42F5-B513-F482AC8FA156}" srcOrd="0" destOrd="1" presId="urn:microsoft.com/office/officeart/2005/8/layout/vList6"/>
    <dgm:cxn modelId="{66C5F123-1A5F-4724-AE30-177A69B0B6D0}" srcId="{A5B6ADCF-DA4D-4ED0-AA99-B0FB9CF93F39}" destId="{81B6B2C7-AAFF-4BAB-BF4B-945E5FABEF65}" srcOrd="0" destOrd="0" parTransId="{4ADC7802-A396-435B-AE69-DEE5A021A8B6}" sibTransId="{A0529637-C34A-400B-8153-8A65CD0BCBFF}"/>
    <dgm:cxn modelId="{8A563028-6201-42E1-B587-2D8F8DDD60F0}" srcId="{F2225B54-1CCA-4F50-B1E2-B24ADA35AC27}" destId="{A5B6ADCF-DA4D-4ED0-AA99-B0FB9CF93F39}" srcOrd="3" destOrd="0" parTransId="{1B2BB35D-10EA-4223-89AE-C469080340A4}" sibTransId="{C7188217-EA0A-4186-9DA3-BAE6C92C30DA}"/>
    <dgm:cxn modelId="{A2F2415C-144C-43F5-A1EA-FB283B52ADA5}" srcId="{FFC11550-EC2A-47CA-B244-0E4CC45D5356}" destId="{6C6AF096-8624-46D1-AB16-48463C6D0039}" srcOrd="0" destOrd="0" parTransId="{4EBE7FB1-9BA2-4D3B-ADA4-F0947F9AC498}" sibTransId="{D8462452-D01D-4818-AA02-F7A82403863F}"/>
    <dgm:cxn modelId="{8CFC465F-68EC-41ED-B43B-3F3FA02D8A6F}" type="presOf" srcId="{6A1EFAB6-5A2D-4271-814E-616C9BFCD7AE}" destId="{D1477C45-E22E-42F5-B513-F482AC8FA156}" srcOrd="0" destOrd="0" presId="urn:microsoft.com/office/officeart/2005/8/layout/vList6"/>
    <dgm:cxn modelId="{92F3E066-64B2-46FA-B2EB-CFA59A0299EF}" srcId="{F2225B54-1CCA-4F50-B1E2-B24ADA35AC27}" destId="{E642037C-6DD7-4C34-A370-70C04E07CF64}" srcOrd="2" destOrd="0" parTransId="{D21D6AFE-C463-4CEF-AAA4-98A359122B33}" sibTransId="{92C73530-39C6-4F2E-A39F-1AFBA21281F2}"/>
    <dgm:cxn modelId="{4E684A6D-F839-4292-9440-0D093095A229}" type="presOf" srcId="{FFC11550-EC2A-47CA-B244-0E4CC45D5356}" destId="{69637F30-1E78-4261-ABEE-AEFA18F0E8AA}" srcOrd="0" destOrd="0" presId="urn:microsoft.com/office/officeart/2005/8/layout/vList6"/>
    <dgm:cxn modelId="{33B4ED6E-23F0-4C8B-8C57-C044DEC3541C}" type="presOf" srcId="{9A0DAC74-C288-471E-B9D2-FC24A368D489}" destId="{F7E75EE7-D4FE-4FC0-B4A4-0D5BFADBB4CC}" srcOrd="0" destOrd="0" presId="urn:microsoft.com/office/officeart/2005/8/layout/vList6"/>
    <dgm:cxn modelId="{3418F574-01E4-46FD-B10F-971DA15CB2FE}" srcId="{8CD13F17-4EA2-4D04-9D57-3C8A59CE7ACA}" destId="{FFC11550-EC2A-47CA-B244-0E4CC45D5356}" srcOrd="0" destOrd="0" parTransId="{B8D7D310-3F30-40F7-9C3F-2E9B630AD0A6}" sibTransId="{3216BFDB-B1DF-4E99-956D-53BD6A309725}"/>
    <dgm:cxn modelId="{C7D63F75-0DE5-4B72-8370-FE7E00D87DEF}" type="presOf" srcId="{A5B6ADCF-DA4D-4ED0-AA99-B0FB9CF93F39}" destId="{B9360BFE-A3DA-4694-A56C-674985267BAB}" srcOrd="0" destOrd="0" presId="urn:microsoft.com/office/officeart/2005/8/layout/vList6"/>
    <dgm:cxn modelId="{D6207583-293C-40C4-90D0-6F24471D2040}" type="presOf" srcId="{CCCE8E65-0B83-49E0-8351-34D75448373F}" destId="{3EED9938-7FAA-428C-966F-CB2B2C243B5E}" srcOrd="0" destOrd="1" presId="urn:microsoft.com/office/officeart/2005/8/layout/vList6"/>
    <dgm:cxn modelId="{C37AC592-2F2A-4E82-B2AA-1D99177634A1}" type="presOf" srcId="{07DCF937-E6D6-4000-95C3-9B258855E07A}" destId="{814630E8-E31A-421F-BD8D-521943B8B89E}" srcOrd="0" destOrd="0" presId="urn:microsoft.com/office/officeart/2005/8/layout/vList6"/>
    <dgm:cxn modelId="{B646C598-4127-4588-97D9-4FE0B182E87A}" type="presOf" srcId="{6C6AF096-8624-46D1-AB16-48463C6D0039}" destId="{69637F30-1E78-4261-ABEE-AEFA18F0E8AA}" srcOrd="0" destOrd="1" presId="urn:microsoft.com/office/officeart/2005/8/layout/vList6"/>
    <dgm:cxn modelId="{BD2A91A0-C8C8-47F2-9EDC-D3E186D7B9D6}" srcId="{F2225B54-1CCA-4F50-B1E2-B24ADA35AC27}" destId="{9A0DAC74-C288-471E-B9D2-FC24A368D489}" srcOrd="0" destOrd="0" parTransId="{BACCAC3C-0EE8-496E-829D-519D646DEC30}" sibTransId="{A81300B3-1257-4B37-977B-70A0B0595FF2}"/>
    <dgm:cxn modelId="{9344B7C5-8301-49A9-9CFE-4A00D627B129}" type="presOf" srcId="{81B6B2C7-AAFF-4BAB-BF4B-945E5FABEF65}" destId="{3EED9938-7FAA-428C-966F-CB2B2C243B5E}" srcOrd="0" destOrd="0" presId="urn:microsoft.com/office/officeart/2005/8/layout/vList6"/>
    <dgm:cxn modelId="{4FAEBACC-4884-41EC-9553-354372B8FBA8}" srcId="{6A1EFAB6-5A2D-4271-814E-616C9BFCD7AE}" destId="{CFF5A465-6D03-4BB2-8656-5CF7CCD24B1C}" srcOrd="0" destOrd="0" parTransId="{143110DA-453D-4EFA-A475-56FF5A69057F}" sibTransId="{A67DDF9A-52E6-419A-8C18-0DE88D3FD17E}"/>
    <dgm:cxn modelId="{8C785BD6-5E8A-4AF6-9C9C-334363D3D4D3}" srcId="{F2225B54-1CCA-4F50-B1E2-B24ADA35AC27}" destId="{8CD13F17-4EA2-4D04-9D57-3C8A59CE7ACA}" srcOrd="1" destOrd="0" parTransId="{21A3BEC2-59D6-44EA-BF92-0E07B36E9ECB}" sibTransId="{9DE033FD-BC18-4804-9978-506E6D832174}"/>
    <dgm:cxn modelId="{3ED205E6-4C1E-4723-AC57-5945A498419A}" srcId="{E642037C-6DD7-4C34-A370-70C04E07CF64}" destId="{6A1EFAB6-5A2D-4271-814E-616C9BFCD7AE}" srcOrd="0" destOrd="0" parTransId="{37E22EB3-732B-4F0E-BD89-9BADC5F6C48F}" sibTransId="{2B439A9C-CA1D-478A-A8ED-126B6598E9D5}"/>
    <dgm:cxn modelId="{238A43EA-1626-4C7C-80AE-467256A0751C}" srcId="{81B6B2C7-AAFF-4BAB-BF4B-945E5FABEF65}" destId="{CCCE8E65-0B83-49E0-8351-34D75448373F}" srcOrd="0" destOrd="0" parTransId="{19A71FFF-09BD-41F3-9E70-3442A4CF4A53}" sibTransId="{23EBDFAC-31CC-42DD-BBCD-840D6BDC6D5B}"/>
    <dgm:cxn modelId="{7F80F9F2-BCC0-408A-B25B-D7E786A13C96}" type="presOf" srcId="{E642037C-6DD7-4C34-A370-70C04E07CF64}" destId="{AB274619-A99C-402D-BA36-97A0AC1F2640}" srcOrd="0" destOrd="0" presId="urn:microsoft.com/office/officeart/2005/8/layout/vList6"/>
    <dgm:cxn modelId="{E4FCB2F9-9D7F-443F-BEEF-698E3EB4D562}" srcId="{9A0DAC74-C288-471E-B9D2-FC24A368D489}" destId="{07DCF937-E6D6-4000-95C3-9B258855E07A}" srcOrd="0" destOrd="0" parTransId="{FF7F337E-293A-44FC-95E6-158F33F57E38}" sibTransId="{F236A883-623B-4236-9097-EB56228BEDBD}"/>
    <dgm:cxn modelId="{CFF9F4FD-4AA7-47CC-82F0-8BE2973D414D}" srcId="{07DCF937-E6D6-4000-95C3-9B258855E07A}" destId="{B4550089-C3AA-4DEA-89C1-0AC48FF8F56A}" srcOrd="0" destOrd="0" parTransId="{5286B761-D0DF-4F6F-8A6E-760B1618B3DC}" sibTransId="{8760BADF-0D8D-476F-9BAD-DFFF358F8BF4}"/>
    <dgm:cxn modelId="{6C8FD8FE-8AEC-4E4D-98AF-5DC19297915C}" type="presOf" srcId="{F2225B54-1CCA-4F50-B1E2-B24ADA35AC27}" destId="{A357A096-27FE-4DAD-B890-A1C8E95CC4D7}" srcOrd="0" destOrd="0" presId="urn:microsoft.com/office/officeart/2005/8/layout/vList6"/>
    <dgm:cxn modelId="{BDBC4EFF-7C82-47C2-8918-72808E603F0A}" type="presOf" srcId="{8CD13F17-4EA2-4D04-9D57-3C8A59CE7ACA}" destId="{1C15550E-ACDB-49AD-B213-FFE92CF11B22}" srcOrd="0" destOrd="0" presId="urn:microsoft.com/office/officeart/2005/8/layout/vList6"/>
    <dgm:cxn modelId="{277AA7B4-5794-4837-9FA6-19E65AE3329A}" type="presParOf" srcId="{A357A096-27FE-4DAD-B890-A1C8E95CC4D7}" destId="{63B437AC-F7AE-4F30-BC29-A2C67C3B9E8A}" srcOrd="0" destOrd="0" presId="urn:microsoft.com/office/officeart/2005/8/layout/vList6"/>
    <dgm:cxn modelId="{8408D8C8-675E-45E3-B469-AF8412089686}" type="presParOf" srcId="{63B437AC-F7AE-4F30-BC29-A2C67C3B9E8A}" destId="{F7E75EE7-D4FE-4FC0-B4A4-0D5BFADBB4CC}" srcOrd="0" destOrd="0" presId="urn:microsoft.com/office/officeart/2005/8/layout/vList6"/>
    <dgm:cxn modelId="{4EE6FEE1-93F7-4864-B86C-AE1BDC27C274}" type="presParOf" srcId="{63B437AC-F7AE-4F30-BC29-A2C67C3B9E8A}" destId="{814630E8-E31A-421F-BD8D-521943B8B89E}" srcOrd="1" destOrd="0" presId="urn:microsoft.com/office/officeart/2005/8/layout/vList6"/>
    <dgm:cxn modelId="{97DBEB00-11B1-43F8-BAD2-21B0B5AB4CD7}" type="presParOf" srcId="{A357A096-27FE-4DAD-B890-A1C8E95CC4D7}" destId="{9201B243-81C1-4C18-83F8-AA7C1AD6BE1D}" srcOrd="1" destOrd="0" presId="urn:microsoft.com/office/officeart/2005/8/layout/vList6"/>
    <dgm:cxn modelId="{BBF68578-A8FC-4566-B1DD-81884D57A025}" type="presParOf" srcId="{A357A096-27FE-4DAD-B890-A1C8E95CC4D7}" destId="{FEDD3585-9B82-4106-8D1D-DC521A4D3607}" srcOrd="2" destOrd="0" presId="urn:microsoft.com/office/officeart/2005/8/layout/vList6"/>
    <dgm:cxn modelId="{D4FE98B2-DE0D-4237-8E49-44387D60C26F}" type="presParOf" srcId="{FEDD3585-9B82-4106-8D1D-DC521A4D3607}" destId="{1C15550E-ACDB-49AD-B213-FFE92CF11B22}" srcOrd="0" destOrd="0" presId="urn:microsoft.com/office/officeart/2005/8/layout/vList6"/>
    <dgm:cxn modelId="{54ADD51C-1915-46B6-B50A-BE9A2742C329}" type="presParOf" srcId="{FEDD3585-9B82-4106-8D1D-DC521A4D3607}" destId="{69637F30-1E78-4261-ABEE-AEFA18F0E8AA}" srcOrd="1" destOrd="0" presId="urn:microsoft.com/office/officeart/2005/8/layout/vList6"/>
    <dgm:cxn modelId="{0D2890F2-054C-4D5E-B2E0-B2E933B48469}" type="presParOf" srcId="{A357A096-27FE-4DAD-B890-A1C8E95CC4D7}" destId="{EB8FB1DF-7E39-4D9E-A6CB-BE76562F0F34}" srcOrd="3" destOrd="0" presId="urn:microsoft.com/office/officeart/2005/8/layout/vList6"/>
    <dgm:cxn modelId="{1B3C5666-E351-48FD-B7F3-96FF729D3B06}" type="presParOf" srcId="{A357A096-27FE-4DAD-B890-A1C8E95CC4D7}" destId="{E94ED77A-5FC8-44F9-B33C-739C85BCF80C}" srcOrd="4" destOrd="0" presId="urn:microsoft.com/office/officeart/2005/8/layout/vList6"/>
    <dgm:cxn modelId="{96478A54-EFA5-4F27-BD4C-FF5B8AC6D5AE}" type="presParOf" srcId="{E94ED77A-5FC8-44F9-B33C-739C85BCF80C}" destId="{AB274619-A99C-402D-BA36-97A0AC1F2640}" srcOrd="0" destOrd="0" presId="urn:microsoft.com/office/officeart/2005/8/layout/vList6"/>
    <dgm:cxn modelId="{E77D0D97-842A-4B2F-82C7-9387A4DB9696}" type="presParOf" srcId="{E94ED77A-5FC8-44F9-B33C-739C85BCF80C}" destId="{D1477C45-E22E-42F5-B513-F482AC8FA156}" srcOrd="1" destOrd="0" presId="urn:microsoft.com/office/officeart/2005/8/layout/vList6"/>
    <dgm:cxn modelId="{0298174C-5F00-4499-9F1F-593D1CC73FA8}" type="presParOf" srcId="{A357A096-27FE-4DAD-B890-A1C8E95CC4D7}" destId="{A83C5AEA-5D20-4CF1-8269-5A582D3109B1}" srcOrd="5" destOrd="0" presId="urn:microsoft.com/office/officeart/2005/8/layout/vList6"/>
    <dgm:cxn modelId="{FB141179-46E3-4C7D-B3D7-D79EB291CDE6}" type="presParOf" srcId="{A357A096-27FE-4DAD-B890-A1C8E95CC4D7}" destId="{E16F2BA7-E75C-4B6E-BA41-EA7B0411D384}" srcOrd="6" destOrd="0" presId="urn:microsoft.com/office/officeart/2005/8/layout/vList6"/>
    <dgm:cxn modelId="{C6CF1B43-63D6-476F-B1BB-3B05BB36BB8D}" type="presParOf" srcId="{E16F2BA7-E75C-4B6E-BA41-EA7B0411D384}" destId="{B9360BFE-A3DA-4694-A56C-674985267BAB}" srcOrd="0" destOrd="0" presId="urn:microsoft.com/office/officeart/2005/8/layout/vList6"/>
    <dgm:cxn modelId="{9FA7853C-12C3-4593-8D1D-1FFC6958B0E5}" type="presParOf" srcId="{E16F2BA7-E75C-4B6E-BA41-EA7B0411D384}" destId="{3EED9938-7FAA-428C-966F-CB2B2C243B5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D4EA16-D4F5-4D77-8BF5-423C17D9F9D3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40C1755D-9762-4DC3-BC2A-4E1A1BCC6ED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Increased Conversion (20–30%)</a:t>
          </a:r>
        </a:p>
        <a:p>
          <a:pPr>
            <a:buFont typeface="Arial" panose="020B0604020202020204" pitchFamily="34" charset="0"/>
            <a:buChar char="•"/>
          </a:pPr>
          <a:r>
            <a:rPr lang="en-GB" b="0" i="0" dirty="0"/>
            <a:t>Personalized offers, not generic spam.</a:t>
          </a:r>
          <a:endParaRPr lang="en-GB" dirty="0"/>
        </a:p>
      </dgm:t>
    </dgm:pt>
    <dgm:pt modelId="{D1EB2E77-1D1E-43C9-B6C8-F5F7C445BC21}" type="parTrans" cxnId="{9801B139-098F-480E-9ACC-9F1F978F269A}">
      <dgm:prSet/>
      <dgm:spPr/>
      <dgm:t>
        <a:bodyPr/>
        <a:lstStyle/>
        <a:p>
          <a:endParaRPr lang="en-GB"/>
        </a:p>
      </dgm:t>
    </dgm:pt>
    <dgm:pt modelId="{7304CFFB-8860-4713-AADE-4587B141E6D5}" type="sibTrans" cxnId="{9801B139-098F-480E-9ACC-9F1F978F269A}">
      <dgm:prSet/>
      <dgm:spPr/>
      <dgm:t>
        <a:bodyPr/>
        <a:lstStyle/>
        <a:p>
          <a:endParaRPr lang="en-GB"/>
        </a:p>
      </dgm:t>
    </dgm:pt>
    <dgm:pt modelId="{0E2A35C7-52D9-4CEF-BD5F-C8DB7EBA4A4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Reduced Churn (15–18%)</a:t>
          </a:r>
        </a:p>
        <a:p>
          <a:pPr>
            <a:buFont typeface="Arial" panose="020B0604020202020204" pitchFamily="34" charset="0"/>
            <a:buChar char="•"/>
          </a:pPr>
          <a:r>
            <a:rPr lang="en-GB" b="0" i="0" dirty="0"/>
            <a:t>Proactive intervention with "At-Risk" segments.</a:t>
          </a:r>
          <a:endParaRPr lang="en-GB" dirty="0"/>
        </a:p>
      </dgm:t>
    </dgm:pt>
    <dgm:pt modelId="{9FEDE136-6B37-4FB3-9009-1E5D453E11B0}" type="parTrans" cxnId="{F7B00BAA-5C32-4FE6-BAA7-AE6A58E7C0BE}">
      <dgm:prSet/>
      <dgm:spPr/>
      <dgm:t>
        <a:bodyPr/>
        <a:lstStyle/>
        <a:p>
          <a:endParaRPr lang="en-GB"/>
        </a:p>
      </dgm:t>
    </dgm:pt>
    <dgm:pt modelId="{4C33061F-F534-43B4-94D8-B8A1422B5942}" type="sibTrans" cxnId="{F7B00BAA-5C32-4FE6-BAA7-AE6A58E7C0BE}">
      <dgm:prSet/>
      <dgm:spPr/>
      <dgm:t>
        <a:bodyPr/>
        <a:lstStyle/>
        <a:p>
          <a:endParaRPr lang="en-GB"/>
        </a:p>
      </dgm:t>
    </dgm:pt>
    <dgm:pt modelId="{BB92986B-0A65-4A5D-B338-419092104AB3}">
      <dgm:prSet phldrT="[Text]"/>
      <dgm:spPr/>
      <dgm:t>
        <a:bodyPr/>
        <a:lstStyle/>
        <a:p>
          <a:pPr>
            <a:buNone/>
          </a:pPr>
          <a:r>
            <a:rPr lang="en-GB" b="1" i="0" dirty="0"/>
            <a:t>Optimized Marketing Spend</a:t>
          </a:r>
        </a:p>
        <a:p>
          <a:pPr>
            <a:buNone/>
          </a:pPr>
          <a:r>
            <a:rPr lang="en-GB" b="0" i="0" dirty="0"/>
            <a:t>Shift budget from low-value acquisition to high-value retention</a:t>
          </a:r>
          <a:endParaRPr lang="en-GB" dirty="0"/>
        </a:p>
      </dgm:t>
    </dgm:pt>
    <dgm:pt modelId="{CA320494-8E5D-4D69-9111-B381A6561C35}" type="parTrans" cxnId="{9B582220-843F-409C-876D-50C270203344}">
      <dgm:prSet/>
      <dgm:spPr/>
      <dgm:t>
        <a:bodyPr/>
        <a:lstStyle/>
        <a:p>
          <a:endParaRPr lang="en-GB"/>
        </a:p>
      </dgm:t>
    </dgm:pt>
    <dgm:pt modelId="{259BCC6D-B751-4BD6-AAA9-023C7EABCD24}" type="sibTrans" cxnId="{9B582220-843F-409C-876D-50C270203344}">
      <dgm:prSet/>
      <dgm:spPr/>
      <dgm:t>
        <a:bodyPr/>
        <a:lstStyle/>
        <a:p>
          <a:endParaRPr lang="en-GB"/>
        </a:p>
      </dgm:t>
    </dgm:pt>
    <dgm:pt modelId="{0A515AA7-7318-4A0A-8B38-2EA05494BC65}">
      <dgm:prSet phldrT="[Text]"/>
      <dgm:spPr/>
      <dgm:t>
        <a:bodyPr/>
        <a:lstStyle/>
        <a:p>
          <a:pPr>
            <a:buNone/>
          </a:pPr>
          <a:r>
            <a:rPr lang="en-GB" b="1" i="0" dirty="0"/>
            <a:t>Improved Average Order Value (AOV)</a:t>
          </a:r>
        </a:p>
        <a:p>
          <a:pPr>
            <a:buNone/>
          </a:pPr>
          <a:r>
            <a:rPr lang="en-GB" b="0" i="0" dirty="0"/>
            <a:t>Tailored upsell/cross-sell campaigns</a:t>
          </a:r>
          <a:endParaRPr lang="en-GB" dirty="0"/>
        </a:p>
      </dgm:t>
    </dgm:pt>
    <dgm:pt modelId="{19DB3104-86C7-4988-A0F6-2EA27F3A2928}" type="parTrans" cxnId="{027BE271-5835-43DA-86D7-9CEA1C9F1F3C}">
      <dgm:prSet/>
      <dgm:spPr/>
      <dgm:t>
        <a:bodyPr/>
        <a:lstStyle/>
        <a:p>
          <a:endParaRPr lang="en-GB"/>
        </a:p>
      </dgm:t>
    </dgm:pt>
    <dgm:pt modelId="{BBF6A822-D444-4218-971D-B676360BA71D}" type="sibTrans" cxnId="{027BE271-5835-43DA-86D7-9CEA1C9F1F3C}">
      <dgm:prSet/>
      <dgm:spPr/>
      <dgm:t>
        <a:bodyPr/>
        <a:lstStyle/>
        <a:p>
          <a:endParaRPr lang="en-GB"/>
        </a:p>
      </dgm:t>
    </dgm:pt>
    <dgm:pt modelId="{D5F83CBF-C1D9-4BE5-B1F8-7AF1C518879F}" type="pres">
      <dgm:prSet presAssocID="{5ED4EA16-D4F5-4D77-8BF5-423C17D9F9D3}" presName="Name0" presStyleCnt="0">
        <dgm:presLayoutVars>
          <dgm:chMax val="7"/>
          <dgm:chPref val="7"/>
          <dgm:dir/>
        </dgm:presLayoutVars>
      </dgm:prSet>
      <dgm:spPr/>
    </dgm:pt>
    <dgm:pt modelId="{62D2CA5B-27AA-4E14-B2C1-C4AA9D25A25A}" type="pres">
      <dgm:prSet presAssocID="{5ED4EA16-D4F5-4D77-8BF5-423C17D9F9D3}" presName="Name1" presStyleCnt="0"/>
      <dgm:spPr/>
    </dgm:pt>
    <dgm:pt modelId="{2C29A03D-A2BB-46F5-948D-9DBBCA0D5268}" type="pres">
      <dgm:prSet presAssocID="{5ED4EA16-D4F5-4D77-8BF5-423C17D9F9D3}" presName="cycle" presStyleCnt="0"/>
      <dgm:spPr/>
    </dgm:pt>
    <dgm:pt modelId="{F39F6237-DC9D-4D2F-A267-6AB9A1B3F407}" type="pres">
      <dgm:prSet presAssocID="{5ED4EA16-D4F5-4D77-8BF5-423C17D9F9D3}" presName="srcNode" presStyleLbl="node1" presStyleIdx="0" presStyleCnt="4"/>
      <dgm:spPr/>
    </dgm:pt>
    <dgm:pt modelId="{FD56F4C7-D8A4-4F3E-96D9-63AE42B525C7}" type="pres">
      <dgm:prSet presAssocID="{5ED4EA16-D4F5-4D77-8BF5-423C17D9F9D3}" presName="conn" presStyleLbl="parChTrans1D2" presStyleIdx="0" presStyleCnt="1"/>
      <dgm:spPr/>
    </dgm:pt>
    <dgm:pt modelId="{481E8F60-3715-4F18-9633-4912A1207F7A}" type="pres">
      <dgm:prSet presAssocID="{5ED4EA16-D4F5-4D77-8BF5-423C17D9F9D3}" presName="extraNode" presStyleLbl="node1" presStyleIdx="0" presStyleCnt="4"/>
      <dgm:spPr/>
    </dgm:pt>
    <dgm:pt modelId="{EB0651B1-76FE-4185-81CA-BA85F240A08E}" type="pres">
      <dgm:prSet presAssocID="{5ED4EA16-D4F5-4D77-8BF5-423C17D9F9D3}" presName="dstNode" presStyleLbl="node1" presStyleIdx="0" presStyleCnt="4"/>
      <dgm:spPr/>
    </dgm:pt>
    <dgm:pt modelId="{E12655B2-9F18-44E3-9C54-89D8A3EF13B2}" type="pres">
      <dgm:prSet presAssocID="{40C1755D-9762-4DC3-BC2A-4E1A1BCC6ED3}" presName="text_1" presStyleLbl="node1" presStyleIdx="0" presStyleCnt="4">
        <dgm:presLayoutVars>
          <dgm:bulletEnabled val="1"/>
        </dgm:presLayoutVars>
      </dgm:prSet>
      <dgm:spPr/>
    </dgm:pt>
    <dgm:pt modelId="{158B37CE-D4A9-4F2E-BFAE-161B556DF5D1}" type="pres">
      <dgm:prSet presAssocID="{40C1755D-9762-4DC3-BC2A-4E1A1BCC6ED3}" presName="accent_1" presStyleCnt="0"/>
      <dgm:spPr/>
    </dgm:pt>
    <dgm:pt modelId="{6913A05D-D63B-44DD-8F29-F67EBA788029}" type="pres">
      <dgm:prSet presAssocID="{40C1755D-9762-4DC3-BC2A-4E1A1BCC6ED3}" presName="accentRepeatNode" presStyleLbl="solidFgAcc1" presStyleIdx="0" presStyleCnt="4"/>
      <dgm:spPr>
        <a:solidFill>
          <a:schemeClr val="accent6">
            <a:lumMod val="50000"/>
          </a:schemeClr>
        </a:solidFill>
      </dgm:spPr>
    </dgm:pt>
    <dgm:pt modelId="{EF314E81-36EE-403B-BEE8-690AD34076EC}" type="pres">
      <dgm:prSet presAssocID="{0E2A35C7-52D9-4CEF-BD5F-C8DB7EBA4A45}" presName="text_2" presStyleLbl="node1" presStyleIdx="1" presStyleCnt="4">
        <dgm:presLayoutVars>
          <dgm:bulletEnabled val="1"/>
        </dgm:presLayoutVars>
      </dgm:prSet>
      <dgm:spPr/>
    </dgm:pt>
    <dgm:pt modelId="{AAB20426-DCB1-4EEB-8FC3-F88F32EE1C9D}" type="pres">
      <dgm:prSet presAssocID="{0E2A35C7-52D9-4CEF-BD5F-C8DB7EBA4A45}" presName="accent_2" presStyleCnt="0"/>
      <dgm:spPr/>
    </dgm:pt>
    <dgm:pt modelId="{61FB939D-7673-4CF5-B242-562A03C405B0}" type="pres">
      <dgm:prSet presAssocID="{0E2A35C7-52D9-4CEF-BD5F-C8DB7EBA4A45}" presName="accentRepeatNode" presStyleLbl="solidFgAcc1" presStyleIdx="1" presStyleCnt="4"/>
      <dgm:spPr>
        <a:solidFill>
          <a:schemeClr val="accent2">
            <a:lumMod val="75000"/>
          </a:schemeClr>
        </a:solidFill>
      </dgm:spPr>
    </dgm:pt>
    <dgm:pt modelId="{92AB2D58-2B65-4587-A63D-FF5999FF9458}" type="pres">
      <dgm:prSet presAssocID="{BB92986B-0A65-4A5D-B338-419092104AB3}" presName="text_3" presStyleLbl="node1" presStyleIdx="2" presStyleCnt="4">
        <dgm:presLayoutVars>
          <dgm:bulletEnabled val="1"/>
        </dgm:presLayoutVars>
      </dgm:prSet>
      <dgm:spPr/>
    </dgm:pt>
    <dgm:pt modelId="{8AEF7A1B-9D66-4964-8B47-F6102E2CC2F6}" type="pres">
      <dgm:prSet presAssocID="{BB92986B-0A65-4A5D-B338-419092104AB3}" presName="accent_3" presStyleCnt="0"/>
      <dgm:spPr/>
    </dgm:pt>
    <dgm:pt modelId="{F3317B6B-9618-44E1-934F-FC84CD34A1F6}" type="pres">
      <dgm:prSet presAssocID="{BB92986B-0A65-4A5D-B338-419092104AB3}" presName="accentRepeatNode" presStyleLbl="solidFgAcc1" presStyleIdx="2" presStyleCnt="4"/>
      <dgm:spPr>
        <a:solidFill>
          <a:schemeClr val="accent6">
            <a:lumMod val="60000"/>
            <a:lumOff val="40000"/>
          </a:schemeClr>
        </a:solidFill>
      </dgm:spPr>
    </dgm:pt>
    <dgm:pt modelId="{76B917CE-DF40-4000-A793-0FF1290D3EF0}" type="pres">
      <dgm:prSet presAssocID="{0A515AA7-7318-4A0A-8B38-2EA05494BC65}" presName="text_4" presStyleLbl="node1" presStyleIdx="3" presStyleCnt="4">
        <dgm:presLayoutVars>
          <dgm:bulletEnabled val="1"/>
        </dgm:presLayoutVars>
      </dgm:prSet>
      <dgm:spPr/>
    </dgm:pt>
    <dgm:pt modelId="{1585E400-818F-40AB-B7EF-152ED88E2492}" type="pres">
      <dgm:prSet presAssocID="{0A515AA7-7318-4A0A-8B38-2EA05494BC65}" presName="accent_4" presStyleCnt="0"/>
      <dgm:spPr/>
    </dgm:pt>
    <dgm:pt modelId="{7314FBED-A8EA-4587-9B5F-E15FB13FF931}" type="pres">
      <dgm:prSet presAssocID="{0A515AA7-7318-4A0A-8B38-2EA05494BC65}" presName="accentRepeatNode" presStyleLbl="solidFgAcc1" presStyleIdx="3" presStyleCnt="4"/>
      <dgm:spPr/>
    </dgm:pt>
  </dgm:ptLst>
  <dgm:cxnLst>
    <dgm:cxn modelId="{9B582220-843F-409C-876D-50C270203344}" srcId="{5ED4EA16-D4F5-4D77-8BF5-423C17D9F9D3}" destId="{BB92986B-0A65-4A5D-B338-419092104AB3}" srcOrd="2" destOrd="0" parTransId="{CA320494-8E5D-4D69-9111-B381A6561C35}" sibTransId="{259BCC6D-B751-4BD6-AAA9-023C7EABCD24}"/>
    <dgm:cxn modelId="{E21BDA23-BE35-41AC-B9B0-3A915FF45CE2}" type="presOf" srcId="{7304CFFB-8860-4713-AADE-4587B141E6D5}" destId="{FD56F4C7-D8A4-4F3E-96D9-63AE42B525C7}" srcOrd="0" destOrd="0" presId="urn:microsoft.com/office/officeart/2008/layout/VerticalCurvedList"/>
    <dgm:cxn modelId="{9801B139-098F-480E-9ACC-9F1F978F269A}" srcId="{5ED4EA16-D4F5-4D77-8BF5-423C17D9F9D3}" destId="{40C1755D-9762-4DC3-BC2A-4E1A1BCC6ED3}" srcOrd="0" destOrd="0" parTransId="{D1EB2E77-1D1E-43C9-B6C8-F5F7C445BC21}" sibTransId="{7304CFFB-8860-4713-AADE-4587B141E6D5}"/>
    <dgm:cxn modelId="{52D7F94A-F323-4EB4-98EB-4C2DF2DBE626}" type="presOf" srcId="{BB92986B-0A65-4A5D-B338-419092104AB3}" destId="{92AB2D58-2B65-4587-A63D-FF5999FF9458}" srcOrd="0" destOrd="0" presId="urn:microsoft.com/office/officeart/2008/layout/VerticalCurvedList"/>
    <dgm:cxn modelId="{A0CD4E71-3385-4126-A2DF-EE300146DE09}" type="presOf" srcId="{5ED4EA16-D4F5-4D77-8BF5-423C17D9F9D3}" destId="{D5F83CBF-C1D9-4BE5-B1F8-7AF1C518879F}" srcOrd="0" destOrd="0" presId="urn:microsoft.com/office/officeart/2008/layout/VerticalCurvedList"/>
    <dgm:cxn modelId="{027BE271-5835-43DA-86D7-9CEA1C9F1F3C}" srcId="{5ED4EA16-D4F5-4D77-8BF5-423C17D9F9D3}" destId="{0A515AA7-7318-4A0A-8B38-2EA05494BC65}" srcOrd="3" destOrd="0" parTransId="{19DB3104-86C7-4988-A0F6-2EA27F3A2928}" sibTransId="{BBF6A822-D444-4218-971D-B676360BA71D}"/>
    <dgm:cxn modelId="{A6F05D8E-8899-4892-B4A9-05A3F26DEC79}" type="presOf" srcId="{0E2A35C7-52D9-4CEF-BD5F-C8DB7EBA4A45}" destId="{EF314E81-36EE-403B-BEE8-690AD34076EC}" srcOrd="0" destOrd="0" presId="urn:microsoft.com/office/officeart/2008/layout/VerticalCurvedList"/>
    <dgm:cxn modelId="{F7B00BAA-5C32-4FE6-BAA7-AE6A58E7C0BE}" srcId="{5ED4EA16-D4F5-4D77-8BF5-423C17D9F9D3}" destId="{0E2A35C7-52D9-4CEF-BD5F-C8DB7EBA4A45}" srcOrd="1" destOrd="0" parTransId="{9FEDE136-6B37-4FB3-9009-1E5D453E11B0}" sibTransId="{4C33061F-F534-43B4-94D8-B8A1422B5942}"/>
    <dgm:cxn modelId="{D1FC76C4-945F-4801-8634-84E2CD80F733}" type="presOf" srcId="{0A515AA7-7318-4A0A-8B38-2EA05494BC65}" destId="{76B917CE-DF40-4000-A793-0FF1290D3EF0}" srcOrd="0" destOrd="0" presId="urn:microsoft.com/office/officeart/2008/layout/VerticalCurvedList"/>
    <dgm:cxn modelId="{99D3B8F3-B462-4B70-B464-04739A253084}" type="presOf" srcId="{40C1755D-9762-4DC3-BC2A-4E1A1BCC6ED3}" destId="{E12655B2-9F18-44E3-9C54-89D8A3EF13B2}" srcOrd="0" destOrd="0" presId="urn:microsoft.com/office/officeart/2008/layout/VerticalCurvedList"/>
    <dgm:cxn modelId="{5C5B538E-E3F3-4175-8111-64E6613CD614}" type="presParOf" srcId="{D5F83CBF-C1D9-4BE5-B1F8-7AF1C518879F}" destId="{62D2CA5B-27AA-4E14-B2C1-C4AA9D25A25A}" srcOrd="0" destOrd="0" presId="urn:microsoft.com/office/officeart/2008/layout/VerticalCurvedList"/>
    <dgm:cxn modelId="{3AD861C2-266B-43E5-AA4E-1145D1E1AFB4}" type="presParOf" srcId="{62D2CA5B-27AA-4E14-B2C1-C4AA9D25A25A}" destId="{2C29A03D-A2BB-46F5-948D-9DBBCA0D5268}" srcOrd="0" destOrd="0" presId="urn:microsoft.com/office/officeart/2008/layout/VerticalCurvedList"/>
    <dgm:cxn modelId="{D01B3A54-214B-441B-954A-FC59C742654A}" type="presParOf" srcId="{2C29A03D-A2BB-46F5-948D-9DBBCA0D5268}" destId="{F39F6237-DC9D-4D2F-A267-6AB9A1B3F407}" srcOrd="0" destOrd="0" presId="urn:microsoft.com/office/officeart/2008/layout/VerticalCurvedList"/>
    <dgm:cxn modelId="{DAB097F9-0BEC-4C59-A267-CFD165942FF6}" type="presParOf" srcId="{2C29A03D-A2BB-46F5-948D-9DBBCA0D5268}" destId="{FD56F4C7-D8A4-4F3E-96D9-63AE42B525C7}" srcOrd="1" destOrd="0" presId="urn:microsoft.com/office/officeart/2008/layout/VerticalCurvedList"/>
    <dgm:cxn modelId="{E21F864A-0046-41E7-A46D-6CC5C7033212}" type="presParOf" srcId="{2C29A03D-A2BB-46F5-948D-9DBBCA0D5268}" destId="{481E8F60-3715-4F18-9633-4912A1207F7A}" srcOrd="2" destOrd="0" presId="urn:microsoft.com/office/officeart/2008/layout/VerticalCurvedList"/>
    <dgm:cxn modelId="{B18015C2-E541-4CAC-86A2-36B6C2930111}" type="presParOf" srcId="{2C29A03D-A2BB-46F5-948D-9DBBCA0D5268}" destId="{EB0651B1-76FE-4185-81CA-BA85F240A08E}" srcOrd="3" destOrd="0" presId="urn:microsoft.com/office/officeart/2008/layout/VerticalCurvedList"/>
    <dgm:cxn modelId="{38E5C246-2B9B-4D3B-8D7B-E0C76C71DE0D}" type="presParOf" srcId="{62D2CA5B-27AA-4E14-B2C1-C4AA9D25A25A}" destId="{E12655B2-9F18-44E3-9C54-89D8A3EF13B2}" srcOrd="1" destOrd="0" presId="urn:microsoft.com/office/officeart/2008/layout/VerticalCurvedList"/>
    <dgm:cxn modelId="{6426C6CA-A37F-457E-AA44-1F496C2547CE}" type="presParOf" srcId="{62D2CA5B-27AA-4E14-B2C1-C4AA9D25A25A}" destId="{158B37CE-D4A9-4F2E-BFAE-161B556DF5D1}" srcOrd="2" destOrd="0" presId="urn:microsoft.com/office/officeart/2008/layout/VerticalCurvedList"/>
    <dgm:cxn modelId="{4E4CCFE4-99FF-418B-ADC6-F26537C551F4}" type="presParOf" srcId="{158B37CE-D4A9-4F2E-BFAE-161B556DF5D1}" destId="{6913A05D-D63B-44DD-8F29-F67EBA788029}" srcOrd="0" destOrd="0" presId="urn:microsoft.com/office/officeart/2008/layout/VerticalCurvedList"/>
    <dgm:cxn modelId="{63D2D666-4405-4158-94D4-7D5F8CE5B586}" type="presParOf" srcId="{62D2CA5B-27AA-4E14-B2C1-C4AA9D25A25A}" destId="{EF314E81-36EE-403B-BEE8-690AD34076EC}" srcOrd="3" destOrd="0" presId="urn:microsoft.com/office/officeart/2008/layout/VerticalCurvedList"/>
    <dgm:cxn modelId="{1A44DD9F-4DB7-4AB2-BB2A-DC7BCC62443C}" type="presParOf" srcId="{62D2CA5B-27AA-4E14-B2C1-C4AA9D25A25A}" destId="{AAB20426-DCB1-4EEB-8FC3-F88F32EE1C9D}" srcOrd="4" destOrd="0" presId="urn:microsoft.com/office/officeart/2008/layout/VerticalCurvedList"/>
    <dgm:cxn modelId="{54407A8D-73FA-4133-83BE-17EC6D0A0E78}" type="presParOf" srcId="{AAB20426-DCB1-4EEB-8FC3-F88F32EE1C9D}" destId="{61FB939D-7673-4CF5-B242-562A03C405B0}" srcOrd="0" destOrd="0" presId="urn:microsoft.com/office/officeart/2008/layout/VerticalCurvedList"/>
    <dgm:cxn modelId="{C02234A9-84AD-45E4-808F-546B46DA36B3}" type="presParOf" srcId="{62D2CA5B-27AA-4E14-B2C1-C4AA9D25A25A}" destId="{92AB2D58-2B65-4587-A63D-FF5999FF9458}" srcOrd="5" destOrd="0" presId="urn:microsoft.com/office/officeart/2008/layout/VerticalCurvedList"/>
    <dgm:cxn modelId="{5ACDAA37-AA6A-4693-89DE-EA79DA9E29DF}" type="presParOf" srcId="{62D2CA5B-27AA-4E14-B2C1-C4AA9D25A25A}" destId="{8AEF7A1B-9D66-4964-8B47-F6102E2CC2F6}" srcOrd="6" destOrd="0" presId="urn:microsoft.com/office/officeart/2008/layout/VerticalCurvedList"/>
    <dgm:cxn modelId="{05A7D849-B154-4872-8882-2A7F80FB68F5}" type="presParOf" srcId="{8AEF7A1B-9D66-4964-8B47-F6102E2CC2F6}" destId="{F3317B6B-9618-44E1-934F-FC84CD34A1F6}" srcOrd="0" destOrd="0" presId="urn:microsoft.com/office/officeart/2008/layout/VerticalCurvedList"/>
    <dgm:cxn modelId="{C72EA60F-0B2B-45AD-98DE-F8C4C5F2C4DA}" type="presParOf" srcId="{62D2CA5B-27AA-4E14-B2C1-C4AA9D25A25A}" destId="{76B917CE-DF40-4000-A793-0FF1290D3EF0}" srcOrd="7" destOrd="0" presId="urn:microsoft.com/office/officeart/2008/layout/VerticalCurvedList"/>
    <dgm:cxn modelId="{3F2B3DCB-AFF1-4D1C-A60C-5723CDB46FED}" type="presParOf" srcId="{62D2CA5B-27AA-4E14-B2C1-C4AA9D25A25A}" destId="{1585E400-818F-40AB-B7EF-152ED88E2492}" srcOrd="8" destOrd="0" presId="urn:microsoft.com/office/officeart/2008/layout/VerticalCurvedList"/>
    <dgm:cxn modelId="{2CF24CCB-A5ED-4074-BE5D-484698E3BC4C}" type="presParOf" srcId="{1585E400-818F-40AB-B7EF-152ED88E2492}" destId="{7314FBED-A8EA-4587-9B5F-E15FB13FF93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CB94AF-88F6-4131-A3E2-12E98344ECC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7C3626DD-BCDC-4EED-A5CF-4749D110549F}">
      <dgm:prSet phldrT="[Text]"/>
      <dgm:spPr/>
      <dgm:t>
        <a:bodyPr/>
        <a:lstStyle/>
        <a:p>
          <a:pPr>
            <a:buNone/>
          </a:pPr>
          <a:r>
            <a:rPr lang="en-GB" b="1" i="0" dirty="0"/>
            <a:t>Phase 1 (</a:t>
          </a:r>
          <a:r>
            <a:rPr lang="en-GB" b="1" i="0"/>
            <a:t>Month 1-2)</a:t>
          </a:r>
          <a:endParaRPr lang="en-GB" dirty="0"/>
        </a:p>
      </dgm:t>
    </dgm:pt>
    <dgm:pt modelId="{22B362D1-88D9-4BF8-9DE8-E35CC1975A23}" type="parTrans" cxnId="{4115138E-16AB-4F57-822B-D54D4BAE1058}">
      <dgm:prSet/>
      <dgm:spPr/>
      <dgm:t>
        <a:bodyPr/>
        <a:lstStyle/>
        <a:p>
          <a:endParaRPr lang="en-GB"/>
        </a:p>
      </dgm:t>
    </dgm:pt>
    <dgm:pt modelId="{7FF49157-F32F-448E-9811-03EC885E684C}" type="sibTrans" cxnId="{4115138E-16AB-4F57-822B-D54D4BAE1058}">
      <dgm:prSet/>
      <dgm:spPr/>
      <dgm:t>
        <a:bodyPr/>
        <a:lstStyle/>
        <a:p>
          <a:endParaRPr lang="en-GB"/>
        </a:p>
      </dgm:t>
    </dgm:pt>
    <dgm:pt modelId="{D2F28404-6041-4C2A-9A01-B2B7EE2A44A8}">
      <dgm:prSet phldrT="[Text]"/>
      <dgm:spPr/>
      <dgm:t>
        <a:bodyPr/>
        <a:lstStyle/>
        <a:p>
          <a:pPr>
            <a:buNone/>
          </a:pPr>
          <a:r>
            <a:rPr lang="en-GB" b="1" i="0" dirty="0"/>
            <a:t>Phase 2 (Month 3)</a:t>
          </a:r>
          <a:endParaRPr lang="en-GB" dirty="0"/>
        </a:p>
      </dgm:t>
    </dgm:pt>
    <dgm:pt modelId="{053323DC-8A6C-4E06-8227-1808C6A9F761}" type="parTrans" cxnId="{E8D728C1-8893-4633-B393-21601B669954}">
      <dgm:prSet/>
      <dgm:spPr/>
      <dgm:t>
        <a:bodyPr/>
        <a:lstStyle/>
        <a:p>
          <a:endParaRPr lang="en-GB"/>
        </a:p>
      </dgm:t>
    </dgm:pt>
    <dgm:pt modelId="{0F33786A-969D-4A8E-8399-DD9538149B4C}" type="sibTrans" cxnId="{E8D728C1-8893-4633-B393-21601B669954}">
      <dgm:prSet/>
      <dgm:spPr/>
      <dgm:t>
        <a:bodyPr/>
        <a:lstStyle/>
        <a:p>
          <a:endParaRPr lang="en-GB"/>
        </a:p>
      </dgm:t>
    </dgm:pt>
    <dgm:pt modelId="{C9BDF5D4-D930-4DEE-B7FE-307CE6B1BBE6}">
      <dgm:prSet phldrT="[Text]"/>
      <dgm:spPr/>
      <dgm:t>
        <a:bodyPr/>
        <a:lstStyle/>
        <a:p>
          <a:pPr>
            <a:buNone/>
          </a:pPr>
          <a:r>
            <a:rPr lang="en-GB" b="1" i="0" dirty="0"/>
            <a:t>Phase 3 (Month 4+)</a:t>
          </a:r>
          <a:endParaRPr lang="en-GB" dirty="0"/>
        </a:p>
      </dgm:t>
    </dgm:pt>
    <dgm:pt modelId="{159FBCB2-6C41-4957-ADD2-85D7AC016A49}" type="parTrans" cxnId="{BF413C05-7F76-4628-81CC-9F9D9E0BF0B3}">
      <dgm:prSet/>
      <dgm:spPr/>
      <dgm:t>
        <a:bodyPr/>
        <a:lstStyle/>
        <a:p>
          <a:endParaRPr lang="en-GB"/>
        </a:p>
      </dgm:t>
    </dgm:pt>
    <dgm:pt modelId="{E97A103C-C8BD-48CE-8445-9AD796AE18B3}" type="sibTrans" cxnId="{BF413C05-7F76-4628-81CC-9F9D9E0BF0B3}">
      <dgm:prSet/>
      <dgm:spPr/>
      <dgm:t>
        <a:bodyPr/>
        <a:lstStyle/>
        <a:p>
          <a:endParaRPr lang="en-GB"/>
        </a:p>
      </dgm:t>
    </dgm:pt>
    <dgm:pt modelId="{F626035B-F51D-40D1-9045-B87EA547BF76}">
      <dgm:prSet phldrT="[Text]"/>
      <dgm:spPr/>
      <dgm:t>
        <a:bodyPr/>
        <a:lstStyle/>
        <a:p>
          <a:pPr>
            <a:buNone/>
          </a:pPr>
          <a:r>
            <a:rPr lang="en-GB" b="0" i="0" dirty="0"/>
            <a:t>Data aggregation (CRM + Web Analytics) &amp;</a:t>
          </a:r>
          <a:endParaRPr lang="en-GB" dirty="0"/>
        </a:p>
      </dgm:t>
    </dgm:pt>
    <dgm:pt modelId="{B197DBFC-08E4-40FA-B9AA-BD0168C4CD0E}" type="parTrans" cxnId="{A01C601E-192A-4086-B137-5F50D0AAC7BB}">
      <dgm:prSet/>
      <dgm:spPr/>
      <dgm:t>
        <a:bodyPr/>
        <a:lstStyle/>
        <a:p>
          <a:endParaRPr lang="en-GB"/>
        </a:p>
      </dgm:t>
    </dgm:pt>
    <dgm:pt modelId="{26C59414-E7A0-4FA1-B9F7-F5F21A40BDC8}" type="sibTrans" cxnId="{A01C601E-192A-4086-B137-5F50D0AAC7BB}">
      <dgm:prSet/>
      <dgm:spPr/>
      <dgm:t>
        <a:bodyPr/>
        <a:lstStyle/>
        <a:p>
          <a:endParaRPr lang="en-GB"/>
        </a:p>
      </dgm:t>
    </dgm:pt>
    <dgm:pt modelId="{A1DEE350-68BC-4113-8BFA-A098968A447F}">
      <dgm:prSet phldrT="[Text]"/>
      <dgm:spPr/>
      <dgm:t>
        <a:bodyPr/>
        <a:lstStyle/>
        <a:p>
          <a:pPr>
            <a:buNone/>
          </a:pPr>
          <a:r>
            <a:rPr lang="en-GB" b="0" i="0" dirty="0"/>
            <a:t>Pilot: Targeted retention campaign on "At-Risk" High-Value segment</a:t>
          </a:r>
          <a:endParaRPr lang="en-GB" dirty="0"/>
        </a:p>
      </dgm:t>
    </dgm:pt>
    <dgm:pt modelId="{10FE37ED-1AE7-44DA-AB27-11D2545D5180}" type="parTrans" cxnId="{2BE0E6F7-6FBA-4633-87B4-AF7055C4E77A}">
      <dgm:prSet/>
      <dgm:spPr/>
      <dgm:t>
        <a:bodyPr/>
        <a:lstStyle/>
        <a:p>
          <a:endParaRPr lang="en-GB"/>
        </a:p>
      </dgm:t>
    </dgm:pt>
    <dgm:pt modelId="{1E933C37-6001-4BD9-B0BD-C6BDBD6F108B}" type="sibTrans" cxnId="{2BE0E6F7-6FBA-4633-87B4-AF7055C4E77A}">
      <dgm:prSet/>
      <dgm:spPr/>
      <dgm:t>
        <a:bodyPr/>
        <a:lstStyle/>
        <a:p>
          <a:endParaRPr lang="en-GB"/>
        </a:p>
      </dgm:t>
    </dgm:pt>
    <dgm:pt modelId="{05C13B46-BD19-4B32-8C4C-4D52DECB0E54}">
      <dgm:prSet phldrT="[Text]"/>
      <dgm:spPr/>
      <dgm:t>
        <a:bodyPr/>
        <a:lstStyle/>
        <a:p>
          <a:pPr>
            <a:buNone/>
          </a:pPr>
          <a:r>
            <a:rPr lang="en-GB" b="0" i="0" dirty="0"/>
            <a:t>Automated real-time triggers and full integration into CRM/Marketing automation</a:t>
          </a:r>
          <a:endParaRPr lang="en-GB" dirty="0"/>
        </a:p>
      </dgm:t>
    </dgm:pt>
    <dgm:pt modelId="{0A450694-F0A2-4D76-8670-198DBC7048EA}" type="parTrans" cxnId="{FEDA5FB8-F367-4B97-8CD9-318D67F8F3A4}">
      <dgm:prSet/>
      <dgm:spPr/>
      <dgm:t>
        <a:bodyPr/>
        <a:lstStyle/>
        <a:p>
          <a:endParaRPr lang="en-GB"/>
        </a:p>
      </dgm:t>
    </dgm:pt>
    <dgm:pt modelId="{DBCD7E14-0AC7-42D7-A52F-DB444454D605}" type="sibTrans" cxnId="{FEDA5FB8-F367-4B97-8CD9-318D67F8F3A4}">
      <dgm:prSet/>
      <dgm:spPr/>
      <dgm:t>
        <a:bodyPr/>
        <a:lstStyle/>
        <a:p>
          <a:endParaRPr lang="en-GB"/>
        </a:p>
      </dgm:t>
    </dgm:pt>
    <dgm:pt modelId="{5AD6AA2A-FA71-4072-B2DF-28DFF966CFA2}">
      <dgm:prSet phldrT="[Text]"/>
      <dgm:spPr/>
      <dgm:t>
        <a:bodyPr/>
        <a:lstStyle/>
        <a:p>
          <a:pPr>
            <a:buNone/>
          </a:pPr>
          <a:r>
            <a:rPr lang="en-GB" b="0" i="0" dirty="0"/>
            <a:t>AI Model Training (K-Means/Neural Networks)</a:t>
          </a:r>
          <a:endParaRPr lang="en-GB" dirty="0"/>
        </a:p>
      </dgm:t>
    </dgm:pt>
    <dgm:pt modelId="{5A1A08BB-8438-4351-AFEA-A04D5CC6D0C8}" type="parTrans" cxnId="{5580B7F8-450A-4757-B9AF-722FF48EAE06}">
      <dgm:prSet/>
      <dgm:spPr/>
      <dgm:t>
        <a:bodyPr/>
        <a:lstStyle/>
        <a:p>
          <a:endParaRPr lang="en-GB"/>
        </a:p>
      </dgm:t>
    </dgm:pt>
    <dgm:pt modelId="{A7F360A2-8AB3-462E-9409-F3C265EC5172}" type="sibTrans" cxnId="{5580B7F8-450A-4757-B9AF-722FF48EAE06}">
      <dgm:prSet/>
      <dgm:spPr/>
      <dgm:t>
        <a:bodyPr/>
        <a:lstStyle/>
        <a:p>
          <a:endParaRPr lang="en-GB"/>
        </a:p>
      </dgm:t>
    </dgm:pt>
    <dgm:pt modelId="{3409E29C-8810-4FF4-AB8E-AAB6EECAE0FB}" type="pres">
      <dgm:prSet presAssocID="{64CB94AF-88F6-4131-A3E2-12E98344ECC3}" presName="rootnode" presStyleCnt="0">
        <dgm:presLayoutVars>
          <dgm:chMax/>
          <dgm:chPref/>
          <dgm:dir/>
          <dgm:animLvl val="lvl"/>
        </dgm:presLayoutVars>
      </dgm:prSet>
      <dgm:spPr/>
    </dgm:pt>
    <dgm:pt modelId="{B6B7279E-F8B1-4604-8252-649670726B9F}" type="pres">
      <dgm:prSet presAssocID="{7C3626DD-BCDC-4EED-A5CF-4749D110549F}" presName="composite" presStyleCnt="0"/>
      <dgm:spPr/>
    </dgm:pt>
    <dgm:pt modelId="{33D39F09-4BE3-4C62-AAA4-5525569223CB}" type="pres">
      <dgm:prSet presAssocID="{7C3626DD-BCDC-4EED-A5CF-4749D110549F}" presName="bentUpArrow1" presStyleLbl="alignImgPlace1" presStyleIdx="0" presStyleCnt="2"/>
      <dgm:spPr/>
    </dgm:pt>
    <dgm:pt modelId="{6E7EE482-8F2F-4119-9D01-CE9400606290}" type="pres">
      <dgm:prSet presAssocID="{7C3626DD-BCDC-4EED-A5CF-4749D110549F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587E5AB0-77BF-47A7-8D93-75063FE24BEA}" type="pres">
      <dgm:prSet presAssocID="{7C3626DD-BCDC-4EED-A5CF-4749D110549F}" presName="ChildText" presStyleLbl="revTx" presStyleIdx="0" presStyleCnt="3" custScaleX="372128" custLinFactX="81472" custLinFactNeighborX="100000" custLinFactNeighborY="5476">
        <dgm:presLayoutVars>
          <dgm:chMax val="0"/>
          <dgm:chPref val="0"/>
          <dgm:bulletEnabled val="1"/>
        </dgm:presLayoutVars>
      </dgm:prSet>
      <dgm:spPr/>
    </dgm:pt>
    <dgm:pt modelId="{76CF174C-9F28-4B6C-80D3-3F608090FEBC}" type="pres">
      <dgm:prSet presAssocID="{7FF49157-F32F-448E-9811-03EC885E684C}" presName="sibTrans" presStyleCnt="0"/>
      <dgm:spPr/>
    </dgm:pt>
    <dgm:pt modelId="{08CAC1E7-3A4A-4A50-8EB1-F1AD6EDBD6AF}" type="pres">
      <dgm:prSet presAssocID="{D2F28404-6041-4C2A-9A01-B2B7EE2A44A8}" presName="composite" presStyleCnt="0"/>
      <dgm:spPr/>
    </dgm:pt>
    <dgm:pt modelId="{41E6AE42-AE07-4BC3-8918-86F757378EC4}" type="pres">
      <dgm:prSet presAssocID="{D2F28404-6041-4C2A-9A01-B2B7EE2A44A8}" presName="bentUpArrow1" presStyleLbl="alignImgPlace1" presStyleIdx="1" presStyleCnt="2"/>
      <dgm:spPr/>
    </dgm:pt>
    <dgm:pt modelId="{E4B5190F-566D-4AF3-A61D-596BF3CC7754}" type="pres">
      <dgm:prSet presAssocID="{D2F28404-6041-4C2A-9A01-B2B7EE2A44A8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713066D9-844B-4598-B4FF-2F85A68F6C6F}" type="pres">
      <dgm:prSet presAssocID="{D2F28404-6041-4C2A-9A01-B2B7EE2A44A8}" presName="ChildText" presStyleLbl="revTx" presStyleIdx="1" presStyleCnt="3" custScaleX="275746" custLinFactX="3738" custLinFactNeighborX="100000" custLinFactNeighborY="1158">
        <dgm:presLayoutVars>
          <dgm:chMax val="0"/>
          <dgm:chPref val="0"/>
          <dgm:bulletEnabled val="1"/>
        </dgm:presLayoutVars>
      </dgm:prSet>
      <dgm:spPr/>
    </dgm:pt>
    <dgm:pt modelId="{88AD54DB-12F4-433D-ABB4-F91238DE3250}" type="pres">
      <dgm:prSet presAssocID="{0F33786A-969D-4A8E-8399-DD9538149B4C}" presName="sibTrans" presStyleCnt="0"/>
      <dgm:spPr/>
    </dgm:pt>
    <dgm:pt modelId="{649FB878-8CF5-451D-8348-1D74F2B226F7}" type="pres">
      <dgm:prSet presAssocID="{C9BDF5D4-D930-4DEE-B7FE-307CE6B1BBE6}" presName="composite" presStyleCnt="0"/>
      <dgm:spPr/>
    </dgm:pt>
    <dgm:pt modelId="{7808CA9D-1C87-402C-859E-D6B5820C2213}" type="pres">
      <dgm:prSet presAssocID="{C9BDF5D4-D930-4DEE-B7FE-307CE6B1BBE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B55042FA-BCC6-40CA-BCB9-4A4A74EDAC54}" type="pres">
      <dgm:prSet presAssocID="{C9BDF5D4-D930-4DEE-B7FE-307CE6B1BBE6}" presName="FinalChildText" presStyleLbl="revTx" presStyleIdx="2" presStyleCnt="3" custScaleX="221628" custLinFactNeighborX="68159" custLinFactNeighborY="-1286">
        <dgm:presLayoutVars>
          <dgm:chMax val="0"/>
          <dgm:chPref val="0"/>
          <dgm:bulletEnabled val="1"/>
        </dgm:presLayoutVars>
      </dgm:prSet>
      <dgm:spPr/>
    </dgm:pt>
  </dgm:ptLst>
  <dgm:cxnLst>
    <dgm:cxn modelId="{BF413C05-7F76-4628-81CC-9F9D9E0BF0B3}" srcId="{64CB94AF-88F6-4131-A3E2-12E98344ECC3}" destId="{C9BDF5D4-D930-4DEE-B7FE-307CE6B1BBE6}" srcOrd="2" destOrd="0" parTransId="{159FBCB2-6C41-4957-ADD2-85D7AC016A49}" sibTransId="{E97A103C-C8BD-48CE-8445-9AD796AE18B3}"/>
    <dgm:cxn modelId="{4FF48314-D45E-4E81-ADF5-A00F2BE3A7CF}" type="presOf" srcId="{05C13B46-BD19-4B32-8C4C-4D52DECB0E54}" destId="{B55042FA-BCC6-40CA-BCB9-4A4A74EDAC54}" srcOrd="0" destOrd="0" presId="urn:microsoft.com/office/officeart/2005/8/layout/StepDownProcess"/>
    <dgm:cxn modelId="{A01C601E-192A-4086-B137-5F50D0AAC7BB}" srcId="{7C3626DD-BCDC-4EED-A5CF-4749D110549F}" destId="{F626035B-F51D-40D1-9045-B87EA547BF76}" srcOrd="0" destOrd="0" parTransId="{B197DBFC-08E4-40FA-B9AA-BD0168C4CD0E}" sibTransId="{26C59414-E7A0-4FA1-B9F7-F5F21A40BDC8}"/>
    <dgm:cxn modelId="{2428AE58-200E-4504-A153-E3E198176B41}" type="presOf" srcId="{F626035B-F51D-40D1-9045-B87EA547BF76}" destId="{587E5AB0-77BF-47A7-8D93-75063FE24BEA}" srcOrd="0" destOrd="0" presId="urn:microsoft.com/office/officeart/2005/8/layout/StepDownProcess"/>
    <dgm:cxn modelId="{4115138E-16AB-4F57-822B-D54D4BAE1058}" srcId="{64CB94AF-88F6-4131-A3E2-12E98344ECC3}" destId="{7C3626DD-BCDC-4EED-A5CF-4749D110549F}" srcOrd="0" destOrd="0" parTransId="{22B362D1-88D9-4BF8-9DE8-E35CC1975A23}" sibTransId="{7FF49157-F32F-448E-9811-03EC885E684C}"/>
    <dgm:cxn modelId="{5E10638E-D21E-47DE-9D08-23EE1021D9D3}" type="presOf" srcId="{D2F28404-6041-4C2A-9A01-B2B7EE2A44A8}" destId="{E4B5190F-566D-4AF3-A61D-596BF3CC7754}" srcOrd="0" destOrd="0" presId="urn:microsoft.com/office/officeart/2005/8/layout/StepDownProcess"/>
    <dgm:cxn modelId="{3F84A9A9-10D8-47AB-B115-EC36A5A7C43D}" type="presOf" srcId="{64CB94AF-88F6-4131-A3E2-12E98344ECC3}" destId="{3409E29C-8810-4FF4-AB8E-AAB6EECAE0FB}" srcOrd="0" destOrd="0" presId="urn:microsoft.com/office/officeart/2005/8/layout/StepDownProcess"/>
    <dgm:cxn modelId="{FEDA5FB8-F367-4B97-8CD9-318D67F8F3A4}" srcId="{C9BDF5D4-D930-4DEE-B7FE-307CE6B1BBE6}" destId="{05C13B46-BD19-4B32-8C4C-4D52DECB0E54}" srcOrd="0" destOrd="0" parTransId="{0A450694-F0A2-4D76-8670-198DBC7048EA}" sibTransId="{DBCD7E14-0AC7-42D7-A52F-DB444454D605}"/>
    <dgm:cxn modelId="{E8D728C1-8893-4633-B393-21601B669954}" srcId="{64CB94AF-88F6-4131-A3E2-12E98344ECC3}" destId="{D2F28404-6041-4C2A-9A01-B2B7EE2A44A8}" srcOrd="1" destOrd="0" parTransId="{053323DC-8A6C-4E06-8227-1808C6A9F761}" sibTransId="{0F33786A-969D-4A8E-8399-DD9538149B4C}"/>
    <dgm:cxn modelId="{F034BCC8-D95F-4034-8654-7D09FEE5C033}" type="presOf" srcId="{7C3626DD-BCDC-4EED-A5CF-4749D110549F}" destId="{6E7EE482-8F2F-4119-9D01-CE9400606290}" srcOrd="0" destOrd="0" presId="urn:microsoft.com/office/officeart/2005/8/layout/StepDownProcess"/>
    <dgm:cxn modelId="{A41741CC-AF66-4EAD-9D9B-A577066DF35A}" type="presOf" srcId="{5AD6AA2A-FA71-4072-B2DF-28DFF966CFA2}" destId="{587E5AB0-77BF-47A7-8D93-75063FE24BEA}" srcOrd="0" destOrd="1" presId="urn:microsoft.com/office/officeart/2005/8/layout/StepDownProcess"/>
    <dgm:cxn modelId="{3176FAD3-7C7C-473E-BF14-C92D99CB59D7}" type="presOf" srcId="{C9BDF5D4-D930-4DEE-B7FE-307CE6B1BBE6}" destId="{7808CA9D-1C87-402C-859E-D6B5820C2213}" srcOrd="0" destOrd="0" presId="urn:microsoft.com/office/officeart/2005/8/layout/StepDownProcess"/>
    <dgm:cxn modelId="{D2234FDA-199D-4F0B-AEBC-F26D3AFFD087}" type="presOf" srcId="{A1DEE350-68BC-4113-8BFA-A098968A447F}" destId="{713066D9-844B-4598-B4FF-2F85A68F6C6F}" srcOrd="0" destOrd="0" presId="urn:microsoft.com/office/officeart/2005/8/layout/StepDownProcess"/>
    <dgm:cxn modelId="{2BE0E6F7-6FBA-4633-87B4-AF7055C4E77A}" srcId="{D2F28404-6041-4C2A-9A01-B2B7EE2A44A8}" destId="{A1DEE350-68BC-4113-8BFA-A098968A447F}" srcOrd="0" destOrd="0" parTransId="{10FE37ED-1AE7-44DA-AB27-11D2545D5180}" sibTransId="{1E933C37-6001-4BD9-B0BD-C6BDBD6F108B}"/>
    <dgm:cxn modelId="{5580B7F8-450A-4757-B9AF-722FF48EAE06}" srcId="{7C3626DD-BCDC-4EED-A5CF-4749D110549F}" destId="{5AD6AA2A-FA71-4072-B2DF-28DFF966CFA2}" srcOrd="1" destOrd="0" parTransId="{5A1A08BB-8438-4351-AFEA-A04D5CC6D0C8}" sibTransId="{A7F360A2-8AB3-462E-9409-F3C265EC5172}"/>
    <dgm:cxn modelId="{427EF5A2-6FD9-4FD7-BA5C-11BB297FF779}" type="presParOf" srcId="{3409E29C-8810-4FF4-AB8E-AAB6EECAE0FB}" destId="{B6B7279E-F8B1-4604-8252-649670726B9F}" srcOrd="0" destOrd="0" presId="urn:microsoft.com/office/officeart/2005/8/layout/StepDownProcess"/>
    <dgm:cxn modelId="{11EDAB70-6741-48B1-B4EA-E972CDE23C65}" type="presParOf" srcId="{B6B7279E-F8B1-4604-8252-649670726B9F}" destId="{33D39F09-4BE3-4C62-AAA4-5525569223CB}" srcOrd="0" destOrd="0" presId="urn:microsoft.com/office/officeart/2005/8/layout/StepDownProcess"/>
    <dgm:cxn modelId="{256401CA-4050-4C1E-A725-A8F45BE42F31}" type="presParOf" srcId="{B6B7279E-F8B1-4604-8252-649670726B9F}" destId="{6E7EE482-8F2F-4119-9D01-CE9400606290}" srcOrd="1" destOrd="0" presId="urn:microsoft.com/office/officeart/2005/8/layout/StepDownProcess"/>
    <dgm:cxn modelId="{316E5577-6CD3-4A4C-8442-1DF3EC060A55}" type="presParOf" srcId="{B6B7279E-F8B1-4604-8252-649670726B9F}" destId="{587E5AB0-77BF-47A7-8D93-75063FE24BEA}" srcOrd="2" destOrd="0" presId="urn:microsoft.com/office/officeart/2005/8/layout/StepDownProcess"/>
    <dgm:cxn modelId="{8A18BE40-78E3-4E64-A46C-7272E2AC1A68}" type="presParOf" srcId="{3409E29C-8810-4FF4-AB8E-AAB6EECAE0FB}" destId="{76CF174C-9F28-4B6C-80D3-3F608090FEBC}" srcOrd="1" destOrd="0" presId="urn:microsoft.com/office/officeart/2005/8/layout/StepDownProcess"/>
    <dgm:cxn modelId="{D468186D-718D-4D0E-BAFD-5C6EDA9E273B}" type="presParOf" srcId="{3409E29C-8810-4FF4-AB8E-AAB6EECAE0FB}" destId="{08CAC1E7-3A4A-4A50-8EB1-F1AD6EDBD6AF}" srcOrd="2" destOrd="0" presId="urn:microsoft.com/office/officeart/2005/8/layout/StepDownProcess"/>
    <dgm:cxn modelId="{7E240FA8-DAF7-4422-A934-CBC12EF71B95}" type="presParOf" srcId="{08CAC1E7-3A4A-4A50-8EB1-F1AD6EDBD6AF}" destId="{41E6AE42-AE07-4BC3-8918-86F757378EC4}" srcOrd="0" destOrd="0" presId="urn:microsoft.com/office/officeart/2005/8/layout/StepDownProcess"/>
    <dgm:cxn modelId="{DF362BD5-FD18-4A01-82A0-4B8349BFC710}" type="presParOf" srcId="{08CAC1E7-3A4A-4A50-8EB1-F1AD6EDBD6AF}" destId="{E4B5190F-566D-4AF3-A61D-596BF3CC7754}" srcOrd="1" destOrd="0" presId="urn:microsoft.com/office/officeart/2005/8/layout/StepDownProcess"/>
    <dgm:cxn modelId="{DFAE7DE0-C153-4F7C-A9B1-E30D171AC4D0}" type="presParOf" srcId="{08CAC1E7-3A4A-4A50-8EB1-F1AD6EDBD6AF}" destId="{713066D9-844B-4598-B4FF-2F85A68F6C6F}" srcOrd="2" destOrd="0" presId="urn:microsoft.com/office/officeart/2005/8/layout/StepDownProcess"/>
    <dgm:cxn modelId="{964DE8BC-58D1-4FE7-A3AA-5587853D7F04}" type="presParOf" srcId="{3409E29C-8810-4FF4-AB8E-AAB6EECAE0FB}" destId="{88AD54DB-12F4-433D-ABB4-F91238DE3250}" srcOrd="3" destOrd="0" presId="urn:microsoft.com/office/officeart/2005/8/layout/StepDownProcess"/>
    <dgm:cxn modelId="{38949F21-BEE0-4076-B71C-84D5B797264D}" type="presParOf" srcId="{3409E29C-8810-4FF4-AB8E-AAB6EECAE0FB}" destId="{649FB878-8CF5-451D-8348-1D74F2B226F7}" srcOrd="4" destOrd="0" presId="urn:microsoft.com/office/officeart/2005/8/layout/StepDownProcess"/>
    <dgm:cxn modelId="{F170EC2B-E721-47E1-9AA7-2CF4439B3CFD}" type="presParOf" srcId="{649FB878-8CF5-451D-8348-1D74F2B226F7}" destId="{7808CA9D-1C87-402C-859E-D6B5820C2213}" srcOrd="0" destOrd="0" presId="urn:microsoft.com/office/officeart/2005/8/layout/StepDownProcess"/>
    <dgm:cxn modelId="{F96EA980-C9C7-4A6E-BC88-1061A3BB6B5E}" type="presParOf" srcId="{649FB878-8CF5-451D-8348-1D74F2B226F7}" destId="{B55042FA-BCC6-40CA-BCB9-4A4A74EDAC54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6CD77-7B0F-4F1C-9A1C-60E48B8BC2DF}">
      <dsp:nvSpPr>
        <dsp:cNvPr id="0" name=""/>
        <dsp:cNvSpPr/>
      </dsp:nvSpPr>
      <dsp:spPr>
        <a:xfrm rot="5400000">
          <a:off x="-237759" y="239504"/>
          <a:ext cx="1585060" cy="1109542"/>
        </a:xfrm>
        <a:prstGeom prst="chevron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accent6">
                  <a:lumMod val="20000"/>
                  <a:lumOff val="80000"/>
                </a:schemeClr>
              </a:solidFill>
            </a:rPr>
            <a:t>Challenge</a:t>
          </a:r>
        </a:p>
      </dsp:txBody>
      <dsp:txXfrm rot="-5400000">
        <a:off x="0" y="556516"/>
        <a:ext cx="1109542" cy="475518"/>
      </dsp:txXfrm>
    </dsp:sp>
    <dsp:sp modelId="{0C950F6C-9ABF-4EB3-A3D6-AAF7702C8581}">
      <dsp:nvSpPr>
        <dsp:cNvPr id="0" name=""/>
        <dsp:cNvSpPr/>
      </dsp:nvSpPr>
      <dsp:spPr>
        <a:xfrm rot="5400000">
          <a:off x="4979583" y="-3870040"/>
          <a:ext cx="1030289" cy="8770370"/>
        </a:xfrm>
        <a:prstGeom prst="round2SameRect">
          <a:avLst/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Static, demographic-based segmentation fails to capture real-time behaviour, leading to wasteful marketing spend and declining retention</a:t>
          </a:r>
          <a:endParaRPr lang="en-GB" sz="2100" b="0" kern="1200" dirty="0"/>
        </a:p>
      </dsp:txBody>
      <dsp:txXfrm rot="-5400000">
        <a:off x="1109543" y="50295"/>
        <a:ext cx="8720075" cy="929699"/>
      </dsp:txXfrm>
    </dsp:sp>
    <dsp:sp modelId="{CCE83A06-08BF-498D-8408-E56C9B531DCC}">
      <dsp:nvSpPr>
        <dsp:cNvPr id="0" name=""/>
        <dsp:cNvSpPr/>
      </dsp:nvSpPr>
      <dsp:spPr>
        <a:xfrm rot="5400000">
          <a:off x="-237759" y="1680966"/>
          <a:ext cx="1585060" cy="1109542"/>
        </a:xfrm>
        <a:prstGeom prst="chevron">
          <a:avLst/>
        </a:prstGeom>
        <a:solidFill>
          <a:schemeClr val="accent2">
            <a:shade val="50000"/>
            <a:hueOff val="17571"/>
            <a:satOff val="2874"/>
            <a:lumOff val="19214"/>
            <a:alphaOff val="0"/>
          </a:schemeClr>
        </a:solidFill>
        <a:ln w="12700" cap="flat" cmpd="sng" algn="ctr">
          <a:solidFill>
            <a:schemeClr val="accent2">
              <a:shade val="50000"/>
              <a:hueOff val="17571"/>
              <a:satOff val="2874"/>
              <a:lumOff val="19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accent6">
                  <a:lumMod val="50000"/>
                </a:schemeClr>
              </a:solidFill>
            </a:rPr>
            <a:t>Solution</a:t>
          </a:r>
        </a:p>
      </dsp:txBody>
      <dsp:txXfrm rot="-5400000">
        <a:off x="0" y="1997978"/>
        <a:ext cx="1109542" cy="475518"/>
      </dsp:txXfrm>
    </dsp:sp>
    <dsp:sp modelId="{3135D7C3-4A2F-41E7-A543-741F1705857C}">
      <dsp:nvSpPr>
        <dsp:cNvPr id="0" name=""/>
        <dsp:cNvSpPr/>
      </dsp:nvSpPr>
      <dsp:spPr>
        <a:xfrm rot="5400000">
          <a:off x="4979583" y="-2426833"/>
          <a:ext cx="1030289" cy="8770370"/>
        </a:xfrm>
        <a:prstGeom prst="round2SameRect">
          <a:avLst/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2">
              <a:shade val="50000"/>
              <a:hueOff val="15882"/>
              <a:satOff val="3066"/>
              <a:lumOff val="176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Implement AI-powered RFMT-D segmentation (using K-means) to dynamically categorize customers based on behavioural patterns (Recency, Frequency, Monetary, Time, and Diversity).</a:t>
          </a:r>
          <a:endParaRPr lang="en-GB" sz="2100" b="0" kern="1200" dirty="0"/>
        </a:p>
      </dsp:txBody>
      <dsp:txXfrm rot="-5400000">
        <a:off x="1109543" y="1493502"/>
        <a:ext cx="8720075" cy="929699"/>
      </dsp:txXfrm>
    </dsp:sp>
    <dsp:sp modelId="{74B5AC58-AC14-4F7C-8178-D29C64828818}">
      <dsp:nvSpPr>
        <dsp:cNvPr id="0" name=""/>
        <dsp:cNvSpPr/>
      </dsp:nvSpPr>
      <dsp:spPr>
        <a:xfrm rot="5400000">
          <a:off x="-237759" y="3122429"/>
          <a:ext cx="1585060" cy="1109542"/>
        </a:xfrm>
        <a:prstGeom prst="chevron">
          <a:avLst/>
        </a:prstGeom>
        <a:solidFill>
          <a:schemeClr val="accent2">
            <a:shade val="50000"/>
            <a:hueOff val="35142"/>
            <a:satOff val="5747"/>
            <a:lumOff val="38428"/>
            <a:alphaOff val="0"/>
          </a:schemeClr>
        </a:solidFill>
        <a:ln w="12700" cap="flat" cmpd="sng" algn="ctr">
          <a:solidFill>
            <a:schemeClr val="accent2">
              <a:shade val="50000"/>
              <a:hueOff val="35142"/>
              <a:satOff val="5747"/>
              <a:lumOff val="384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accent6">
                  <a:lumMod val="50000"/>
                </a:schemeClr>
              </a:solidFill>
            </a:rPr>
            <a:t>Impact</a:t>
          </a:r>
        </a:p>
      </dsp:txBody>
      <dsp:txXfrm rot="-5400000">
        <a:off x="0" y="3439441"/>
        <a:ext cx="1109542" cy="475518"/>
      </dsp:txXfrm>
    </dsp:sp>
    <dsp:sp modelId="{3CE5B6DA-AF6F-4983-ACF2-13E061209560}">
      <dsp:nvSpPr>
        <dsp:cNvPr id="0" name=""/>
        <dsp:cNvSpPr/>
      </dsp:nvSpPr>
      <dsp:spPr>
        <a:xfrm rot="5400000">
          <a:off x="4979583" y="-985370"/>
          <a:ext cx="1030289" cy="8770370"/>
        </a:xfrm>
        <a:prstGeom prst="round2SameRect">
          <a:avLst/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2">
              <a:shade val="50000"/>
              <a:hueOff val="31763"/>
              <a:satOff val="6132"/>
              <a:lumOff val="352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30% higher conversion rates, 15–20% churn reduction, and improved customer lifetime value (CLV).</a:t>
          </a:r>
          <a:endParaRPr lang="en-GB" sz="2100" b="0" kern="1200" dirty="0"/>
        </a:p>
      </dsp:txBody>
      <dsp:txXfrm rot="-5400000">
        <a:off x="1109543" y="2934965"/>
        <a:ext cx="8720075" cy="929699"/>
      </dsp:txXfrm>
    </dsp:sp>
    <dsp:sp modelId="{FD511415-5A89-4C23-9F77-13ED51A88A16}">
      <dsp:nvSpPr>
        <dsp:cNvPr id="0" name=""/>
        <dsp:cNvSpPr/>
      </dsp:nvSpPr>
      <dsp:spPr>
        <a:xfrm rot="5400000">
          <a:off x="-237759" y="4563891"/>
          <a:ext cx="1585060" cy="1109542"/>
        </a:xfrm>
        <a:prstGeom prst="chevron">
          <a:avLst/>
        </a:prstGeom>
        <a:solidFill>
          <a:schemeClr val="accent2">
            <a:shade val="50000"/>
            <a:hueOff val="17571"/>
            <a:satOff val="2874"/>
            <a:lumOff val="19214"/>
            <a:alphaOff val="0"/>
          </a:schemeClr>
        </a:solidFill>
        <a:ln w="12700" cap="flat" cmpd="sng" algn="ctr">
          <a:solidFill>
            <a:schemeClr val="accent2">
              <a:shade val="50000"/>
              <a:hueOff val="17571"/>
              <a:satOff val="2874"/>
              <a:lumOff val="192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solidFill>
                <a:schemeClr val="accent6">
                  <a:lumMod val="50000"/>
                </a:schemeClr>
              </a:solidFill>
            </a:rPr>
            <a:t>The Ask</a:t>
          </a:r>
        </a:p>
      </dsp:txBody>
      <dsp:txXfrm rot="-5400000">
        <a:off x="0" y="4880903"/>
        <a:ext cx="1109542" cy="475518"/>
      </dsp:txXfrm>
    </dsp:sp>
    <dsp:sp modelId="{CF3439C5-AFB5-4F3E-B0ED-C20FC6E0A037}">
      <dsp:nvSpPr>
        <dsp:cNvPr id="0" name=""/>
        <dsp:cNvSpPr/>
      </dsp:nvSpPr>
      <dsp:spPr>
        <a:xfrm rot="5400000">
          <a:off x="4979583" y="456091"/>
          <a:ext cx="1030289" cy="8770370"/>
        </a:xfrm>
        <a:prstGeom prst="round2SameRect">
          <a:avLst/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2">
              <a:shade val="50000"/>
              <a:hueOff val="15882"/>
              <a:satOff val="3066"/>
              <a:lumOff val="176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Approval for Phase 1 (Data Integration) to begin pilot targeting in 60 days. </a:t>
          </a:r>
          <a:endParaRPr lang="en-GB" sz="2100" b="0" kern="1200" dirty="0"/>
        </a:p>
      </dsp:txBody>
      <dsp:txXfrm rot="-5400000">
        <a:off x="1109543" y="4376427"/>
        <a:ext cx="8720075" cy="929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4ED22-9FD6-49A8-BD10-F0AB0D19868B}">
      <dsp:nvSpPr>
        <dsp:cNvPr id="0" name=""/>
        <dsp:cNvSpPr/>
      </dsp:nvSpPr>
      <dsp:spPr>
        <a:xfrm>
          <a:off x="5433" y="0"/>
          <a:ext cx="3260371" cy="2838210"/>
        </a:xfrm>
        <a:prstGeom prst="upArrow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E5934-A337-45A9-9546-83EC11E596DB}">
      <dsp:nvSpPr>
        <dsp:cNvPr id="0" name=""/>
        <dsp:cNvSpPr/>
      </dsp:nvSpPr>
      <dsp:spPr>
        <a:xfrm>
          <a:off x="3245077" y="469553"/>
          <a:ext cx="6610143" cy="283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0" rIns="248920" bIns="24892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0" i="0" kern="1200" dirty="0"/>
            <a:t>AI-Driven RFMT-D</a:t>
          </a:r>
          <a:endParaRPr lang="en-GB" sz="3500" b="1" kern="1200" dirty="0">
            <a:solidFill>
              <a:schemeClr val="accent6">
                <a:lumMod val="50000"/>
              </a:schemeClr>
            </a:solidFill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b="0" i="0" kern="1200" dirty="0"/>
            <a:t>Real-time analysis, hidden pattern detection</a:t>
          </a:r>
          <a:endParaRPr lang="en-GB" sz="2500" b="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b="0" i="0" kern="1200" dirty="0"/>
            <a:t>(e.g., "High-spend but declining interaction", </a:t>
          </a:r>
          <a:endParaRPr lang="en-GB" sz="2500" b="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b="0" i="0" kern="1200" dirty="0"/>
            <a:t>"Low-spend high-engagement").</a:t>
          </a:r>
          <a:endParaRPr lang="en-GB" sz="2500" b="0" kern="1200" dirty="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GB" sz="800" b="0" i="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b="0" i="0" kern="1200" dirty="0"/>
            <a:t>Recency: How recently did they buy?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b="0" i="0" kern="1200" dirty="0"/>
            <a:t>Frequency: How often do they buy?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b="0" i="0" kern="1200" dirty="0"/>
            <a:t>Monetary: How much do they spend?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b="0" i="0" kern="1200" dirty="0"/>
            <a:t>Time: Time since last session/interaction?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b="0" i="0" kern="1200" dirty="0"/>
            <a:t>Diversity: How many distinct products were purchased?</a:t>
          </a:r>
        </a:p>
      </dsp:txBody>
      <dsp:txXfrm>
        <a:off x="3245077" y="469553"/>
        <a:ext cx="6610143" cy="2838210"/>
      </dsp:txXfrm>
    </dsp:sp>
    <dsp:sp modelId="{A539DD69-08CB-4350-9D12-8BA5B90E9456}">
      <dsp:nvSpPr>
        <dsp:cNvPr id="0" name=""/>
        <dsp:cNvSpPr/>
      </dsp:nvSpPr>
      <dsp:spPr>
        <a:xfrm>
          <a:off x="983545" y="3074727"/>
          <a:ext cx="3260371" cy="2838210"/>
        </a:xfrm>
        <a:prstGeom prst="downArrow">
          <a:avLst/>
        </a:prstGeom>
        <a:solidFill>
          <a:schemeClr val="accent2">
            <a:shade val="50000"/>
            <a:hueOff val="35142"/>
            <a:satOff val="5747"/>
            <a:lumOff val="384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E9A00-A136-4817-9B27-39D3869CE904}">
      <dsp:nvSpPr>
        <dsp:cNvPr id="0" name=""/>
        <dsp:cNvSpPr/>
      </dsp:nvSpPr>
      <dsp:spPr>
        <a:xfrm>
          <a:off x="4341727" y="3074727"/>
          <a:ext cx="5532751" cy="283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0" rIns="248920" bIns="24892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>
              <a:solidFill>
                <a:schemeClr val="accent6">
                  <a:lumMod val="50000"/>
                </a:schemeClr>
              </a:solidFill>
            </a:rPr>
            <a:t>Traditional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b="0" i="0" kern="1200" dirty="0"/>
            <a:t>Static, outdated, broad segments</a:t>
          </a:r>
          <a:endParaRPr lang="en-GB" sz="2500" b="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b="0" i="0" kern="1200" dirty="0"/>
            <a:t>(e.g., "Age 25-35", "Bought last 6 months").</a:t>
          </a:r>
          <a:endParaRPr lang="en-GB" sz="2500" b="0" kern="1200" dirty="0"/>
        </a:p>
      </dsp:txBody>
      <dsp:txXfrm>
        <a:off x="4341727" y="3074727"/>
        <a:ext cx="5532751" cy="28382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630E8-E31A-421F-BD8D-521943B8B89E}">
      <dsp:nvSpPr>
        <dsp:cNvPr id="0" name=""/>
        <dsp:cNvSpPr/>
      </dsp:nvSpPr>
      <dsp:spPr>
        <a:xfrm>
          <a:off x="4683485" y="1587"/>
          <a:ext cx="7025227" cy="12594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	Frequent, high-spend, recent, engaged. </a:t>
          </a:r>
          <a:endParaRPr lang="en-GB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1" kern="1200" dirty="0"/>
            <a:t>Strategy: VIP rewards, early access.</a:t>
          </a:r>
          <a:endParaRPr lang="en-GB" sz="2400" kern="1200" dirty="0"/>
        </a:p>
      </dsp:txBody>
      <dsp:txXfrm>
        <a:off x="4683485" y="159014"/>
        <a:ext cx="6552946" cy="944562"/>
      </dsp:txXfrm>
    </dsp:sp>
    <dsp:sp modelId="{F7E75EE7-D4FE-4FC0-B4A4-0D5BFADBB4CC}">
      <dsp:nvSpPr>
        <dsp:cNvPr id="0" name=""/>
        <dsp:cNvSpPr/>
      </dsp:nvSpPr>
      <dsp:spPr>
        <a:xfrm>
          <a:off x="0" y="1587"/>
          <a:ext cx="4683485" cy="125941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Champions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(High RFMTD)</a:t>
          </a:r>
          <a:endParaRPr lang="en-GB" sz="3000" kern="1200" dirty="0"/>
        </a:p>
      </dsp:txBody>
      <dsp:txXfrm>
        <a:off x="61480" y="63067"/>
        <a:ext cx="4560525" cy="1136456"/>
      </dsp:txXfrm>
    </dsp:sp>
    <dsp:sp modelId="{69637F30-1E78-4261-ABEE-AEFA18F0E8AA}">
      <dsp:nvSpPr>
        <dsp:cNvPr id="0" name=""/>
        <dsp:cNvSpPr/>
      </dsp:nvSpPr>
      <dsp:spPr>
        <a:xfrm>
          <a:off x="4683485" y="1386945"/>
          <a:ext cx="7025227" cy="12594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	High spending, but lower frequency. </a:t>
          </a:r>
          <a:endParaRPr lang="en-GB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1" kern="1200" dirty="0"/>
            <a:t>Strategy: Loyalty programs, cross-selling</a:t>
          </a:r>
          <a:endParaRPr lang="en-GB" sz="2400" kern="1200" dirty="0"/>
        </a:p>
      </dsp:txBody>
      <dsp:txXfrm>
        <a:off x="4683485" y="1544372"/>
        <a:ext cx="6552946" cy="944562"/>
      </dsp:txXfrm>
    </dsp:sp>
    <dsp:sp modelId="{1C15550E-ACDB-49AD-B213-FFE92CF11B22}">
      <dsp:nvSpPr>
        <dsp:cNvPr id="0" name=""/>
        <dsp:cNvSpPr/>
      </dsp:nvSpPr>
      <dsp:spPr>
        <a:xfrm>
          <a:off x="0" y="1386945"/>
          <a:ext cx="4683485" cy="125941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Potential Loyalists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 (Med-High RFMTD)</a:t>
          </a:r>
          <a:endParaRPr lang="en-GB" sz="3000" kern="1200" dirty="0"/>
        </a:p>
      </dsp:txBody>
      <dsp:txXfrm>
        <a:off x="61480" y="1448425"/>
        <a:ext cx="4560525" cy="1136456"/>
      </dsp:txXfrm>
    </dsp:sp>
    <dsp:sp modelId="{D1477C45-E22E-42F5-B513-F482AC8FA156}">
      <dsp:nvSpPr>
        <dsp:cNvPr id="0" name=""/>
        <dsp:cNvSpPr/>
      </dsp:nvSpPr>
      <dsp:spPr>
        <a:xfrm>
          <a:off x="4683485" y="2772304"/>
          <a:ext cx="7025227" cy="12594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	Spent a lot, but haven't returned. </a:t>
          </a:r>
          <a:endParaRPr lang="en-GB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1" kern="1200" dirty="0"/>
            <a:t>Strategy: Automated, personalized win-back campaigns</a:t>
          </a:r>
          <a:endParaRPr lang="en-GB" sz="2400" kern="1200" dirty="0"/>
        </a:p>
      </dsp:txBody>
      <dsp:txXfrm>
        <a:off x="4683485" y="2929731"/>
        <a:ext cx="6552946" cy="944562"/>
      </dsp:txXfrm>
    </dsp:sp>
    <dsp:sp modelId="{AB274619-A99C-402D-BA36-97A0AC1F2640}">
      <dsp:nvSpPr>
        <dsp:cNvPr id="0" name=""/>
        <dsp:cNvSpPr/>
      </dsp:nvSpPr>
      <dsp:spPr>
        <a:xfrm>
          <a:off x="0" y="2772304"/>
          <a:ext cx="4683485" cy="125941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"At-Risk" High-Value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(High M, Low R/T)</a:t>
          </a:r>
          <a:endParaRPr lang="en-GB" sz="3000" kern="1200" dirty="0"/>
        </a:p>
      </dsp:txBody>
      <dsp:txXfrm>
        <a:off x="61480" y="2833784"/>
        <a:ext cx="4560525" cy="1136456"/>
      </dsp:txXfrm>
    </dsp:sp>
    <dsp:sp modelId="{3EED9938-7FAA-428C-966F-CB2B2C243B5E}">
      <dsp:nvSpPr>
        <dsp:cNvPr id="0" name=""/>
        <dsp:cNvSpPr/>
      </dsp:nvSpPr>
      <dsp:spPr>
        <a:xfrm>
          <a:off x="4683485" y="4157662"/>
          <a:ext cx="7025227" cy="12594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	High engagement, but new/low spending. </a:t>
          </a:r>
          <a:endParaRPr lang="en-GB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1" kern="1200" dirty="0"/>
            <a:t>Strategy: Onboarding, nurturing.</a:t>
          </a:r>
          <a:endParaRPr lang="en-GB" sz="2400" kern="1200" dirty="0"/>
        </a:p>
      </dsp:txBody>
      <dsp:txXfrm>
        <a:off x="4683485" y="4315089"/>
        <a:ext cx="6552946" cy="944562"/>
      </dsp:txXfrm>
    </dsp:sp>
    <dsp:sp modelId="{B9360BFE-A3DA-4694-A56C-674985267BAB}">
      <dsp:nvSpPr>
        <dsp:cNvPr id="0" name=""/>
        <dsp:cNvSpPr/>
      </dsp:nvSpPr>
      <dsp:spPr>
        <a:xfrm>
          <a:off x="0" y="4157662"/>
          <a:ext cx="4683485" cy="125941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High-Potential/New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(Low R, Low F, Low M, High D)</a:t>
          </a:r>
          <a:endParaRPr lang="en-GB" sz="3000" kern="1200" dirty="0"/>
        </a:p>
      </dsp:txBody>
      <dsp:txXfrm>
        <a:off x="61480" y="4219142"/>
        <a:ext cx="4560525" cy="11364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6F4C7-D8A4-4F3E-96D9-63AE42B525C7}">
      <dsp:nvSpPr>
        <dsp:cNvPr id="0" name=""/>
        <dsp:cNvSpPr/>
      </dsp:nvSpPr>
      <dsp:spPr>
        <a:xfrm>
          <a:off x="-7475812" y="-1142468"/>
          <a:ext cx="8895802" cy="8895802"/>
        </a:xfrm>
        <a:prstGeom prst="blockArc">
          <a:avLst>
            <a:gd name="adj1" fmla="val 18900000"/>
            <a:gd name="adj2" fmla="val 2700000"/>
            <a:gd name="adj3" fmla="val 243"/>
          </a:avLst>
        </a:pr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2655B2-9F18-44E3-9C54-89D8A3EF13B2}">
      <dsp:nvSpPr>
        <dsp:cNvPr id="0" name=""/>
        <dsp:cNvSpPr/>
      </dsp:nvSpPr>
      <dsp:spPr>
        <a:xfrm>
          <a:off x="742846" y="508243"/>
          <a:ext cx="8967515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600" b="1" i="0" kern="1200" dirty="0"/>
            <a:t>Increased Conversion (20–30%)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600" b="0" i="0" kern="1200" dirty="0"/>
            <a:t>Personalized offers, not generic spam.</a:t>
          </a:r>
          <a:endParaRPr lang="en-GB" sz="2600" kern="1200" dirty="0"/>
        </a:p>
      </dsp:txBody>
      <dsp:txXfrm>
        <a:off x="742846" y="508243"/>
        <a:ext cx="8967515" cy="1017015"/>
      </dsp:txXfrm>
    </dsp:sp>
    <dsp:sp modelId="{6913A05D-D63B-44DD-8F29-F67EBA788029}">
      <dsp:nvSpPr>
        <dsp:cNvPr id="0" name=""/>
        <dsp:cNvSpPr/>
      </dsp:nvSpPr>
      <dsp:spPr>
        <a:xfrm>
          <a:off x="107211" y="381116"/>
          <a:ext cx="1271269" cy="1271269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14E81-36EE-403B-BEE8-690AD34076EC}">
      <dsp:nvSpPr>
        <dsp:cNvPr id="0" name=""/>
        <dsp:cNvSpPr/>
      </dsp:nvSpPr>
      <dsp:spPr>
        <a:xfrm>
          <a:off x="1325924" y="2034030"/>
          <a:ext cx="8384437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600" b="1" i="0" kern="1200" dirty="0"/>
            <a:t>Reduced Churn (15–18%)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600" b="0" i="0" kern="1200" dirty="0"/>
            <a:t>Proactive intervention with "At-Risk" segments.</a:t>
          </a:r>
          <a:endParaRPr lang="en-GB" sz="2600" kern="1200" dirty="0"/>
        </a:p>
      </dsp:txBody>
      <dsp:txXfrm>
        <a:off x="1325924" y="2034030"/>
        <a:ext cx="8384437" cy="1017015"/>
      </dsp:txXfrm>
    </dsp:sp>
    <dsp:sp modelId="{61FB939D-7673-4CF5-B242-562A03C405B0}">
      <dsp:nvSpPr>
        <dsp:cNvPr id="0" name=""/>
        <dsp:cNvSpPr/>
      </dsp:nvSpPr>
      <dsp:spPr>
        <a:xfrm>
          <a:off x="690289" y="1906904"/>
          <a:ext cx="1271269" cy="1271269"/>
        </a:xfrm>
        <a:prstGeom prst="ellipse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B2D58-2B65-4587-A63D-FF5999FF9458}">
      <dsp:nvSpPr>
        <dsp:cNvPr id="0" name=""/>
        <dsp:cNvSpPr/>
      </dsp:nvSpPr>
      <dsp:spPr>
        <a:xfrm>
          <a:off x="1325924" y="3559818"/>
          <a:ext cx="8384437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i="0" kern="1200" dirty="0"/>
            <a:t>Optimized Marketing Spend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i="0" kern="1200" dirty="0"/>
            <a:t>Shift budget from low-value acquisition to high-value retention</a:t>
          </a:r>
          <a:endParaRPr lang="en-GB" sz="2600" kern="1200" dirty="0"/>
        </a:p>
      </dsp:txBody>
      <dsp:txXfrm>
        <a:off x="1325924" y="3559818"/>
        <a:ext cx="8384437" cy="1017015"/>
      </dsp:txXfrm>
    </dsp:sp>
    <dsp:sp modelId="{F3317B6B-9618-44E1-934F-FC84CD34A1F6}">
      <dsp:nvSpPr>
        <dsp:cNvPr id="0" name=""/>
        <dsp:cNvSpPr/>
      </dsp:nvSpPr>
      <dsp:spPr>
        <a:xfrm>
          <a:off x="690289" y="3432691"/>
          <a:ext cx="1271269" cy="127126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917CE-DF40-4000-A793-0FF1290D3EF0}">
      <dsp:nvSpPr>
        <dsp:cNvPr id="0" name=""/>
        <dsp:cNvSpPr/>
      </dsp:nvSpPr>
      <dsp:spPr>
        <a:xfrm>
          <a:off x="742846" y="5085606"/>
          <a:ext cx="8967515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i="0" kern="1200" dirty="0"/>
            <a:t>Improved Average Order Value (AOV)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i="0" kern="1200" dirty="0"/>
            <a:t>Tailored upsell/cross-sell campaigns</a:t>
          </a:r>
          <a:endParaRPr lang="en-GB" sz="2600" kern="1200" dirty="0"/>
        </a:p>
      </dsp:txBody>
      <dsp:txXfrm>
        <a:off x="742846" y="5085606"/>
        <a:ext cx="8967515" cy="1017015"/>
      </dsp:txXfrm>
    </dsp:sp>
    <dsp:sp modelId="{7314FBED-A8EA-4587-9B5F-E15FB13FF931}">
      <dsp:nvSpPr>
        <dsp:cNvPr id="0" name=""/>
        <dsp:cNvSpPr/>
      </dsp:nvSpPr>
      <dsp:spPr>
        <a:xfrm>
          <a:off x="107211" y="4958479"/>
          <a:ext cx="1271269" cy="12712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39F09-4BE3-4C62-AAA4-5525569223CB}">
      <dsp:nvSpPr>
        <dsp:cNvPr id="0" name=""/>
        <dsp:cNvSpPr/>
      </dsp:nvSpPr>
      <dsp:spPr>
        <a:xfrm rot="5400000">
          <a:off x="1305479" y="1339407"/>
          <a:ext cx="1184590" cy="134861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EE482-8F2F-4119-9D01-CE9400606290}">
      <dsp:nvSpPr>
        <dsp:cNvPr id="0" name=""/>
        <dsp:cNvSpPr/>
      </dsp:nvSpPr>
      <dsp:spPr>
        <a:xfrm>
          <a:off x="991634" y="26265"/>
          <a:ext cx="1994152" cy="1395842"/>
        </a:xfrm>
        <a:prstGeom prst="roundRect">
          <a:avLst>
            <a:gd name="adj" fmla="val 1667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Phase 1 (</a:t>
          </a:r>
          <a:r>
            <a:rPr lang="en-GB" sz="3000" b="1" i="0" kern="1200"/>
            <a:t>Month 1-2)</a:t>
          </a:r>
          <a:endParaRPr lang="en-GB" sz="3000" kern="1200" dirty="0"/>
        </a:p>
      </dsp:txBody>
      <dsp:txXfrm>
        <a:off x="1059786" y="94417"/>
        <a:ext cx="1857848" cy="1259538"/>
      </dsp:txXfrm>
    </dsp:sp>
    <dsp:sp modelId="{587E5AB0-77BF-47A7-8D93-75063FE24BEA}">
      <dsp:nvSpPr>
        <dsp:cNvPr id="0" name=""/>
        <dsp:cNvSpPr/>
      </dsp:nvSpPr>
      <dsp:spPr>
        <a:xfrm>
          <a:off x="3644365" y="221169"/>
          <a:ext cx="5397183" cy="1128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300" b="0" i="0" kern="1200" dirty="0"/>
            <a:t>Data aggregation (CRM + Web Analytics) &amp;</a:t>
          </a:r>
          <a:endParaRPr lang="en-GB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300" b="0" i="0" kern="1200" dirty="0"/>
            <a:t>AI Model Training (K-Means/Neural Networks)</a:t>
          </a:r>
          <a:endParaRPr lang="en-GB" sz="2300" kern="1200" dirty="0"/>
        </a:p>
      </dsp:txBody>
      <dsp:txXfrm>
        <a:off x="3644365" y="221169"/>
        <a:ext cx="5397183" cy="1128181"/>
      </dsp:txXfrm>
    </dsp:sp>
    <dsp:sp modelId="{41E6AE42-AE07-4BC3-8918-86F757378EC4}">
      <dsp:nvSpPr>
        <dsp:cNvPr id="0" name=""/>
        <dsp:cNvSpPr/>
      </dsp:nvSpPr>
      <dsp:spPr>
        <a:xfrm rot="5400000">
          <a:off x="3906082" y="2907399"/>
          <a:ext cx="1184590" cy="134861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-2227"/>
            <a:satOff val="200"/>
            <a:lumOff val="-1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5190F-566D-4AF3-A61D-596BF3CC7754}">
      <dsp:nvSpPr>
        <dsp:cNvPr id="0" name=""/>
        <dsp:cNvSpPr/>
      </dsp:nvSpPr>
      <dsp:spPr>
        <a:xfrm>
          <a:off x="3592238" y="1594256"/>
          <a:ext cx="1994152" cy="1395842"/>
        </a:xfrm>
        <a:prstGeom prst="roundRect">
          <a:avLst>
            <a:gd name="adj" fmla="val 16670"/>
          </a:avLst>
        </a:prstGeom>
        <a:solidFill>
          <a:schemeClr val="accent2">
            <a:shade val="50000"/>
            <a:hueOff val="23428"/>
            <a:satOff val="3831"/>
            <a:lumOff val="256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Phase 2 (Month 3)</a:t>
          </a:r>
          <a:endParaRPr lang="en-GB" sz="3000" kern="1200" dirty="0"/>
        </a:p>
      </dsp:txBody>
      <dsp:txXfrm>
        <a:off x="3660390" y="1662408"/>
        <a:ext cx="1857848" cy="1259538"/>
      </dsp:txXfrm>
    </dsp:sp>
    <dsp:sp modelId="{713066D9-844B-4598-B4FF-2F85A68F6C6F}">
      <dsp:nvSpPr>
        <dsp:cNvPr id="0" name=""/>
        <dsp:cNvSpPr/>
      </dsp:nvSpPr>
      <dsp:spPr>
        <a:xfrm>
          <a:off x="5816490" y="1740446"/>
          <a:ext cx="3999300" cy="1128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300" b="0" i="0" kern="1200" dirty="0"/>
            <a:t>Pilot: Targeted retention campaign on "At-Risk" High-Value segment</a:t>
          </a:r>
          <a:endParaRPr lang="en-GB" sz="2300" kern="1200" dirty="0"/>
        </a:p>
      </dsp:txBody>
      <dsp:txXfrm>
        <a:off x="5816490" y="1740446"/>
        <a:ext cx="3999300" cy="1128181"/>
      </dsp:txXfrm>
    </dsp:sp>
    <dsp:sp modelId="{7808CA9D-1C87-402C-859E-D6B5820C2213}">
      <dsp:nvSpPr>
        <dsp:cNvPr id="0" name=""/>
        <dsp:cNvSpPr/>
      </dsp:nvSpPr>
      <dsp:spPr>
        <a:xfrm>
          <a:off x="6192841" y="3162248"/>
          <a:ext cx="1994152" cy="1395842"/>
        </a:xfrm>
        <a:prstGeom prst="roundRect">
          <a:avLst>
            <a:gd name="adj" fmla="val 16670"/>
          </a:avLst>
        </a:prstGeom>
        <a:solidFill>
          <a:schemeClr val="accent2">
            <a:shade val="50000"/>
            <a:hueOff val="23428"/>
            <a:satOff val="3831"/>
            <a:lumOff val="256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i="0" kern="1200" dirty="0"/>
            <a:t>Phase 3 (Month 4+)</a:t>
          </a:r>
          <a:endParaRPr lang="en-GB" sz="3000" kern="1200" dirty="0"/>
        </a:p>
      </dsp:txBody>
      <dsp:txXfrm>
        <a:off x="6260993" y="3230400"/>
        <a:ext cx="1857848" cy="1259538"/>
      </dsp:txXfrm>
    </dsp:sp>
    <dsp:sp modelId="{B55042FA-BCC6-40CA-BCB9-4A4A74EDAC54}">
      <dsp:nvSpPr>
        <dsp:cNvPr id="0" name=""/>
        <dsp:cNvSpPr/>
      </dsp:nvSpPr>
      <dsp:spPr>
        <a:xfrm>
          <a:off x="8293522" y="3280865"/>
          <a:ext cx="3214396" cy="1128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Automated real-time triggers and full integration into CRM/Marketing automation</a:t>
          </a:r>
          <a:endParaRPr lang="en-GB" sz="2100" kern="1200" dirty="0"/>
        </a:p>
      </dsp:txBody>
      <dsp:txXfrm>
        <a:off x="8293522" y="3280865"/>
        <a:ext cx="3214396" cy="1128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C4B7-0178-DBD7-42CA-DA60BBDC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738E8-1F72-95C2-C217-FA6465A0B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3E9D9-E12A-08F8-6765-675EED7FF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F5052-5B5B-9043-126E-6F20AC613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93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CE23-2099-1E3A-5ED6-8C7C24A8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1636F-18D1-80F1-7BB4-38BEC96BA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BBCCA-7144-73D4-7E8E-4638A78A3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10636-C495-F1E4-2001-66F76E38B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35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9" r:id="rId21"/>
    <p:sldLayoutId id="214748369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693" y="-6713"/>
            <a:ext cx="5852566" cy="5062047"/>
          </a:xfrm>
        </p:spPr>
        <p:txBody>
          <a:bodyPr/>
          <a:lstStyle/>
          <a:p>
            <a:r>
              <a:rPr lang="en-GB" dirty="0"/>
              <a:t>Next-Gen Customer Segmentation </a:t>
            </a:r>
            <a:br>
              <a:rPr lang="en-GB" dirty="0"/>
            </a:br>
            <a:br>
              <a:rPr lang="en-GB" dirty="0"/>
            </a:br>
            <a:r>
              <a:rPr lang="en-GB" sz="3000" dirty="0"/>
              <a:t>Using AI-Driven RFMT-D</a:t>
            </a:r>
            <a:r>
              <a:rPr lang="en-US" sz="3000" dirty="0"/>
              <a:t> and </a:t>
            </a:r>
            <a:br>
              <a:rPr lang="en-US" sz="3000" dirty="0"/>
            </a:br>
            <a:r>
              <a:rPr lang="en-US" sz="3000" dirty="0"/>
              <a:t>UNSUPERVISED </a:t>
            </a:r>
            <a:br>
              <a:rPr lang="en-US" sz="3000" dirty="0"/>
            </a:br>
            <a:r>
              <a:rPr lang="en-US" sz="3000" dirty="0"/>
              <a:t>k-means clustering</a:t>
            </a:r>
            <a:br>
              <a:rPr lang="en-US" sz="3000" dirty="0"/>
            </a:br>
            <a:endParaRPr lang="en-US" sz="1200" i="0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21C9D0-6C19-740B-97C6-5340ADE01381}"/>
              </a:ext>
            </a:extLst>
          </p:cNvPr>
          <p:cNvSpPr txBox="1"/>
          <p:nvPr/>
        </p:nvSpPr>
        <p:spPr>
          <a:xfrm>
            <a:off x="0" y="6488668"/>
            <a:ext cx="383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Executive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503" y="509286"/>
            <a:ext cx="5063309" cy="5617194"/>
          </a:xfrm>
          <a:noFill/>
        </p:spPr>
        <p:txBody>
          <a:bodyPr anchor="ctr">
            <a:noAutofit/>
          </a:bodyPr>
          <a:lstStyle/>
          <a:p>
            <a:r>
              <a:rPr lang="en-US" sz="2400" dirty="0"/>
              <a:t>Executive Summary</a:t>
            </a:r>
          </a:p>
          <a:p>
            <a:r>
              <a:rPr lang="en-GB" sz="2400" dirty="0"/>
              <a:t>The Shift: Traditional vs. AI-Driven RFMT-D</a:t>
            </a:r>
            <a:endParaRPr lang="en-US" sz="2400" dirty="0"/>
          </a:p>
          <a:p>
            <a:r>
              <a:rPr lang="en-GB" sz="2400" dirty="0"/>
              <a:t>High-Value Customer Segments </a:t>
            </a:r>
            <a:endParaRPr lang="en-GB" sz="1000" dirty="0"/>
          </a:p>
          <a:p>
            <a:r>
              <a:rPr lang="en-US" sz="2400" dirty="0"/>
              <a:t>ROI &amp; Business Impact</a:t>
            </a:r>
          </a:p>
          <a:p>
            <a:r>
              <a:rPr lang="en-US" sz="2400" dirty="0"/>
              <a:t>Strategic Roadmap</a:t>
            </a:r>
          </a:p>
          <a:p>
            <a:r>
              <a:rPr lang="en-US" sz="2400" dirty="0"/>
              <a:t>Risks &amp; Mitigation</a:t>
            </a:r>
          </a:p>
          <a:p>
            <a:r>
              <a:rPr lang="en-US" sz="2400" dirty="0"/>
              <a:t>Conclusion &amp; Next Steps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Executive Summary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5C46-5EEF-E3FF-9FC2-CB5CC774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42791A1-32EA-D6D5-BCD5-E8510A33EE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214275"/>
              </p:ext>
            </p:extLst>
          </p:nvPr>
        </p:nvGraphicFramePr>
        <p:xfrm>
          <a:off x="1080529" y="611430"/>
          <a:ext cx="9879913" cy="5912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88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06CD77-7B0F-4F1C-9A1C-60E48B8B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5E06CD77-7B0F-4F1C-9A1C-60E48B8BC2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950F6C-9ABF-4EB3-A3D6-AAF7702C85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0C950F6C-9ABF-4EB3-A3D6-AAF7702C85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E83A06-08BF-498D-8408-E56C9B531D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CCE83A06-08BF-498D-8408-E56C9B531D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35D7C3-4A2F-41E7-A543-741F170585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3135D7C3-4A2F-41E7-A543-741F170585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4B5AC58-AC14-4F7C-8178-D29C648288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74B5AC58-AC14-4F7C-8178-D29C648288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5B6DA-AF6F-4983-ACF2-13E061209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3CE5B6DA-AF6F-4983-ACF2-13E0612095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511415-5A89-4C23-9F77-13ED51A88A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FD511415-5A89-4C23-9F77-13ED51A88A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F3439C5-AFB5-4F3E-B0ED-C20FC6E0A0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CF3439C5-AFB5-4F3E-B0ED-C20FC6E0A0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418" y="1516860"/>
            <a:ext cx="5840636" cy="3354992"/>
          </a:xfrm>
          <a:noFill/>
        </p:spPr>
        <p:txBody>
          <a:bodyPr>
            <a:noAutofit/>
          </a:bodyPr>
          <a:lstStyle/>
          <a:p>
            <a:r>
              <a:rPr lang="en-GB" dirty="0"/>
              <a:t>The Shift: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Traditional </a:t>
            </a:r>
            <a:br>
              <a:rPr lang="en-GB" dirty="0"/>
            </a:br>
            <a:r>
              <a:rPr lang="en-GB" dirty="0"/>
              <a:t>vs. </a:t>
            </a:r>
            <a:br>
              <a:rPr lang="en-GB" dirty="0"/>
            </a:br>
            <a:r>
              <a:rPr lang="en-GB" dirty="0"/>
              <a:t>AI-Driven RFMT-D</a:t>
            </a:r>
            <a:endParaRPr lang="en-US" dirty="0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9F3B-EA81-6774-0E80-41E91005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9CE1399-340B-798D-2958-E2AB0F51FE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195967"/>
              </p:ext>
            </p:extLst>
          </p:nvPr>
        </p:nvGraphicFramePr>
        <p:xfrm>
          <a:off x="1080529" y="611430"/>
          <a:ext cx="9879913" cy="5912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412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39DD69-08CB-4350-9D12-8BA5B90E94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539DD69-08CB-4350-9D12-8BA5B90E94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7E9A00-A136-4817-9B27-39D3869CE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217E9A00-A136-4817-9B27-39D3869CE9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E4ED22-9FD6-49A8-BD10-F0AB0D1986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A9E4ED22-9FD6-49A8-BD10-F0AB0D1986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17E5934-A337-45A9-9546-83EC11E596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D17E5934-A337-45A9-9546-83EC11E596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 rev="1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84" y="185196"/>
            <a:ext cx="8477284" cy="860888"/>
          </a:xfrm>
          <a:noFill/>
        </p:spPr>
        <p:txBody>
          <a:bodyPr/>
          <a:lstStyle/>
          <a:p>
            <a:r>
              <a:rPr lang="en-GB" dirty="0"/>
              <a:t>High-Value Customer Segments </a:t>
            </a:r>
            <a:br>
              <a:rPr lang="en-GB" dirty="0"/>
            </a:br>
            <a:endParaRPr lang="en-US" sz="1600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9544A44-26FC-A8A0-9099-629D85DC97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647475"/>
              </p:ext>
            </p:extLst>
          </p:nvPr>
        </p:nvGraphicFramePr>
        <p:xfrm>
          <a:off x="241643" y="1254138"/>
          <a:ext cx="1170871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E75EE7-D4FE-4FC0-B4A4-0D5BFADBB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7E75EE7-D4FE-4FC0-B4A4-0D5BFADBB4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15550E-ACDB-49AD-B213-FFE92CF11B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1C15550E-ACDB-49AD-B213-FFE92CF11B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274619-A99C-402D-BA36-97A0AC1F2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AB274619-A99C-402D-BA36-97A0AC1F26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360BFE-A3DA-4694-A56C-674985267B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B9360BFE-A3DA-4694-A56C-674985267B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4630E8-E31A-421F-BD8D-521943B8B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814630E8-E31A-421F-BD8D-521943B8B8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637F30-1E78-4261-ABEE-AEFA18F0E8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69637F30-1E78-4261-ABEE-AEFA18F0E8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477C45-E22E-42F5-B513-F482AC8FA1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D1477C45-E22E-42F5-B513-F482AC8FA1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ED9938-7FAA-428C-966F-CB2B2C243B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3EED9938-7FAA-428C-966F-CB2B2C243B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4778" y="3552567"/>
            <a:ext cx="3595816" cy="932935"/>
          </a:xfrm>
          <a:noFill/>
        </p:spPr>
        <p:txBody>
          <a:bodyPr/>
          <a:lstStyle/>
          <a:p>
            <a:r>
              <a:rPr lang="en-US" dirty="0"/>
              <a:t>ROI </a:t>
            </a:r>
            <a:br>
              <a:rPr lang="en-US" dirty="0"/>
            </a:br>
            <a:r>
              <a:rPr lang="en-US" dirty="0"/>
              <a:t>&amp; </a:t>
            </a:r>
            <a:br>
              <a:rPr lang="en-US" dirty="0"/>
            </a:br>
            <a:r>
              <a:rPr lang="en-US" dirty="0"/>
              <a:t>Business Impact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25FF580-1C9D-69D7-976E-8D4FD3205D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597142"/>
              </p:ext>
            </p:extLst>
          </p:nvPr>
        </p:nvGraphicFramePr>
        <p:xfrm>
          <a:off x="2180279" y="247135"/>
          <a:ext cx="9805773" cy="6610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56F4C7-D8A4-4F3E-96D9-63AE42B52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D56F4C7-D8A4-4F3E-96D9-63AE42B525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913A05D-D63B-44DD-8F29-F67EBA788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6913A05D-D63B-44DD-8F29-F67EBA7880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2655B2-9F18-44E3-9C54-89D8A3EF1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E12655B2-9F18-44E3-9C54-89D8A3EF13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FB939D-7673-4CF5-B242-562A03C40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61FB939D-7673-4CF5-B242-562A03C405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F314E81-36EE-403B-BEE8-690AD34076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EF314E81-36EE-403B-BEE8-690AD34076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317B6B-9618-44E1-934F-FC84CD34A1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dgm id="{F3317B6B-9618-44E1-934F-FC84CD34A1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2AB2D58-2B65-4587-A63D-FF5999FF94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92AB2D58-2B65-4587-A63D-FF5999FF94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14FBED-A8EA-4587-9B5F-E15FB13FF9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graphicEl>
                                              <a:dgm id="{7314FBED-A8EA-4587-9B5F-E15FB13FF9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B917CE-DF40-4000-A793-0FF1290D3E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76B917CE-DF40-4000-A793-0FF1290D3E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Strategic Roadmap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E76AB2F-733B-5830-2741-AC55AF523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847318"/>
              </p:ext>
            </p:extLst>
          </p:nvPr>
        </p:nvGraphicFramePr>
        <p:xfrm>
          <a:off x="215557" y="2113265"/>
          <a:ext cx="11511006" cy="458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33D39F09-4BE3-4C62-AAA4-5525569223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graphicEl>
                                              <a:dgm id="{33D39F09-4BE3-4C62-AAA4-5525569223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6E7EE482-8F2F-4119-9D01-CE9400606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graphicEl>
                                              <a:dgm id="{6E7EE482-8F2F-4119-9D01-CE94006062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587E5AB0-77BF-47A7-8D93-75063FE24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graphicEl>
                                              <a:dgm id="{587E5AB0-77BF-47A7-8D93-75063FE24B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41E6AE42-AE07-4BC3-8918-86F757378E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graphicEl>
                                              <a:dgm id="{41E6AE42-AE07-4BC3-8918-86F757378E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4B5190F-566D-4AF3-A61D-596BF3CC7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>
                                            <p:graphicEl>
                                              <a:dgm id="{E4B5190F-566D-4AF3-A61D-596BF3CC77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713066D9-844B-4598-B4FF-2F85A68F6C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>
                                            <p:graphicEl>
                                              <a:dgm id="{713066D9-844B-4598-B4FF-2F85A68F6C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7808CA9D-1C87-402C-859E-D6B5820C2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>
                                            <p:graphicEl>
                                              <a:dgm id="{7808CA9D-1C87-402C-859E-D6B5820C22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B55042FA-BCC6-40CA-BCB9-4A4A74EDAC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>
                                            <p:graphicEl>
                                              <a:dgm id="{B55042FA-BCC6-40CA-BCB9-4A4A74EDAC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Risks &amp; Mitigation</a:t>
            </a:r>
          </a:p>
        </p:txBody>
      </p:sp>
      <p:graphicFrame>
        <p:nvGraphicFramePr>
          <p:cNvPr id="10" name="Table Placeholder 3">
            <a:extLst>
              <a:ext uri="{FF2B5EF4-FFF2-40B4-BE49-F238E27FC236}">
                <a16:creationId xmlns:a16="http://schemas.microsoft.com/office/drawing/2014/main" id="{D24CA017-3921-C644-FCB4-9C75B08E6C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635124"/>
              </p:ext>
            </p:extLst>
          </p:nvPr>
        </p:nvGraphicFramePr>
        <p:xfrm>
          <a:off x="838200" y="2125663"/>
          <a:ext cx="10431162" cy="315926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842951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376881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MITIGATION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Quality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Inconsistent or siloed data affects AI accuracy.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audit and automated cleaning pipeline before model ingestion.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Privacy/Compliance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GDPR/CCPA violations if personal data is used incorrectly.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anonymized IDs, ensure AI models are explainable.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Over-Segmentation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 many segments make strategies hard to manage.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 on 5-7 core action-oriented clusters.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Adoption/Buy-in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Marketing team ignores AI insights.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Involve marketing in segment profiling to ensure relevance.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AI-driven segmentation is no longer a luxury; it is necessary for maintaining competitive advantage. </a:t>
            </a:r>
          </a:p>
          <a:p>
            <a:r>
              <a:rPr lang="en-GB" dirty="0"/>
              <a:t>Seek approval to proceed with Data Audit? (Yes/No)</a:t>
            </a:r>
          </a:p>
          <a:p>
            <a:r>
              <a:rPr lang="en-GB" dirty="0"/>
              <a:t>Assign Project Lead &amp; Resource Allocation</a:t>
            </a:r>
            <a:endParaRPr lang="en-US" dirty="0"/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2138794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92" y="3429000"/>
            <a:ext cx="5608500" cy="3083011"/>
          </a:xfrm>
          <a:noFill/>
        </p:spPr>
        <p:txBody>
          <a:bodyPr anchor="t">
            <a:normAutofit/>
          </a:bodyPr>
          <a:lstStyle/>
          <a:p>
            <a:r>
              <a:rPr lang="en-US" sz="2500" b="1" dirty="0"/>
              <a:t>Bernadette Nitura</a:t>
            </a:r>
          </a:p>
          <a:p>
            <a:endParaRPr lang="en-GB" sz="1100" b="1" dirty="0"/>
          </a:p>
          <a:p>
            <a:r>
              <a:rPr lang="en-GB" sz="2500" b="1" dirty="0"/>
              <a:t>Asian Institute of Management</a:t>
            </a:r>
          </a:p>
          <a:p>
            <a:endParaRPr lang="en-GB" sz="1000" b="1" dirty="0"/>
          </a:p>
          <a:p>
            <a:r>
              <a:rPr lang="en-GB" sz="2500" b="1" dirty="0"/>
              <a:t>Postgraduate Diploma in </a:t>
            </a:r>
          </a:p>
          <a:p>
            <a:r>
              <a:rPr lang="en-GB" sz="2500" b="1" dirty="0"/>
              <a:t>Artificial Intelligence and Machine Learning 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{F7F338D6-BEF6-41F4-8B05-FE3D7945FF20}TF020710ce-b2a3-4743-8ec4-0abcd2574951ef9f6aa4_win32-415a623b9e9a</Template>
  <TotalTime>229</TotalTime>
  <Words>606</Words>
  <Application>Microsoft Office PowerPoint</Application>
  <PresentationFormat>Widescreen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Univers Condensed Light</vt:lpstr>
      <vt:lpstr>Walbaum Display Light</vt:lpstr>
      <vt:lpstr>AngleLinesVTI</vt:lpstr>
      <vt:lpstr>Next-Gen Customer Segmentation   Using AI-Driven RFMT-D and  UNSUPERVISED  k-means clustering </vt:lpstr>
      <vt:lpstr>AGENDA</vt:lpstr>
      <vt:lpstr>Executive Summary</vt:lpstr>
      <vt:lpstr>PowerPoint Presentation</vt:lpstr>
      <vt:lpstr>The Shift:   Traditional  vs.  AI-Driven RFMT-D</vt:lpstr>
      <vt:lpstr>PowerPoint Presentation</vt:lpstr>
      <vt:lpstr>High-Value Customer Segments  </vt:lpstr>
      <vt:lpstr>ROI  &amp;  Business Impact</vt:lpstr>
      <vt:lpstr>Strategic Roadmap</vt:lpstr>
      <vt:lpstr>Risks &amp; Mitigation</vt:lpstr>
      <vt:lpstr>Conclusion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Bernadette Nitura</dc:creator>
  <cp:lastModifiedBy>Bernadette Nitura</cp:lastModifiedBy>
  <cp:revision>27</cp:revision>
  <dcterms:created xsi:type="dcterms:W3CDTF">2026-03-28T10:09:48Z</dcterms:created>
  <dcterms:modified xsi:type="dcterms:W3CDTF">2026-03-30T02:57:34Z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